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introducing yourself in one sentence. Cagri Temel, CTO of Hezarfen LLC, IEEE Senior Member. Tell them what they will get in the next 165 minutes: they will build, break, and explain a real machine learning model trained on NASA turbofan data. Set the tone now: this is hands-on, not a passive lecture. Pause for two seconds after the title slide before advancing.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30 seconds here at most. Bio is on the slide, do not read it line by line. Emphasize the last bullet: 'In two hours and forty-five minutes, you will build, break, and explain a real model.' That sets the contract for the day. Move on as soon as you finish that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framing slide. Say: 'We are going to look at data-driven decisions, specifically in settings where being wrong is expensive — lives, money, certifications.' Then announce the case: 'a turbofan engine that needs to predict its own failure.' Pause briefly before going to the hook slide. The hook slide is intentionally minimal.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this slide down. Read the title aloud: 'A turbofan engine. When will it fail?' Then stop. Do not fill the silence. Two to three seconds. Then read the smaller line: 'If you knew with certainty, what would you do differently?' Let the audience think about it. Do not call on anyone. Move on after a beat.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failure modes. Read them aloud, one beat between each. Notice the third one is the one that surprises engineers: 'accurate but unexplainable still gets rejected.' Land on the bottom line: 'Accuracy alone is not enough. You also need to defend the prediction.' This is the thesis of the entire workshop. Say it slowly.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Briefly describe CMAPSS: NASA's open dataset, 100 simulated engines, 21 sensors. Mention that this is the canonical benchmark for predictive maintenance research. Do not dwell on dataset history. Move on in under a minute. Students will load and explore this data themselves in Activity 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 is the supervised label. For each row in the training set, RUL equals max_cycle for that engine minus current cycle. Healthy engines have large RUL, dying engines have small RUL. We will cap RUL at 125 in the notebook because predicting more than 125 cycles ahead is not informative. This is standard practice in CMAPSS 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every row. Point at the three highlighted sensors: s7 (HPC outlet pressure), s11 (static pressure), s14 (corrected core speed). Tell the audience: 'Remember these three. They will show up again in Activity 1 as the most important features, and in Activity 2 as the sensors that get attacked.' Move on in under a minute.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result and read it: 'LSTM, two layers, RMSE 15.49 cycles, R-squared 0.855.' Then deliver the loaded question: 'So we ship it to the FAA, right?' Lean into the implicit setup. The next slide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Dramatic pause. Just say 'No.' Then count to two in your head before continuing. 'Regulators don't ask how accurate your model is. They ask why your model said that.' Then list the regulators: FAA for aviation, FDA for medical devices, OCC for banking, EU AI Act for everything in Europe. Tell them this is not theory. This is what blocks AI systems from shipping in regulated industries.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binary that students believe in: high accuracy means black box, interpretability means low accuracy. Walk through the two cards. End with the question that the next 90 minutes will answer: 'Can we have both?' Pause briefly. Yes, we can. That's where soft decision trees come 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Classic decision tree, the kind you would draw on a whiteboard. Show the structure. Say it loud: 'beautifully explainable.' Then the catch: 'often poor accuracy, because hard splits are brittle.' Set up the next two slides: hard split versus soft split.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will not type this code. It is here for illustration. Walk through it: 'if x is bigger than threshold, go right. Otherwise, go left.' Output is a string. Discrete. No gradient. Tell them why this matters: 'No gradient means no backpropagation. You build the tree node by node, greedily, and you cannot train it end to 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code, one substitution. The if-else becomes a sigmoid. Output is now a probability between 0 and 1. Tell them: 'this is the only change. One line. But because the output is continuous, gradient flows. You can train the whole tree end-to-end with backpropagation.' That single change is what makes the rest of the workshop possible.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structure: every internal node is a sigmoid split. Every leaf has a class distribution. The final prediction is a weighted sum of all leaves, weighted by the probability of reaching each leaf along the way. This is mathematically a smooth function from input to class probabilities, fully differentiable.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key insight in one breath: 'From the tree, you get path traceability, per-feature thresholds, human-readable rules. From the network, you get end-to-end training and the accuracy that comes with it. You get both. That is why soft decision trees matter.'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properties matter for safety-critical AI: explainability, noise robustness, and sensor-failure tolerance. Read each one. Tell the audience: 'You will see all three demonstrated in the next 90 minutes, not on a slide, on your own laptop.'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numbers. Two key takeaways. First: on clean data, Temporal Neural Tree is within 0.3 RMSE of an LSTM. Effectively equal. Second: when 30 percent of sensors are missing, the LSTM degrades by 89 percent. The Temporal Neural Tree degrades by only 17 percent. Five times more robust. And it is fully explainable. This is the headline result from the paper that motivates the rest of the workshop.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tool. 'neural-trees, on PyPI. Open source, MIT license. Scikit-learn compatible API: fit, predict, predict_proba, score. PyTorch backend. I wrote this library. Today we will all use it together.' Mention briefly that the GitHub Sprint at the end will let them contribute back.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1 starts now. The tone shifts: you are no longer lecturing, you are running an activity. Tell them: 'For the next 55 minutes you do the work. I walk around. If anyone gets stuck, raise a hand and I will come.' Then point to the QR code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slide up for two full minutes. Watch the room. Most students will scan with their phone and open Colab on the laptop using the link. If anyone looks confused, walk over and help them. Do not advance until at least 80 percent of the room is on the Colab notebook.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agenda for the next 55 minutes. Emphasize step 5 as the heart of the workshop: they will literally read out the rule the model used. Most students will get through the first three steps quickly. The traverse-a-prediction step is where the meaning lands. Promise them that if they walk out remembering anything, it should be that step.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imports. This cell installs nothing on Colab because everything is pre-installed; on local Python the conda env should already have neural-trees. Say: 'Paste this, run, expect to see All set.' Then walk around. Common failure: indentation errors from paste. Fix is Cmd+A then Shift+Tab.</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loads the CMAPSS FD001 file as a pandas dataframe. Tell the room: '100 engines, 21 sensors each, 20,631 total rows.' If a student gets FileNotFoundError, the previous wget cell did not run.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computes the supervised label. For each row, RUL is the engine's max cycle minus current cycle. Capped at 125 because longer predictions are not useful. Healthy engines have RUL near 125, dying engines have RUL near 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produces a four-panel plot. Sensor 2, 11, 14 trend up; sensor 7 trends down. This is the first aha moment for students: the data does tell the story of wear and tear. If a student's plot is missing one of the panels, they likely typed a different engine_id.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turns RUL into a 3-class problem: Critical, Caution, Healthy. Tell the audience the class distribution is imbalanced. We will use stratify in the train/test split to preserve that ratio.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drops the six constant sensors that carry no information. Then standardizes everything to zero mean and unit variance. Soft Decision Trees do not strictly require standardization, but the sigmoid splits behave better with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standard train/test split. Stratify by y so the class ratio is preserved. Random state 42 so everyone gets the same numbers.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is the slow one. 30 to 60 seconds on CPU. While the model trains, use the time to tell the audience what is happening: 'PyTorch is doing backprop on 16,504 rows for 30 epochs. Once it finishes, we will have a tree that we can read.'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the confusion matrix. Two things to highlight on the matrix. First, the bottom-left zero: no Healthy engine was wrongly flagged as Critical. Second, only 5 of 600 Critical engines were missed and called Healthy. In aviation, you want both numbers small. Critical-recall must be high.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is the first peek inside the model. For each of the 15 internal nodes, we print the sensor with the largest absolute weight: that node's dominant feature. Three sensors will dominate the tree: s7, s14, s6. This is feature importance, but computed natively from the model itself, not post-hoc.</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is the punchline of Activity 1. Once everyone has the output, pause and project this slide. Walk through it on stage: 'The model predicted Healthy with 85 percent confidence, only 15 percent Caution, and zero probability of Critical. It says the root node leaned on sensor 7. If a regulator asks why, we can say sensor 7 was above the model's threshold and that drove the decision. An LSTM cannot give you this answer. That is the entire point of the workshop.'</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Checkpoint. Acknowledge what they have built so far. Three deliverables: a trained model, accuracy above 80 percent, a decision path printed for one engine. Announce the break and the start of Activity 2. During the break, watch for students who did not complete step 11. Help them in the break.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2 is the team competition. Tone shifts again: louder, faster, more energetic. Set the stakes: 'One sensor is lying. Find which one, and explain how.' Tell them: '3-4 student teams. 25 minutes. First team to identify all three attacks wins.'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maintenance ops quote aloud, slowly. Sell the urgency. Then introduce the two models: their own soft tree from Activity 1, plus a RandomForest baseline as the black-box comparison. Tell them the same investigation technique works whether the cause is hardware failure or adversarial attack.</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them 30 seconds to form groups. Most rooms organize themselves; do not micromanage. Emphasize the time budget (17 minutes of analysis) and the prize (bragging rights for the winning team). Announce that you will walk around and give hints, but will not give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three attack files and the corresponding attack types. Drift: a constant offset added to one sensor for all cycles. Stuck-at: a sensor frozen at a single value. Noise: Gaussian noise added to one sensor. Each file is a corrupted copy of engine 17. Same engine, three different manipulations.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add a RandomForest baseline. The two models reach nearly identical accuracy. The difference will appear under attack, not on clean data.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establishes the clean baseline. The two models agree on 95 percent of cycles. We will use this baseline to measure how much each attack changes predictions.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is the first big insight. The RandomForest on Attack C changed its prediction at only one cycle out of 276. It is essentially blind to the attack. The Soft Tree caught 8 cycles. This is the explainable model not just being interpretable but also being more sensitive to subtle manipulations.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visualizes attack A. Drift looks like two parallel lines: the attack copy of one sensor is shifted up by a constant amount. Answer is sensor 11.</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visualizes attack B. Stuck-at: one sensor reports the same value for every cycle while the real value would be evolving. Answer is sensor 14, which is one of the model's pillars (we saw it in Activity 1, Step 10). Attackers go for what the model relies 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visualizes attack C. Noise injection is the subtlest of the three: the trend is preserved, only the variance increases. Hardest to detect visually. Answer is sensor 9.</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quantifies what they already saw. Each attack file differs from clean engine 17 in exactly one sensor: 11, 14, or 9. The other sensors have zero divergence because they were not touched. Numbers are unambiguous.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a 17-minute timer. Visible on stage if possible. Walk around the room. Provoke wrong answers: when a team says 'sensor 11', ask 'are you sure? attack B has sensor 14 with score 19.89, isn't that bigger?' Force them to explain their reasoning back to you.</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the answers. Read them out: sensor 11 drift, sensor 14 stuck-at, sensor 9 noise. Ask who got all three. Applaud the winning team. Energy spike, then we transition into the analysis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teaching point. Explainability is not just about audits. It is also a debugging tool. If a sensor goes bad in production, the model itself can tell you which sensor. The same technique that satisfies the FAA also helps your maintenance engineers find the broken hardware.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Activity 3 is a different kind of value. Tell them: 'For the last 15 minutes, you are going to make a real open-source contribution. Not a workshop exercise. A real pull request to a real library that is on PyPI. Your name on it, on GitHub, forever.' Energy should be high here. This is also the segment that builds your EB-1A evidence.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mechanics. Five steps. Emphasize step 5: 'I will review live. If your PR is correct, I merge it on the spot, and your name goes into the contributors list of a real ML library.' Roughly 20 good first issues are waiting; they range from doc fixes to small tests to runnable examples.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Sell the value: a real OSS contribution is a credential that opens doors. Recruiters see it on GitHub. Internship applications. Grad school. Every merged PR also gets credited in the neural-trees README under WSU Workshop Contributors. Then say: 'Open the repo. Pick an issue. Go.' Then walk to your laptop and start reviewing.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workshop to the regulatory landscape. EU AI Act took effect in 2025. Three articles matter for what we did today: Article 13 is transparency, Article 14 is human oversight, Article 15 is robustness. Tell them this is happening in the US too: SR 11-7 for banking, FDA for medical devices, FAA for aviation. Same direction, different agencies.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takeaways. Read each headline aloud. The subline explains it but does not need to be read verbatim. Lean on point 3: 'You ran this. Not me. Not a video. You.' Then transition into the career bridge.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door. Tell them where this work goes next: banking model risk, insurance, healthcare, aerospace. Mention Hezarfen and the SR 11-7 angle. Then make the explicit invitation: 'Thesis topic, open-source contribution, conversation. Reach out.' This is your funnel-top moment for the strongest students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slide up while you take questions. Students will photograph it. Read the three links out loud once.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thank-you. Acknowledge Sergey and Jeremy by name. Offer five minutes for questions after the session officially ends. Stay near the stage; students will come 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WSU · MAY 15, 2026</a:t>
            </a:r>
          </a:p>
        </p:txBody>
      </p:sp>
      <p:sp>
        <p:nvSpPr>
          <p:cNvPr id="3" name="TextBox 2"/>
          <p:cNvSpPr txBox="1"/>
          <p:nvPr/>
        </p:nvSpPr>
        <p:spPr>
          <a:xfrm>
            <a:off x="548640" y="1371600"/>
            <a:ext cx="10972800" cy="1280160"/>
          </a:xfrm>
          <a:prstGeom prst="rect">
            <a:avLst/>
          </a:prstGeom>
          <a:noFill/>
        </p:spPr>
        <p:txBody>
          <a:bodyPr wrap="square" lIns="0" rIns="0" tIns="0" bIns="0" anchor="t">
            <a:spAutoFit/>
          </a:bodyPr>
          <a:lstStyle/>
          <a:p>
            <a:pPr algn="l"/>
            <a:r>
              <a:rPr sz="5400" b="1" i="0">
                <a:solidFill>
                  <a:srgbClr val="EEEEEE"/>
                </a:solidFill>
                <a:latin typeface="Helvetica Neue"/>
              </a:rPr>
              <a:t>From Black Boxes to Glass Boxes</a:t>
            </a:r>
          </a:p>
        </p:txBody>
      </p:sp>
      <p:sp>
        <p:nvSpPr>
          <p:cNvPr id="4" name="TextBox 3"/>
          <p:cNvSpPr txBox="1"/>
          <p:nvPr/>
        </p:nvSpPr>
        <p:spPr>
          <a:xfrm>
            <a:off x="548640" y="2743200"/>
            <a:ext cx="10972800" cy="731520"/>
          </a:xfrm>
          <a:prstGeom prst="rect">
            <a:avLst/>
          </a:prstGeom>
          <a:noFill/>
        </p:spPr>
        <p:txBody>
          <a:bodyPr wrap="square" lIns="0" rIns="0" tIns="0" bIns="0" anchor="t">
            <a:spAutoFit/>
          </a:bodyPr>
          <a:lstStyle/>
          <a:p>
            <a:pPr algn="l"/>
            <a:r>
              <a:rPr sz="2400" b="0" i="0">
                <a:solidFill>
                  <a:srgbClr val="4FC3F7"/>
                </a:solidFill>
                <a:latin typeface="Helvetica Neue"/>
              </a:rPr>
              <a:t>Building Explainable Neural Trees for Safety-Critical Decisions</a:t>
            </a:r>
          </a:p>
        </p:txBody>
      </p:sp>
      <p:sp>
        <p:nvSpPr>
          <p:cNvPr id="5" name="TextBox 4"/>
          <p:cNvSpPr txBox="1"/>
          <p:nvPr/>
        </p:nvSpPr>
        <p:spPr>
          <a:xfrm>
            <a:off x="548640" y="4937760"/>
            <a:ext cx="10972800" cy="457200"/>
          </a:xfrm>
          <a:prstGeom prst="rect">
            <a:avLst/>
          </a:prstGeom>
          <a:noFill/>
        </p:spPr>
        <p:txBody>
          <a:bodyPr wrap="square" lIns="0" rIns="0" tIns="0" bIns="0" anchor="t">
            <a:spAutoFit/>
          </a:bodyPr>
          <a:lstStyle/>
          <a:p>
            <a:pPr algn="l"/>
            <a:r>
              <a:rPr sz="1600" b="1" i="0">
                <a:solidFill>
                  <a:srgbClr val="BBBBBB"/>
                </a:solidFill>
                <a:latin typeface="Helvetica Neue"/>
              </a:rPr>
              <a:t>Cagri Temel — CTO, Hezarfen LLC · IEEE Senior Member</a:t>
            </a:r>
          </a:p>
        </p:txBody>
      </p:sp>
      <p:sp>
        <p:nvSpPr>
          <p:cNvPr id="6" name="TextBox 5"/>
          <p:cNvSpPr txBox="1"/>
          <p:nvPr/>
        </p:nvSpPr>
        <p:spPr>
          <a:xfrm>
            <a:off x="548640" y="5486400"/>
            <a:ext cx="10972800" cy="365760"/>
          </a:xfrm>
          <a:prstGeom prst="rect">
            <a:avLst/>
          </a:prstGeom>
          <a:noFill/>
        </p:spPr>
        <p:txBody>
          <a:bodyPr wrap="square" lIns="0" rIns="0" tIns="0" bIns="0" anchor="t">
            <a:spAutoFit/>
          </a:bodyPr>
          <a:lstStyle/>
          <a:p>
            <a:pPr algn="l"/>
            <a:r>
              <a:rPr sz="1200" b="0" i="0">
                <a:solidFill>
                  <a:srgbClr val="888888"/>
                </a:solidFill>
                <a:latin typeface="Helvetica Neue"/>
              </a:rPr>
              <a:t>Washington State University · Data &amp; Analytics Breakout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WHO IS RUNNING THIS</a:t>
            </a:r>
          </a:p>
        </p:txBody>
      </p:sp>
      <p:sp>
        <p:nvSpPr>
          <p:cNvPr id="3" name="TextBox 2"/>
          <p:cNvSpPr txBox="1"/>
          <p:nvPr/>
        </p:nvSpPr>
        <p:spPr>
          <a:xfrm>
            <a:off x="548640" y="1188720"/>
            <a:ext cx="9144000" cy="822960"/>
          </a:xfrm>
          <a:prstGeom prst="rect">
            <a:avLst/>
          </a:prstGeom>
          <a:noFill/>
        </p:spPr>
        <p:txBody>
          <a:bodyPr wrap="square" lIns="0" rIns="0" tIns="0" bIns="0" anchor="t">
            <a:spAutoFit/>
          </a:bodyPr>
          <a:lstStyle/>
          <a:p>
            <a:pPr algn="l"/>
            <a:r>
              <a:rPr sz="4400" b="1" i="0">
                <a:solidFill>
                  <a:srgbClr val="4FC3F7"/>
                </a:solidFill>
                <a:latin typeface="Helvetica Neue"/>
              </a:rPr>
              <a:t>Cagri Temel</a:t>
            </a:r>
          </a:p>
        </p:txBody>
      </p:sp>
      <p:sp>
        <p:nvSpPr>
          <p:cNvPr id="4" name="TextBox 3"/>
          <p:cNvSpPr txBox="1"/>
          <p:nvPr/>
        </p:nvSpPr>
        <p:spPr>
          <a:xfrm>
            <a:off x="731520" y="2286000"/>
            <a:ext cx="10972800" cy="3657600"/>
          </a:xfrm>
          <a:prstGeom prst="rect">
            <a:avLst/>
          </a:prstGeom>
          <a:noFill/>
        </p:spPr>
        <p:txBody>
          <a:bodyPr wrap="square" lIns="0" rIns="0" tIns="0" bIns="0" anchor="t">
            <a:spAutoFit/>
          </a:bodyPr>
          <a:lstStyle/>
          <a:p>
            <a:pPr algn="l">
              <a:lnSpc>
                <a:spcPct val="150000"/>
              </a:lnSpc>
            </a:pPr>
            <a:r>
              <a:rPr sz="1800" b="0" i="0">
                <a:solidFill>
                  <a:srgbClr val="EEEEEE"/>
                </a:solidFill>
                <a:latin typeface="Helvetica Neue"/>
              </a:rPr>
              <a:t>CTO of Hezarfen LLC, building explainable AI for regulated industries</a:t>
            </a:r>
          </a:p>
          <a:p>
            <a:pPr algn="l">
              <a:lnSpc>
                <a:spcPct val="150000"/>
              </a:lnSpc>
            </a:pPr>
            <a:r>
              <a:rPr sz="1800" b="0" i="0">
                <a:solidFill>
                  <a:srgbClr val="EEEEEE"/>
                </a:solidFill>
                <a:latin typeface="Helvetica Neue"/>
              </a:rPr>
              <a:t>IEEE Senior Member · open-source maintainer</a:t>
            </a:r>
          </a:p>
          <a:p>
            <a:pPr algn="l">
              <a:lnSpc>
                <a:spcPct val="150000"/>
              </a:lnSpc>
            </a:pPr>
            <a:r>
              <a:rPr sz="1800" b="0" i="0">
                <a:solidFill>
                  <a:srgbClr val="EEEEEE"/>
                </a:solidFill>
                <a:latin typeface="Helvetica Neue"/>
              </a:rPr>
              <a:t>Author of neural-trees (PyPI, MIT), the package you will use today</a:t>
            </a:r>
          </a:p>
          <a:p>
            <a:pPr algn="l">
              <a:lnSpc>
                <a:spcPct val="150000"/>
              </a:lnSpc>
            </a:pPr>
            <a:r>
              <a:rPr sz="1600" b="0" i="1">
                <a:solidFill>
                  <a:srgbClr val="BBBBBB"/>
                </a:solidFill>
                <a:latin typeface="Helvetica Neue"/>
              </a:rPr>
              <a:t>Workshop paper: Robust and Uncertainty-Aware RUL Prediction with Temporal Neural Trees</a:t>
            </a:r>
          </a:p>
          <a:p>
            <a:pPr algn="l">
              <a:lnSpc>
                <a:spcPct val="150000"/>
              </a:lnSpc>
            </a:pPr>
            <a:r>
              <a:rPr sz="1800" b="1" i="0">
                <a:solidFill>
                  <a:srgbClr val="4FC3F7"/>
                </a:solidFill>
                <a:latin typeface="Helvetica Neue"/>
              </a:rPr>
              <a:t>Today: in 2 hours and 45 minutes you will build, break, and explain a real model</a:t>
            </a:r>
          </a:p>
        </p:txBody>
      </p:sp>
      <p:sp>
        <p:nvSpPr>
          <p:cNvPr id="5" name="TextBox 4"/>
          <p:cNvSpPr txBox="1"/>
          <p:nvPr/>
        </p:nvSpPr>
        <p:spPr>
          <a:xfrm>
            <a:off x="548640" y="6126480"/>
            <a:ext cx="10972800" cy="365760"/>
          </a:xfrm>
          <a:prstGeom prst="rect">
            <a:avLst/>
          </a:prstGeom>
          <a:noFill/>
        </p:spPr>
        <p:txBody>
          <a:bodyPr wrap="square" lIns="0" rIns="0" tIns="0" bIns="0" anchor="t">
            <a:spAutoFit/>
          </a:bodyPr>
          <a:lstStyle/>
          <a:p>
            <a:pPr algn="l"/>
            <a:r>
              <a:rPr sz="1100" b="0" i="0">
                <a:solidFill>
                  <a:srgbClr val="888888"/>
                </a:solidFill>
                <a:latin typeface="Helvetica Neue"/>
              </a:rPr>
              <a:t>github.com/cgrtml/neural-trees · linkedin.com/in/cagritemel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TODAY'S MISSION</a:t>
            </a:r>
          </a:p>
        </p:txBody>
      </p:sp>
      <p:sp>
        <p:nvSpPr>
          <p:cNvPr id="3" name="TextBox 2"/>
          <p:cNvSpPr txBox="1"/>
          <p:nvPr/>
        </p:nvSpPr>
        <p:spPr>
          <a:xfrm>
            <a:off x="548640" y="1188720"/>
            <a:ext cx="10972800" cy="1463040"/>
          </a:xfrm>
          <a:prstGeom prst="rect">
            <a:avLst/>
          </a:prstGeom>
          <a:noFill/>
        </p:spPr>
        <p:txBody>
          <a:bodyPr wrap="square" lIns="0" rIns="0" tIns="0" bIns="0" anchor="t">
            <a:spAutoFit/>
          </a:bodyPr>
          <a:lstStyle/>
          <a:p>
            <a:pPr algn="l"/>
            <a:r>
              <a:rPr sz="3400" b="1" i="0">
                <a:solidFill>
                  <a:srgbClr val="4FC3F7"/>
                </a:solidFill>
                <a:latin typeface="Helvetica Neue"/>
              </a:rPr>
              <a:t>Data-driven decisions, when the cost of being wrong is high</a:t>
            </a:r>
          </a:p>
        </p:txBody>
      </p:sp>
      <p:sp>
        <p:nvSpPr>
          <p:cNvPr id="4" name="TextBox 3"/>
          <p:cNvSpPr txBox="1"/>
          <p:nvPr/>
        </p:nvSpPr>
        <p:spPr>
          <a:xfrm>
            <a:off x="548640" y="3108960"/>
            <a:ext cx="10972800" cy="1371600"/>
          </a:xfrm>
          <a:prstGeom prst="rect">
            <a:avLst/>
          </a:prstGeom>
          <a:noFill/>
        </p:spPr>
        <p:txBody>
          <a:bodyPr wrap="square" lIns="0" rIns="0" tIns="0" bIns="0" anchor="t">
            <a:spAutoFit/>
          </a:bodyPr>
          <a:lstStyle/>
          <a:p>
            <a:pPr algn="l"/>
            <a:r>
              <a:rPr sz="2000" b="0" i="0">
                <a:solidFill>
                  <a:srgbClr val="EEEEEE"/>
                </a:solidFill>
                <a:latin typeface="Helvetica Neue"/>
              </a:rPr>
              <a:t>For the next few hours we will look at how data-driven systems make decisions, and at how we make those decisions trustworthy in safety-critical settings.</a:t>
            </a:r>
          </a:p>
        </p:txBody>
      </p:sp>
      <p:sp>
        <p:nvSpPr>
          <p:cNvPr id="5" name="TextBox 4"/>
          <p:cNvSpPr txBox="1"/>
          <p:nvPr/>
        </p:nvSpPr>
        <p:spPr>
          <a:xfrm>
            <a:off x="548640" y="4937760"/>
            <a:ext cx="10972800" cy="914400"/>
          </a:xfrm>
          <a:prstGeom prst="rect">
            <a:avLst/>
          </a:prstGeom>
          <a:noFill/>
        </p:spPr>
        <p:txBody>
          <a:bodyPr wrap="square" lIns="0" rIns="0" tIns="0" bIns="0" anchor="t">
            <a:spAutoFit/>
          </a:bodyPr>
          <a:lstStyle/>
          <a:p>
            <a:pPr algn="ctr"/>
            <a:r>
              <a:rPr sz="2200" b="1" i="0">
                <a:solidFill>
                  <a:srgbClr val="4FC3F7"/>
                </a:solidFill>
                <a:latin typeface="Helvetica Neue"/>
              </a:rPr>
              <a:t>Today's case: a turbofan engine that needs to predict its own failure.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2194560"/>
            <a:ext cx="10972800" cy="1097280"/>
          </a:xfrm>
          <a:prstGeom prst="rect">
            <a:avLst/>
          </a:prstGeom>
          <a:noFill/>
        </p:spPr>
        <p:txBody>
          <a:bodyPr wrap="square" lIns="0" rIns="0" tIns="0" bIns="0" anchor="t">
            <a:spAutoFit/>
          </a:bodyPr>
          <a:lstStyle/>
          <a:p>
            <a:pPr algn="ctr"/>
            <a:r>
              <a:rPr sz="5600" b="1" i="0">
                <a:solidFill>
                  <a:srgbClr val="EEEEEE"/>
                </a:solidFill>
                <a:latin typeface="Helvetica Neue"/>
              </a:rPr>
              <a:t>A turbofan engine.</a:t>
            </a:r>
          </a:p>
        </p:txBody>
      </p:sp>
      <p:sp>
        <p:nvSpPr>
          <p:cNvPr id="3" name="TextBox 2"/>
          <p:cNvSpPr txBox="1"/>
          <p:nvPr/>
        </p:nvSpPr>
        <p:spPr>
          <a:xfrm>
            <a:off x="548640" y="3474720"/>
            <a:ext cx="10972800" cy="914400"/>
          </a:xfrm>
          <a:prstGeom prst="rect">
            <a:avLst/>
          </a:prstGeom>
          <a:noFill/>
        </p:spPr>
        <p:txBody>
          <a:bodyPr wrap="square" lIns="0" rIns="0" tIns="0" bIns="0" anchor="t">
            <a:spAutoFit/>
          </a:bodyPr>
          <a:lstStyle/>
          <a:p>
            <a:pPr algn="ctr"/>
            <a:r>
              <a:rPr sz="4200" b="1" i="0">
                <a:solidFill>
                  <a:srgbClr val="4FC3F7"/>
                </a:solidFill>
                <a:latin typeface="Helvetica Neue"/>
              </a:rPr>
              <a:t>When will it fail?</a:t>
            </a:r>
          </a:p>
        </p:txBody>
      </p:sp>
      <p:sp>
        <p:nvSpPr>
          <p:cNvPr id="4" name="TextBox 3"/>
          <p:cNvSpPr txBox="1"/>
          <p:nvPr/>
        </p:nvSpPr>
        <p:spPr>
          <a:xfrm>
            <a:off x="548640" y="4937760"/>
            <a:ext cx="10972800" cy="548640"/>
          </a:xfrm>
          <a:prstGeom prst="rect">
            <a:avLst/>
          </a:prstGeom>
          <a:noFill/>
        </p:spPr>
        <p:txBody>
          <a:bodyPr wrap="square" lIns="0" rIns="0" tIns="0" bIns="0" anchor="t">
            <a:spAutoFit/>
          </a:bodyPr>
          <a:lstStyle/>
          <a:p>
            <a:pPr algn="ctr"/>
            <a:r>
              <a:rPr sz="1800" b="0" i="1">
                <a:solidFill>
                  <a:srgbClr val="BBBBBB"/>
                </a:solidFill>
                <a:latin typeface="Helvetica Neue"/>
              </a:rPr>
              <a:t>If you knew with certainty, what would you do differently?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STAKES</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600" b="1" i="0">
                <a:solidFill>
                  <a:srgbClr val="EEEEEE"/>
                </a:solidFill>
                <a:latin typeface="Helvetica Neue"/>
              </a:rPr>
              <a:t>Getting this wrong is expensive</a:t>
            </a:r>
          </a:p>
        </p:txBody>
      </p:sp>
      <p:sp>
        <p:nvSpPr>
          <p:cNvPr id="4" name="TextBox 3"/>
          <p:cNvSpPr txBox="1"/>
          <p:nvPr/>
        </p:nvSpPr>
        <p:spPr>
          <a:xfrm>
            <a:off x="731520" y="2377440"/>
            <a:ext cx="10972800" cy="548640"/>
          </a:xfrm>
          <a:prstGeom prst="rect">
            <a:avLst/>
          </a:prstGeom>
          <a:noFill/>
        </p:spPr>
        <p:txBody>
          <a:bodyPr wrap="square" tIns="0" bIns="0">
            <a:spAutoFit/>
          </a:bodyPr>
          <a:lstStyle/>
          <a:p>
            <a:r>
              <a:rPr sz="2000" b="1">
                <a:solidFill>
                  <a:srgbClr val="FFB74D"/>
                </a:solidFill>
                <a:latin typeface="Helvetica Neue"/>
              </a:rPr>
              <a:t>Predict too late. </a:t>
            </a:r>
            <a:r>
              <a:rPr sz="2000">
                <a:solidFill>
                  <a:srgbClr val="EEEEEE"/>
                </a:solidFill>
                <a:latin typeface="Helvetica Neue"/>
              </a:rPr>
              <a:t>Engine fails mid-flight. Lives lost.</a:t>
            </a:r>
          </a:p>
        </p:txBody>
      </p:sp>
      <p:sp>
        <p:nvSpPr>
          <p:cNvPr id="5" name="TextBox 4"/>
          <p:cNvSpPr txBox="1"/>
          <p:nvPr/>
        </p:nvSpPr>
        <p:spPr>
          <a:xfrm>
            <a:off x="731520" y="3063240"/>
            <a:ext cx="10972800" cy="548640"/>
          </a:xfrm>
          <a:prstGeom prst="rect">
            <a:avLst/>
          </a:prstGeom>
          <a:noFill/>
        </p:spPr>
        <p:txBody>
          <a:bodyPr wrap="square" tIns="0" bIns="0">
            <a:spAutoFit/>
          </a:bodyPr>
          <a:lstStyle/>
          <a:p>
            <a:r>
              <a:rPr sz="2000" b="1">
                <a:solidFill>
                  <a:srgbClr val="FFB74D"/>
                </a:solidFill>
                <a:latin typeface="Helvetica Neue"/>
              </a:rPr>
              <a:t>Predict too early. </a:t>
            </a:r>
            <a:r>
              <a:rPr sz="2000">
                <a:solidFill>
                  <a:srgbClr val="EEEEEE"/>
                </a:solidFill>
                <a:latin typeface="Helvetica Neue"/>
              </a:rPr>
              <a:t>Healthy engines replaced. $100M wasted.</a:t>
            </a:r>
          </a:p>
        </p:txBody>
      </p:sp>
      <p:sp>
        <p:nvSpPr>
          <p:cNvPr id="6" name="TextBox 5"/>
          <p:cNvSpPr txBox="1"/>
          <p:nvPr/>
        </p:nvSpPr>
        <p:spPr>
          <a:xfrm>
            <a:off x="731520" y="3749040"/>
            <a:ext cx="10972800" cy="548640"/>
          </a:xfrm>
          <a:prstGeom prst="rect">
            <a:avLst/>
          </a:prstGeom>
          <a:noFill/>
        </p:spPr>
        <p:txBody>
          <a:bodyPr wrap="square" tIns="0" bIns="0">
            <a:spAutoFit/>
          </a:bodyPr>
          <a:lstStyle/>
          <a:p>
            <a:r>
              <a:rPr sz="2000" b="1">
                <a:solidFill>
                  <a:srgbClr val="FFB74D"/>
                </a:solidFill>
                <a:latin typeface="Helvetica Neue"/>
              </a:rPr>
              <a:t>Predict accurately but cannot explain. </a:t>
            </a:r>
            <a:r>
              <a:rPr sz="2000">
                <a:solidFill>
                  <a:srgbClr val="EEEEEE"/>
                </a:solidFill>
                <a:latin typeface="Helvetica Neue"/>
              </a:rPr>
              <a:t>FAA refuses to certify your system.</a:t>
            </a:r>
          </a:p>
        </p:txBody>
      </p:sp>
      <p:sp>
        <p:nvSpPr>
          <p:cNvPr id="7" name="TextBox 6"/>
          <p:cNvSpPr txBox="1"/>
          <p:nvPr/>
        </p:nvSpPr>
        <p:spPr>
          <a:xfrm>
            <a:off x="548640" y="5303520"/>
            <a:ext cx="10972800" cy="914400"/>
          </a:xfrm>
          <a:prstGeom prst="rect">
            <a:avLst/>
          </a:prstGeom>
          <a:noFill/>
        </p:spPr>
        <p:txBody>
          <a:bodyPr wrap="square" lIns="0" rIns="0" tIns="0" bIns="0" anchor="t">
            <a:spAutoFit/>
          </a:bodyPr>
          <a:lstStyle/>
          <a:p>
            <a:pPr algn="ctr"/>
            <a:r>
              <a:rPr sz="2200" b="1" i="0">
                <a:solidFill>
                  <a:srgbClr val="4FC3F7"/>
                </a:solidFill>
                <a:latin typeface="Helvetica Neue"/>
              </a:rPr>
              <a:t>Accuracy alone is not enough. You also need to defend the prediction.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DATASET</a:t>
            </a:r>
          </a:p>
        </p:txBody>
      </p:sp>
      <p:sp>
        <p:nvSpPr>
          <p:cNvPr id="3" name="TextBox 2"/>
          <p:cNvSpPr txBox="1"/>
          <p:nvPr/>
        </p:nvSpPr>
        <p:spPr>
          <a:xfrm>
            <a:off x="548640" y="1188720"/>
            <a:ext cx="9144000" cy="914400"/>
          </a:xfrm>
          <a:prstGeom prst="rect">
            <a:avLst/>
          </a:prstGeom>
          <a:noFill/>
        </p:spPr>
        <p:txBody>
          <a:bodyPr wrap="square" lIns="0" rIns="0" tIns="0" bIns="0" anchor="t">
            <a:spAutoFit/>
          </a:bodyPr>
          <a:lstStyle/>
          <a:p>
            <a:pPr algn="l"/>
            <a:r>
              <a:rPr sz="4400" b="1" i="0">
                <a:solidFill>
                  <a:srgbClr val="4FC3F7"/>
                </a:solidFill>
                <a:latin typeface="Helvetica Neue"/>
              </a:rPr>
              <a:t>NASA CMAPSS</a:t>
            </a:r>
          </a:p>
        </p:txBody>
      </p:sp>
      <p:sp>
        <p:nvSpPr>
          <p:cNvPr id="4" name="TextBox 3"/>
          <p:cNvSpPr txBox="1"/>
          <p:nvPr/>
        </p:nvSpPr>
        <p:spPr>
          <a:xfrm>
            <a:off x="548640" y="2103120"/>
            <a:ext cx="10972800" cy="457200"/>
          </a:xfrm>
          <a:prstGeom prst="rect">
            <a:avLst/>
          </a:prstGeom>
          <a:noFill/>
        </p:spPr>
        <p:txBody>
          <a:bodyPr wrap="square" lIns="0" rIns="0" tIns="0" bIns="0" anchor="t">
            <a:spAutoFit/>
          </a:bodyPr>
          <a:lstStyle/>
          <a:p>
            <a:pPr algn="l"/>
            <a:r>
              <a:rPr sz="1600" b="0" i="1">
                <a:solidFill>
                  <a:srgbClr val="BBBBBB"/>
                </a:solidFill>
                <a:latin typeface="Helvetica Neue"/>
              </a:rPr>
              <a:t>Commercial Modular Aero-Propulsion System Simulation</a:t>
            </a:r>
          </a:p>
        </p:txBody>
      </p:sp>
      <p:sp>
        <p:nvSpPr>
          <p:cNvPr id="5" name="TextBox 4"/>
          <p:cNvSpPr txBox="1"/>
          <p:nvPr/>
        </p:nvSpPr>
        <p:spPr>
          <a:xfrm>
            <a:off x="731520" y="2926080"/>
            <a:ext cx="10972800" cy="2743200"/>
          </a:xfrm>
          <a:prstGeom prst="rect">
            <a:avLst/>
          </a:prstGeom>
          <a:noFill/>
        </p:spPr>
        <p:txBody>
          <a:bodyPr wrap="square" lIns="0" rIns="0" tIns="0" bIns="0" anchor="t">
            <a:spAutoFit/>
          </a:bodyPr>
          <a:lstStyle/>
          <a:p>
            <a:pPr algn="l">
              <a:lnSpc>
                <a:spcPct val="140000"/>
              </a:lnSpc>
              <a:spcAft>
                <a:spcPts val="800"/>
              </a:spcAft>
            </a:pPr>
            <a:r>
              <a:rPr sz="1800" b="0" i="0">
                <a:solidFill>
                  <a:srgbClr val="EEEEEE"/>
                </a:solidFill>
                <a:latin typeface="Helvetica Neue"/>
              </a:rPr>
              <a:t>100 turbofan engines, simulated to failure</a:t>
            </a:r>
          </a:p>
          <a:p>
            <a:pPr algn="l">
              <a:lnSpc>
                <a:spcPct val="140000"/>
              </a:lnSpc>
              <a:spcAft>
                <a:spcPts val="800"/>
              </a:spcAft>
            </a:pPr>
            <a:r>
              <a:rPr sz="1800" b="0" i="0">
                <a:solidFill>
                  <a:srgbClr val="EEEEEE"/>
                </a:solidFill>
                <a:latin typeface="Helvetica Neue"/>
              </a:rPr>
              <a:t>21 sensors per timestep: temperatures, pressures, fan speeds, fuel flow</a:t>
            </a:r>
          </a:p>
          <a:p>
            <a:pPr algn="l">
              <a:lnSpc>
                <a:spcPct val="140000"/>
              </a:lnSpc>
              <a:spcAft>
                <a:spcPts val="800"/>
              </a:spcAft>
            </a:pPr>
            <a:r>
              <a:rPr sz="1800" b="0" i="0">
                <a:solidFill>
                  <a:srgbClr val="EEEEEE"/>
                </a:solidFill>
                <a:latin typeface="Helvetica Neue"/>
              </a:rPr>
              <a:t>Each engine logs hundreds of flight cycles before failing</a:t>
            </a:r>
          </a:p>
          <a:p>
            <a:pPr algn="l">
              <a:lnSpc>
                <a:spcPct val="140000"/>
              </a:lnSpc>
              <a:spcAft>
                <a:spcPts val="800"/>
              </a:spcAft>
            </a:pPr>
            <a:r>
              <a:rPr sz="1800" b="0" i="0">
                <a:solidFill>
                  <a:srgbClr val="EEEEEE"/>
                </a:solidFill>
                <a:latin typeface="Helvetica Neue"/>
              </a:rPr>
              <a:t>Public, open data, cited in 1,000+ academic papers</a:t>
            </a:r>
          </a:p>
        </p:txBody>
      </p:sp>
      <p:sp>
        <p:nvSpPr>
          <p:cNvPr id="6" name="TextBox 5"/>
          <p:cNvSpPr txBox="1"/>
          <p:nvPr/>
        </p:nvSpPr>
        <p:spPr>
          <a:xfrm>
            <a:off x="548640" y="6126480"/>
            <a:ext cx="10972800" cy="365760"/>
          </a:xfrm>
          <a:prstGeom prst="rect">
            <a:avLst/>
          </a:prstGeom>
          <a:noFill/>
        </p:spPr>
        <p:txBody>
          <a:bodyPr wrap="square" lIns="0" rIns="0" tIns="0" bIns="0" anchor="t">
            <a:spAutoFit/>
          </a:bodyPr>
          <a:lstStyle/>
          <a:p>
            <a:pPr algn="l"/>
            <a:r>
              <a:rPr sz="1100" b="0" i="0">
                <a:solidFill>
                  <a:srgbClr val="888888"/>
                </a:solidFill>
                <a:latin typeface="Helvetica Neue"/>
              </a:rPr>
              <a:t>Source: NASA Prognostics Center of Excellence · ti.arc.nasa.gov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THE TARGET</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800" b="1" i="0">
                <a:solidFill>
                  <a:srgbClr val="4FC3F7"/>
                </a:solidFill>
                <a:latin typeface="Helvetica Neue"/>
              </a:rPr>
              <a:t>Remaining Useful Life (RUL)</a:t>
            </a:r>
          </a:p>
        </p:txBody>
      </p:sp>
      <p:sp>
        <p:nvSpPr>
          <p:cNvPr id="4" name="TextBox 3"/>
          <p:cNvSpPr txBox="1"/>
          <p:nvPr/>
        </p:nvSpPr>
        <p:spPr>
          <a:xfrm>
            <a:off x="548640" y="2377440"/>
            <a:ext cx="10972800" cy="548640"/>
          </a:xfrm>
          <a:prstGeom prst="rect">
            <a:avLst/>
          </a:prstGeom>
          <a:noFill/>
        </p:spPr>
        <p:txBody>
          <a:bodyPr wrap="square" lIns="0" rIns="0" tIns="0" bIns="0" anchor="t">
            <a:spAutoFit/>
          </a:bodyPr>
          <a:lstStyle/>
          <a:p>
            <a:pPr algn="l"/>
            <a:r>
              <a:rPr sz="2000" b="0" i="0">
                <a:solidFill>
                  <a:srgbClr val="EEEEEE"/>
                </a:solidFill>
                <a:latin typeface="Helvetica Neue"/>
              </a:rPr>
              <a:t>The number of flight cycles left before this engine fails.</a:t>
            </a:r>
          </a:p>
        </p:txBody>
      </p:sp>
      <p:sp>
        <p:nvSpPr>
          <p:cNvPr id="5" name="Rectangle 4"/>
          <p:cNvSpPr/>
          <p:nvPr/>
        </p:nvSpPr>
        <p:spPr>
          <a:xfrm>
            <a:off x="914400" y="3291840"/>
            <a:ext cx="10332720" cy="146304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400">
                <a:solidFill>
                  <a:srgbClr val="EEEEEE"/>
                </a:solidFill>
                <a:latin typeface="Menlo"/>
              </a:rPr>
              <a:t>cycle 0  →  cycle 50  →  cycle 100  →  cycle 150  →  cycle 192 (failure)</a:t>
            </a:r>
          </a:p>
          <a:p>
            <a:pPr algn="l">
              <a:lnSpc>
                <a:spcPct val="120000"/>
              </a:lnSpc>
            </a:pPr>
            <a:r>
              <a:rPr sz="1400">
                <a:solidFill>
                  <a:srgbClr val="EEEEEE"/>
                </a:solidFill>
                <a:latin typeface="Menlo"/>
              </a:rPr>
              <a:t>RUL=192     RUL=142      RUL=92        RUL=42         RUL=0 💥</a:t>
            </a:r>
          </a:p>
        </p:txBody>
      </p:sp>
      <p:sp>
        <p:nvSpPr>
          <p:cNvPr id="6" name="TextBox 5"/>
          <p:cNvSpPr txBox="1"/>
          <p:nvPr/>
        </p:nvSpPr>
        <p:spPr>
          <a:xfrm>
            <a:off x="548640" y="5120640"/>
            <a:ext cx="10972800" cy="914400"/>
          </a:xfrm>
          <a:prstGeom prst="rect">
            <a:avLst/>
          </a:prstGeom>
          <a:noFill/>
        </p:spPr>
        <p:txBody>
          <a:bodyPr wrap="square" lIns="0" rIns="0" tIns="0" bIns="0" anchor="t">
            <a:spAutoFit/>
          </a:bodyPr>
          <a:lstStyle/>
          <a:p>
            <a:pPr algn="l"/>
            <a:r>
              <a:rPr sz="1500" b="0" i="1">
                <a:solidFill>
                  <a:srgbClr val="BBBBBB"/>
                </a:solidFill>
                <a:latin typeface="Helvetica Neue"/>
              </a:rPr>
              <a:t>Train: complete trajectories. Test: partial trajectories, where you predict RUL from what you can see.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WHAT YOU GET PER CYCLE</a:t>
            </a:r>
          </a:p>
        </p:txBody>
      </p:sp>
      <p:sp>
        <p:nvSpPr>
          <p:cNvPr id="3" name="TextBox 2"/>
          <p:cNvSpPr txBox="1"/>
          <p:nvPr/>
        </p:nvSpPr>
        <p:spPr>
          <a:xfrm>
            <a:off x="548640" y="1188720"/>
            <a:ext cx="10972800" cy="822960"/>
          </a:xfrm>
          <a:prstGeom prst="rect">
            <a:avLst/>
          </a:prstGeom>
          <a:noFill/>
        </p:spPr>
        <p:txBody>
          <a:bodyPr wrap="square" lIns="0" rIns="0" tIns="0" bIns="0" anchor="t">
            <a:spAutoFit/>
          </a:bodyPr>
          <a:lstStyle/>
          <a:p>
            <a:pPr algn="l"/>
            <a:r>
              <a:rPr sz="3600" b="1" i="0">
                <a:solidFill>
                  <a:srgbClr val="4FC3F7"/>
                </a:solidFill>
                <a:latin typeface="Helvetica Neue"/>
              </a:rPr>
              <a:t>21 sensor channels</a:t>
            </a:r>
          </a:p>
        </p:txBody>
      </p:sp>
      <p:sp>
        <p:nvSpPr>
          <p:cNvPr id="4" name="TextBox 3"/>
          <p:cNvSpPr txBox="1"/>
          <p:nvPr/>
        </p:nvSpPr>
        <p:spPr>
          <a:xfrm>
            <a:off x="1828800" y="2194560"/>
            <a:ext cx="2743200" cy="292608"/>
          </a:xfrm>
          <a:prstGeom prst="rect">
            <a:avLst/>
          </a:prstGeom>
          <a:noFill/>
        </p:spPr>
        <p:txBody>
          <a:bodyPr wrap="square" lIns="0" rIns="0" tIns="0" bIns="0" anchor="t">
            <a:spAutoFit/>
          </a:bodyPr>
          <a:lstStyle/>
          <a:p>
            <a:pPr algn="l"/>
            <a:r>
              <a:rPr sz="1400" b="0" i="0">
                <a:solidFill>
                  <a:srgbClr val="EEEEEE"/>
                </a:solidFill>
                <a:latin typeface="Menlo"/>
              </a:rPr>
              <a:t>s2  · T24</a:t>
            </a:r>
          </a:p>
        </p:txBody>
      </p:sp>
      <p:sp>
        <p:nvSpPr>
          <p:cNvPr id="5" name="TextBox 4"/>
          <p:cNvSpPr txBox="1"/>
          <p:nvPr/>
        </p:nvSpPr>
        <p:spPr>
          <a:xfrm>
            <a:off x="5029200" y="2194560"/>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LPC outlet temperature</a:t>
            </a:r>
          </a:p>
        </p:txBody>
      </p:sp>
      <p:sp>
        <p:nvSpPr>
          <p:cNvPr id="6" name="TextBox 5"/>
          <p:cNvSpPr txBox="1"/>
          <p:nvPr/>
        </p:nvSpPr>
        <p:spPr>
          <a:xfrm>
            <a:off x="1828800" y="2487168"/>
            <a:ext cx="2743200" cy="292608"/>
          </a:xfrm>
          <a:prstGeom prst="rect">
            <a:avLst/>
          </a:prstGeom>
          <a:noFill/>
        </p:spPr>
        <p:txBody>
          <a:bodyPr wrap="square" lIns="0" rIns="0" tIns="0" bIns="0" anchor="t">
            <a:spAutoFit/>
          </a:bodyPr>
          <a:lstStyle/>
          <a:p>
            <a:pPr algn="l"/>
            <a:r>
              <a:rPr sz="1400" b="0" i="0">
                <a:solidFill>
                  <a:srgbClr val="EEEEEE"/>
                </a:solidFill>
                <a:latin typeface="Menlo"/>
              </a:rPr>
              <a:t>s3  · T30</a:t>
            </a:r>
          </a:p>
        </p:txBody>
      </p:sp>
      <p:sp>
        <p:nvSpPr>
          <p:cNvPr id="7" name="TextBox 6"/>
          <p:cNvSpPr txBox="1"/>
          <p:nvPr/>
        </p:nvSpPr>
        <p:spPr>
          <a:xfrm>
            <a:off x="5029200" y="2487168"/>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HPC outlet temperature</a:t>
            </a:r>
          </a:p>
        </p:txBody>
      </p:sp>
      <p:sp>
        <p:nvSpPr>
          <p:cNvPr id="8" name="TextBox 7"/>
          <p:cNvSpPr txBox="1"/>
          <p:nvPr/>
        </p:nvSpPr>
        <p:spPr>
          <a:xfrm>
            <a:off x="1828800" y="2779776"/>
            <a:ext cx="2743200" cy="292608"/>
          </a:xfrm>
          <a:prstGeom prst="rect">
            <a:avLst/>
          </a:prstGeom>
          <a:noFill/>
        </p:spPr>
        <p:txBody>
          <a:bodyPr wrap="square" lIns="0" rIns="0" tIns="0" bIns="0" anchor="t">
            <a:spAutoFit/>
          </a:bodyPr>
          <a:lstStyle/>
          <a:p>
            <a:pPr algn="l"/>
            <a:r>
              <a:rPr sz="1400" b="0" i="0">
                <a:solidFill>
                  <a:srgbClr val="EEEEEE"/>
                </a:solidFill>
                <a:latin typeface="Menlo"/>
              </a:rPr>
              <a:t>s4  · T50</a:t>
            </a:r>
          </a:p>
        </p:txBody>
      </p:sp>
      <p:sp>
        <p:nvSpPr>
          <p:cNvPr id="9" name="TextBox 8"/>
          <p:cNvSpPr txBox="1"/>
          <p:nvPr/>
        </p:nvSpPr>
        <p:spPr>
          <a:xfrm>
            <a:off x="5029200" y="2779776"/>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LPT outlet temperature</a:t>
            </a:r>
          </a:p>
        </p:txBody>
      </p:sp>
      <p:sp>
        <p:nvSpPr>
          <p:cNvPr id="10" name="TextBox 9"/>
          <p:cNvSpPr txBox="1"/>
          <p:nvPr/>
        </p:nvSpPr>
        <p:spPr>
          <a:xfrm>
            <a:off x="1828800" y="3072384"/>
            <a:ext cx="2743200" cy="292608"/>
          </a:xfrm>
          <a:prstGeom prst="rect">
            <a:avLst/>
          </a:prstGeom>
          <a:noFill/>
        </p:spPr>
        <p:txBody>
          <a:bodyPr wrap="square" lIns="0" rIns="0" tIns="0" bIns="0" anchor="t">
            <a:spAutoFit/>
          </a:bodyPr>
          <a:lstStyle/>
          <a:p>
            <a:pPr algn="l"/>
            <a:r>
              <a:rPr sz="1400" b="1" i="0">
                <a:solidFill>
                  <a:srgbClr val="4FC3F7"/>
                </a:solidFill>
                <a:latin typeface="Menlo"/>
              </a:rPr>
              <a:t>s7  · P30</a:t>
            </a:r>
          </a:p>
        </p:txBody>
      </p:sp>
      <p:sp>
        <p:nvSpPr>
          <p:cNvPr id="11" name="TextBox 10"/>
          <p:cNvSpPr txBox="1"/>
          <p:nvPr/>
        </p:nvSpPr>
        <p:spPr>
          <a:xfrm>
            <a:off x="5029200" y="3072384"/>
            <a:ext cx="6400800" cy="292608"/>
          </a:xfrm>
          <a:prstGeom prst="rect">
            <a:avLst/>
          </a:prstGeom>
          <a:noFill/>
        </p:spPr>
        <p:txBody>
          <a:bodyPr wrap="square" lIns="0" rIns="0" tIns="0" bIns="0" anchor="t">
            <a:spAutoFit/>
          </a:bodyPr>
          <a:lstStyle/>
          <a:p>
            <a:pPr algn="l"/>
            <a:r>
              <a:rPr sz="1400" b="0" i="0">
                <a:solidFill>
                  <a:srgbClr val="4FC3F7"/>
                </a:solidFill>
                <a:latin typeface="Helvetica Neue"/>
              </a:rPr>
              <a:t>HPC outlet pressure</a:t>
            </a:r>
          </a:p>
        </p:txBody>
      </p:sp>
      <p:sp>
        <p:nvSpPr>
          <p:cNvPr id="12" name="TextBox 11"/>
          <p:cNvSpPr txBox="1"/>
          <p:nvPr/>
        </p:nvSpPr>
        <p:spPr>
          <a:xfrm>
            <a:off x="1828800" y="3364992"/>
            <a:ext cx="2743200" cy="292608"/>
          </a:xfrm>
          <a:prstGeom prst="rect">
            <a:avLst/>
          </a:prstGeom>
          <a:noFill/>
        </p:spPr>
        <p:txBody>
          <a:bodyPr wrap="square" lIns="0" rIns="0" tIns="0" bIns="0" anchor="t">
            <a:spAutoFit/>
          </a:bodyPr>
          <a:lstStyle/>
          <a:p>
            <a:pPr algn="l"/>
            <a:r>
              <a:rPr sz="1400" b="0" i="0">
                <a:solidFill>
                  <a:srgbClr val="EEEEEE"/>
                </a:solidFill>
                <a:latin typeface="Menlo"/>
              </a:rPr>
              <a:t>s8  · Nf</a:t>
            </a:r>
          </a:p>
        </p:txBody>
      </p:sp>
      <p:sp>
        <p:nvSpPr>
          <p:cNvPr id="13" name="TextBox 12"/>
          <p:cNvSpPr txBox="1"/>
          <p:nvPr/>
        </p:nvSpPr>
        <p:spPr>
          <a:xfrm>
            <a:off x="5029200" y="3364992"/>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Physical fan speed</a:t>
            </a:r>
          </a:p>
        </p:txBody>
      </p:sp>
      <p:sp>
        <p:nvSpPr>
          <p:cNvPr id="14" name="TextBox 13"/>
          <p:cNvSpPr txBox="1"/>
          <p:nvPr/>
        </p:nvSpPr>
        <p:spPr>
          <a:xfrm>
            <a:off x="1828800" y="3657600"/>
            <a:ext cx="2743200" cy="292608"/>
          </a:xfrm>
          <a:prstGeom prst="rect">
            <a:avLst/>
          </a:prstGeom>
          <a:noFill/>
        </p:spPr>
        <p:txBody>
          <a:bodyPr wrap="square" lIns="0" rIns="0" tIns="0" bIns="0" anchor="t">
            <a:spAutoFit/>
          </a:bodyPr>
          <a:lstStyle/>
          <a:p>
            <a:pPr algn="l"/>
            <a:r>
              <a:rPr sz="1400" b="0" i="0">
                <a:solidFill>
                  <a:srgbClr val="EEEEEE"/>
                </a:solidFill>
                <a:latin typeface="Menlo"/>
              </a:rPr>
              <a:t>s9  · Nc</a:t>
            </a:r>
          </a:p>
        </p:txBody>
      </p:sp>
      <p:sp>
        <p:nvSpPr>
          <p:cNvPr id="15" name="TextBox 14"/>
          <p:cNvSpPr txBox="1"/>
          <p:nvPr/>
        </p:nvSpPr>
        <p:spPr>
          <a:xfrm>
            <a:off x="5029200" y="3657600"/>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Physical core speed</a:t>
            </a:r>
          </a:p>
        </p:txBody>
      </p:sp>
      <p:sp>
        <p:nvSpPr>
          <p:cNvPr id="16" name="TextBox 15"/>
          <p:cNvSpPr txBox="1"/>
          <p:nvPr/>
        </p:nvSpPr>
        <p:spPr>
          <a:xfrm>
            <a:off x="1828800" y="3950208"/>
            <a:ext cx="2743200" cy="292608"/>
          </a:xfrm>
          <a:prstGeom prst="rect">
            <a:avLst/>
          </a:prstGeom>
          <a:noFill/>
        </p:spPr>
        <p:txBody>
          <a:bodyPr wrap="square" lIns="0" rIns="0" tIns="0" bIns="0" anchor="t">
            <a:spAutoFit/>
          </a:bodyPr>
          <a:lstStyle/>
          <a:p>
            <a:pPr algn="l"/>
            <a:r>
              <a:rPr sz="1400" b="1" i="0">
                <a:solidFill>
                  <a:srgbClr val="4FC3F7"/>
                </a:solidFill>
                <a:latin typeface="Menlo"/>
              </a:rPr>
              <a:t>s11 · Ps30</a:t>
            </a:r>
          </a:p>
        </p:txBody>
      </p:sp>
      <p:sp>
        <p:nvSpPr>
          <p:cNvPr id="17" name="TextBox 16"/>
          <p:cNvSpPr txBox="1"/>
          <p:nvPr/>
        </p:nvSpPr>
        <p:spPr>
          <a:xfrm>
            <a:off x="5029200" y="3950208"/>
            <a:ext cx="6400800" cy="292608"/>
          </a:xfrm>
          <a:prstGeom prst="rect">
            <a:avLst/>
          </a:prstGeom>
          <a:noFill/>
        </p:spPr>
        <p:txBody>
          <a:bodyPr wrap="square" lIns="0" rIns="0" tIns="0" bIns="0" anchor="t">
            <a:spAutoFit/>
          </a:bodyPr>
          <a:lstStyle/>
          <a:p>
            <a:pPr algn="l"/>
            <a:r>
              <a:rPr sz="1400" b="0" i="0">
                <a:solidFill>
                  <a:srgbClr val="4FC3F7"/>
                </a:solidFill>
                <a:latin typeface="Helvetica Neue"/>
              </a:rPr>
              <a:t>Static pressure HPC outlet</a:t>
            </a:r>
          </a:p>
        </p:txBody>
      </p:sp>
      <p:sp>
        <p:nvSpPr>
          <p:cNvPr id="18" name="TextBox 17"/>
          <p:cNvSpPr txBox="1"/>
          <p:nvPr/>
        </p:nvSpPr>
        <p:spPr>
          <a:xfrm>
            <a:off x="1828800" y="4242816"/>
            <a:ext cx="2743200" cy="292608"/>
          </a:xfrm>
          <a:prstGeom prst="rect">
            <a:avLst/>
          </a:prstGeom>
          <a:noFill/>
        </p:spPr>
        <p:txBody>
          <a:bodyPr wrap="square" lIns="0" rIns="0" tIns="0" bIns="0" anchor="t">
            <a:spAutoFit/>
          </a:bodyPr>
          <a:lstStyle/>
          <a:p>
            <a:pPr algn="l"/>
            <a:r>
              <a:rPr sz="1400" b="0" i="0">
                <a:solidFill>
                  <a:srgbClr val="EEEEEE"/>
                </a:solidFill>
                <a:latin typeface="Menlo"/>
              </a:rPr>
              <a:t>s12 · phi</a:t>
            </a:r>
          </a:p>
        </p:txBody>
      </p:sp>
      <p:sp>
        <p:nvSpPr>
          <p:cNvPr id="19" name="TextBox 18"/>
          <p:cNvSpPr txBox="1"/>
          <p:nvPr/>
        </p:nvSpPr>
        <p:spPr>
          <a:xfrm>
            <a:off x="5029200" y="4242816"/>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Ratio of fuel flow to Ps30</a:t>
            </a:r>
          </a:p>
        </p:txBody>
      </p:sp>
      <p:sp>
        <p:nvSpPr>
          <p:cNvPr id="20" name="TextBox 19"/>
          <p:cNvSpPr txBox="1"/>
          <p:nvPr/>
        </p:nvSpPr>
        <p:spPr>
          <a:xfrm>
            <a:off x="1828800" y="4535424"/>
            <a:ext cx="2743200" cy="292608"/>
          </a:xfrm>
          <a:prstGeom prst="rect">
            <a:avLst/>
          </a:prstGeom>
          <a:noFill/>
        </p:spPr>
        <p:txBody>
          <a:bodyPr wrap="square" lIns="0" rIns="0" tIns="0" bIns="0" anchor="t">
            <a:spAutoFit/>
          </a:bodyPr>
          <a:lstStyle/>
          <a:p>
            <a:pPr algn="l"/>
            <a:r>
              <a:rPr sz="1400" b="1" i="0">
                <a:solidFill>
                  <a:srgbClr val="4FC3F7"/>
                </a:solidFill>
                <a:latin typeface="Menlo"/>
              </a:rPr>
              <a:t>s14 · NRc</a:t>
            </a:r>
          </a:p>
        </p:txBody>
      </p:sp>
      <p:sp>
        <p:nvSpPr>
          <p:cNvPr id="21" name="TextBox 20"/>
          <p:cNvSpPr txBox="1"/>
          <p:nvPr/>
        </p:nvSpPr>
        <p:spPr>
          <a:xfrm>
            <a:off x="5029200" y="4535424"/>
            <a:ext cx="6400800" cy="292608"/>
          </a:xfrm>
          <a:prstGeom prst="rect">
            <a:avLst/>
          </a:prstGeom>
          <a:noFill/>
        </p:spPr>
        <p:txBody>
          <a:bodyPr wrap="square" lIns="0" rIns="0" tIns="0" bIns="0" anchor="t">
            <a:spAutoFit/>
          </a:bodyPr>
          <a:lstStyle/>
          <a:p>
            <a:pPr algn="l"/>
            <a:r>
              <a:rPr sz="1400" b="0" i="0">
                <a:solidFill>
                  <a:srgbClr val="4FC3F7"/>
                </a:solidFill>
                <a:latin typeface="Helvetica Neue"/>
              </a:rPr>
              <a:t>Corrected core speed</a:t>
            </a:r>
          </a:p>
        </p:txBody>
      </p:sp>
      <p:sp>
        <p:nvSpPr>
          <p:cNvPr id="22" name="TextBox 21"/>
          <p:cNvSpPr txBox="1"/>
          <p:nvPr/>
        </p:nvSpPr>
        <p:spPr>
          <a:xfrm>
            <a:off x="1828800" y="4828032"/>
            <a:ext cx="2743200" cy="292608"/>
          </a:xfrm>
          <a:prstGeom prst="rect">
            <a:avLst/>
          </a:prstGeom>
          <a:noFill/>
        </p:spPr>
        <p:txBody>
          <a:bodyPr wrap="square" lIns="0" rIns="0" tIns="0" bIns="0" anchor="t">
            <a:spAutoFit/>
          </a:bodyPr>
          <a:lstStyle/>
          <a:p>
            <a:pPr algn="l"/>
            <a:r>
              <a:rPr sz="1400" b="0" i="0">
                <a:solidFill>
                  <a:srgbClr val="EEEEEE"/>
                </a:solidFill>
                <a:latin typeface="Menlo"/>
              </a:rPr>
              <a:t>s15 · BPR</a:t>
            </a:r>
          </a:p>
        </p:txBody>
      </p:sp>
      <p:sp>
        <p:nvSpPr>
          <p:cNvPr id="23" name="TextBox 22"/>
          <p:cNvSpPr txBox="1"/>
          <p:nvPr/>
        </p:nvSpPr>
        <p:spPr>
          <a:xfrm>
            <a:off x="5029200" y="4828032"/>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Bypass ratio</a:t>
            </a:r>
          </a:p>
        </p:txBody>
      </p:sp>
      <p:sp>
        <p:nvSpPr>
          <p:cNvPr id="24" name="TextBox 23"/>
          <p:cNvSpPr txBox="1"/>
          <p:nvPr/>
        </p:nvSpPr>
        <p:spPr>
          <a:xfrm>
            <a:off x="1828800" y="5120640"/>
            <a:ext cx="2743200" cy="292608"/>
          </a:xfrm>
          <a:prstGeom prst="rect">
            <a:avLst/>
          </a:prstGeom>
          <a:noFill/>
        </p:spPr>
        <p:txBody>
          <a:bodyPr wrap="square" lIns="0" rIns="0" tIns="0" bIns="0" anchor="t">
            <a:spAutoFit/>
          </a:bodyPr>
          <a:lstStyle/>
          <a:p>
            <a:pPr algn="l"/>
            <a:r>
              <a:rPr sz="1400" b="0" i="0">
                <a:solidFill>
                  <a:srgbClr val="EEEEEE"/>
                </a:solidFill>
                <a:latin typeface="Menlo"/>
              </a:rPr>
              <a:t>s17 · htBleed</a:t>
            </a:r>
          </a:p>
        </p:txBody>
      </p:sp>
      <p:sp>
        <p:nvSpPr>
          <p:cNvPr id="25" name="TextBox 24"/>
          <p:cNvSpPr txBox="1"/>
          <p:nvPr/>
        </p:nvSpPr>
        <p:spPr>
          <a:xfrm>
            <a:off x="5029200" y="5120640"/>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Bleed enthalpy</a:t>
            </a:r>
          </a:p>
        </p:txBody>
      </p:sp>
      <p:sp>
        <p:nvSpPr>
          <p:cNvPr id="26" name="TextBox 25"/>
          <p:cNvSpPr txBox="1"/>
          <p:nvPr/>
        </p:nvSpPr>
        <p:spPr>
          <a:xfrm>
            <a:off x="1828800" y="5413248"/>
            <a:ext cx="2743200" cy="292608"/>
          </a:xfrm>
          <a:prstGeom prst="rect">
            <a:avLst/>
          </a:prstGeom>
          <a:noFill/>
        </p:spPr>
        <p:txBody>
          <a:bodyPr wrap="square" lIns="0" rIns="0" tIns="0" bIns="0" anchor="t">
            <a:spAutoFit/>
          </a:bodyPr>
          <a:lstStyle/>
          <a:p>
            <a:pPr algn="l"/>
            <a:r>
              <a:rPr sz="1400" b="0" i="0">
                <a:solidFill>
                  <a:srgbClr val="EEEEEE"/>
                </a:solidFill>
                <a:latin typeface="Menlo"/>
              </a:rPr>
              <a:t>s20 · W31</a:t>
            </a:r>
          </a:p>
        </p:txBody>
      </p:sp>
      <p:sp>
        <p:nvSpPr>
          <p:cNvPr id="27" name="TextBox 26"/>
          <p:cNvSpPr txBox="1"/>
          <p:nvPr/>
        </p:nvSpPr>
        <p:spPr>
          <a:xfrm>
            <a:off x="5029200" y="5413248"/>
            <a:ext cx="6400800" cy="292608"/>
          </a:xfrm>
          <a:prstGeom prst="rect">
            <a:avLst/>
          </a:prstGeom>
          <a:noFill/>
        </p:spPr>
        <p:txBody>
          <a:bodyPr wrap="square" lIns="0" rIns="0" tIns="0" bIns="0" anchor="t">
            <a:spAutoFit/>
          </a:bodyPr>
          <a:lstStyle/>
          <a:p>
            <a:pPr algn="l"/>
            <a:r>
              <a:rPr sz="1400" b="0" i="0">
                <a:solidFill>
                  <a:srgbClr val="BBBBBB"/>
                </a:solidFill>
                <a:latin typeface="Helvetica Neue"/>
              </a:rPr>
              <a:t>HPT coolant bleed</a:t>
            </a:r>
          </a:p>
        </p:txBody>
      </p:sp>
      <p:sp>
        <p:nvSpPr>
          <p:cNvPr id="28" name="TextBox 27"/>
          <p:cNvSpPr txBox="1"/>
          <p:nvPr/>
        </p:nvSpPr>
        <p:spPr>
          <a:xfrm>
            <a:off x="548640" y="6035040"/>
            <a:ext cx="10972800" cy="365760"/>
          </a:xfrm>
          <a:prstGeom prst="rect">
            <a:avLst/>
          </a:prstGeom>
          <a:noFill/>
        </p:spPr>
        <p:txBody>
          <a:bodyPr wrap="square" lIns="0" rIns="0" tIns="0" bIns="0" anchor="t">
            <a:spAutoFit/>
          </a:bodyPr>
          <a:lstStyle/>
          <a:p>
            <a:pPr algn="l"/>
            <a:r>
              <a:rPr sz="1200" b="0" i="1">
                <a:solidFill>
                  <a:srgbClr val="888888"/>
                </a:solidFill>
                <a:latin typeface="Helvetica Neue"/>
              </a:rPr>
              <a:t>Highlighted rows are the most predictive after feature selection.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A MODERN APPROACH</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800" b="1" i="0">
                <a:solidFill>
                  <a:srgbClr val="4FC3F7"/>
                </a:solidFill>
                <a:latin typeface="Helvetica Neue"/>
              </a:rPr>
              <a:t>Deep learning gets us close</a:t>
            </a:r>
          </a:p>
        </p:txBody>
      </p:sp>
      <p:sp>
        <p:nvSpPr>
          <p:cNvPr id="4" name="Rectangle 3"/>
          <p:cNvSpPr/>
          <p:nvPr/>
        </p:nvSpPr>
        <p:spPr>
          <a:xfrm>
            <a:off x="1828800" y="2743200"/>
            <a:ext cx="8503920" cy="1828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400">
                <a:solidFill>
                  <a:srgbClr val="EEEEEE"/>
                </a:solidFill>
                <a:latin typeface="Menlo"/>
              </a:rPr>
              <a:t>model = nn.LSTM(input_size=17, hidden_size=64, num_layers=2)</a:t>
            </a:r>
          </a:p>
          <a:p>
            <a:pPr algn="l">
              <a:lnSpc>
                <a:spcPct val="120000"/>
              </a:lnSpc>
            </a:pPr>
            <a:r>
              <a:rPr sz="1400">
                <a:solidFill>
                  <a:srgbClr val="EEEEEE"/>
                </a:solidFill>
                <a:latin typeface="Menlo"/>
              </a:rPr>
              <a:t># … training …</a:t>
            </a:r>
          </a:p>
          <a:p>
            <a:pPr algn="l">
              <a:lnSpc>
                <a:spcPct val="120000"/>
              </a:lnSpc>
            </a:pPr>
            <a:r>
              <a:rPr sz="1400">
                <a:solidFill>
                  <a:srgbClr val="EEEEEE"/>
                </a:solidFill>
                <a:latin typeface="Menlo"/>
              </a:rPr>
              <a:t>RMSE on test set: 15.49 cycles</a:t>
            </a:r>
          </a:p>
          <a:p>
            <a:pPr algn="l">
              <a:lnSpc>
                <a:spcPct val="120000"/>
              </a:lnSpc>
            </a:pPr>
            <a:r>
              <a:rPr sz="1400">
                <a:solidFill>
                  <a:srgbClr val="EEEEEE"/>
                </a:solidFill>
                <a:latin typeface="Menlo"/>
              </a:rPr>
              <a:t>R²: 0.855</a:t>
            </a:r>
          </a:p>
        </p:txBody>
      </p:sp>
      <p:sp>
        <p:nvSpPr>
          <p:cNvPr id="5" name="TextBox 4"/>
          <p:cNvSpPr txBox="1"/>
          <p:nvPr/>
        </p:nvSpPr>
        <p:spPr>
          <a:xfrm>
            <a:off x="548640" y="5120640"/>
            <a:ext cx="10972800" cy="914400"/>
          </a:xfrm>
          <a:prstGeom prst="rect">
            <a:avLst/>
          </a:prstGeom>
          <a:noFill/>
        </p:spPr>
        <p:txBody>
          <a:bodyPr wrap="square" lIns="0" rIns="0" tIns="0" bIns="0" anchor="t">
            <a:spAutoFit/>
          </a:bodyPr>
          <a:lstStyle/>
          <a:p>
            <a:pPr algn="ctr"/>
            <a:r>
              <a:rPr sz="2000" b="1" i="0">
                <a:solidFill>
                  <a:srgbClr val="4FC3F7"/>
                </a:solidFill>
                <a:latin typeface="Helvetica Neue"/>
              </a:rPr>
              <a:t>That's pretty good. About 15 cycles off, on average. So we ship it to the FAA, right?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A0A0A"/>
        </a:solidFill>
        <a:effectLst/>
      </p:bgPr>
    </p:bg>
    <p:spTree>
      <p:nvGrpSpPr>
        <p:cNvPr id="1" name=""/>
        <p:cNvGrpSpPr/>
        <p:nvPr/>
      </p:nvGrpSpPr>
      <p:grpSpPr/>
      <p:sp>
        <p:nvSpPr>
          <p:cNvPr id="2" name="TextBox 1"/>
          <p:cNvSpPr txBox="1"/>
          <p:nvPr/>
        </p:nvSpPr>
        <p:spPr>
          <a:xfrm>
            <a:off x="548640" y="548640"/>
            <a:ext cx="10972800" cy="1463040"/>
          </a:xfrm>
          <a:prstGeom prst="rect">
            <a:avLst/>
          </a:prstGeom>
          <a:noFill/>
        </p:spPr>
        <p:txBody>
          <a:bodyPr wrap="square" lIns="0" rIns="0" tIns="0" bIns="0" anchor="t">
            <a:spAutoFit/>
          </a:bodyPr>
          <a:lstStyle/>
          <a:p>
            <a:pPr algn="ctr"/>
            <a:r>
              <a:rPr sz="12000" b="1" i="0">
                <a:solidFill>
                  <a:srgbClr val="EF5350"/>
                </a:solidFill>
                <a:latin typeface="Helvetica Neue"/>
              </a:rPr>
              <a:t>No.</a:t>
            </a:r>
          </a:p>
        </p:txBody>
      </p:sp>
      <p:sp>
        <p:nvSpPr>
          <p:cNvPr id="3" name="TextBox 2"/>
          <p:cNvSpPr txBox="1"/>
          <p:nvPr/>
        </p:nvSpPr>
        <p:spPr>
          <a:xfrm>
            <a:off x="548640" y="2743200"/>
            <a:ext cx="10972800" cy="731520"/>
          </a:xfrm>
          <a:prstGeom prst="rect">
            <a:avLst/>
          </a:prstGeom>
          <a:noFill/>
        </p:spPr>
        <p:txBody>
          <a:bodyPr wrap="square" lIns="0" rIns="0" tIns="0" bIns="0" anchor="t">
            <a:spAutoFit/>
          </a:bodyPr>
          <a:lstStyle/>
          <a:p>
            <a:pPr algn="ctr"/>
            <a:r>
              <a:rPr sz="2400" b="0" i="0">
                <a:solidFill>
                  <a:srgbClr val="EEEEEE"/>
                </a:solidFill>
                <a:latin typeface="Helvetica Neue"/>
              </a:rPr>
              <a:t>Regulators do not ask 'how accurate is your model?'</a:t>
            </a:r>
          </a:p>
        </p:txBody>
      </p:sp>
      <p:sp>
        <p:nvSpPr>
          <p:cNvPr id="4" name="TextBox 3"/>
          <p:cNvSpPr txBox="1"/>
          <p:nvPr/>
        </p:nvSpPr>
        <p:spPr>
          <a:xfrm>
            <a:off x="548640" y="3566160"/>
            <a:ext cx="10972800" cy="731520"/>
          </a:xfrm>
          <a:prstGeom prst="rect">
            <a:avLst/>
          </a:prstGeom>
          <a:noFill/>
        </p:spPr>
        <p:txBody>
          <a:bodyPr wrap="square" lIns="0" rIns="0" tIns="0" bIns="0" anchor="t">
            <a:spAutoFit/>
          </a:bodyPr>
          <a:lstStyle/>
          <a:p>
            <a:pPr algn="ctr"/>
            <a:r>
              <a:rPr sz="2800" b="1" i="0">
                <a:solidFill>
                  <a:srgbClr val="4FC3F7"/>
                </a:solidFill>
                <a:latin typeface="Helvetica Neue"/>
              </a:rPr>
              <a:t>They ask 'why did your model say that?'</a:t>
            </a:r>
          </a:p>
        </p:txBody>
      </p:sp>
      <p:sp>
        <p:nvSpPr>
          <p:cNvPr id="5" name="TextBox 4"/>
          <p:cNvSpPr txBox="1"/>
          <p:nvPr/>
        </p:nvSpPr>
        <p:spPr>
          <a:xfrm>
            <a:off x="548640" y="4937760"/>
            <a:ext cx="10972800" cy="457200"/>
          </a:xfrm>
          <a:prstGeom prst="rect">
            <a:avLst/>
          </a:prstGeom>
          <a:noFill/>
        </p:spPr>
        <p:txBody>
          <a:bodyPr wrap="square" lIns="0" rIns="0" tIns="0" bIns="0" anchor="t">
            <a:spAutoFit/>
          </a:bodyPr>
          <a:lstStyle/>
          <a:p>
            <a:pPr algn="ctr"/>
            <a:r>
              <a:rPr sz="1800" b="0" i="0">
                <a:solidFill>
                  <a:srgbClr val="BBBBBB"/>
                </a:solidFill>
                <a:latin typeface="Helvetica Neue"/>
              </a:rPr>
              <a:t>FAA · FDA · OCC (banking) · EU AI Act</a:t>
            </a:r>
          </a:p>
        </p:txBody>
      </p:sp>
      <p:sp>
        <p:nvSpPr>
          <p:cNvPr id="6" name="TextBox 5"/>
          <p:cNvSpPr txBox="1"/>
          <p:nvPr/>
        </p:nvSpPr>
        <p:spPr>
          <a:xfrm>
            <a:off x="548640" y="5486400"/>
            <a:ext cx="10972800" cy="457200"/>
          </a:xfrm>
          <a:prstGeom prst="rect">
            <a:avLst/>
          </a:prstGeom>
          <a:noFill/>
        </p:spPr>
        <p:txBody>
          <a:bodyPr wrap="square" lIns="0" rIns="0" tIns="0" bIns="0" anchor="t">
            <a:spAutoFit/>
          </a:bodyPr>
          <a:lstStyle/>
          <a:p>
            <a:pPr algn="ctr"/>
            <a:r>
              <a:rPr sz="1400" b="0" i="1">
                <a:solidFill>
                  <a:srgbClr val="888888"/>
                </a:solidFill>
                <a:latin typeface="Helvetica Neue"/>
              </a:rPr>
              <a:t>All require traceable, explainable decisions for high-risk systems.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548640"/>
            <a:ext cx="10972800" cy="914400"/>
          </a:xfrm>
          <a:prstGeom prst="rect">
            <a:avLst/>
          </a:prstGeom>
          <a:noFill/>
        </p:spPr>
        <p:txBody>
          <a:bodyPr wrap="square" lIns="0" rIns="0" tIns="0" bIns="0" anchor="t">
            <a:spAutoFit/>
          </a:bodyPr>
          <a:lstStyle/>
          <a:p>
            <a:pPr algn="ctr"/>
            <a:r>
              <a:rPr sz="3600" b="1" i="0">
                <a:solidFill>
                  <a:srgbClr val="EEEEEE"/>
                </a:solidFill>
                <a:latin typeface="Helvetica Neue"/>
              </a:rPr>
              <a:t>Black Box vs. Glass Box</a:t>
            </a:r>
          </a:p>
        </p:txBody>
      </p:sp>
      <p:sp>
        <p:nvSpPr>
          <p:cNvPr id="3" name="Rectangle 2"/>
          <p:cNvSpPr/>
          <p:nvPr/>
        </p:nvSpPr>
        <p:spPr>
          <a:xfrm>
            <a:off x="914400" y="1828800"/>
            <a:ext cx="5029200" cy="3291840"/>
          </a:xfrm>
          <a:prstGeom prst="rect">
            <a:avLst/>
          </a:prstGeom>
          <a:solidFill>
            <a:srgbClr val="2A1212"/>
          </a:solidFill>
          <a:ln w="25400">
            <a:solidFill>
              <a:srgbClr val="EF5350"/>
            </a:solidFill>
          </a:ln>
        </p:spPr>
        <p:style>
          <a:lnRef idx="1">
            <a:schemeClr val="accent1"/>
          </a:lnRef>
          <a:fillRef idx="3">
            <a:schemeClr val="accent1"/>
          </a:fillRef>
          <a:effectRef idx="2">
            <a:schemeClr val="accent1"/>
          </a:effectRef>
          <a:fontRef idx="minor">
            <a:schemeClr val="lt1"/>
          </a:fontRef>
        </p:style>
        <p:txBody>
          <a:bodyPr rtlCol="0" anchor="ctr" lIns="254000" tIns="203200"/>
          <a:lstStyle/>
          <a:p>
            <a:pPr algn="ctr">
              <a:spcAft>
                <a:spcPts val="1000"/>
              </a:spcAft>
            </a:pPr>
            <a:r>
              <a:rPr sz="2400" b="1">
                <a:solidFill>
                  <a:srgbClr val="EF5350"/>
                </a:solidFill>
                <a:latin typeface="Helvetica Neue"/>
              </a:rPr>
              <a:t>Black Box</a:t>
            </a:r>
          </a:p>
          <a:p>
            <a:pPr>
              <a:spcAft>
                <a:spcPts val="400"/>
              </a:spcAft>
            </a:pPr>
            <a:r>
              <a:rPr sz="1400" b="0">
                <a:solidFill>
                  <a:srgbClr val="BBBBBB"/>
                </a:solidFill>
                <a:latin typeface="Helvetica Neue"/>
              </a:rPr>
              <a:t>LSTM, deep CNN, transformer</a:t>
            </a:r>
          </a:p>
          <a:p>
            <a:pPr>
              <a:spcAft>
                <a:spcPts val="400"/>
              </a:spcAft>
            </a:pPr>
            <a:r>
              <a:rPr sz="1400" b="0">
                <a:solidFill>
                  <a:srgbClr val="81C784"/>
                </a:solidFill>
                <a:latin typeface="Helvetica Neue"/>
              </a:rPr>
              <a:t>✓ High accuracy</a:t>
            </a:r>
          </a:p>
          <a:p>
            <a:pPr>
              <a:spcAft>
                <a:spcPts val="400"/>
              </a:spcAft>
            </a:pPr>
            <a:r>
              <a:rPr sz="1400" b="0">
                <a:solidFill>
                  <a:srgbClr val="FFB74D"/>
                </a:solidFill>
                <a:latin typeface="Helvetica Neue"/>
              </a:rPr>
              <a:t>✗ Why? — no answer</a:t>
            </a:r>
          </a:p>
          <a:p>
            <a:pPr>
              <a:spcAft>
                <a:spcPts val="400"/>
              </a:spcAft>
            </a:pPr>
            <a:r>
              <a:rPr sz="1400" b="0">
                <a:solidFill>
                  <a:srgbClr val="FFB74D"/>
                </a:solidFill>
                <a:latin typeface="Helvetica Neue"/>
              </a:rPr>
              <a:t>✗ FAA / FDA / OCC: rejected</a:t>
            </a:r>
          </a:p>
        </p:txBody>
      </p:sp>
      <p:sp>
        <p:nvSpPr>
          <p:cNvPr id="4" name="Rectangle 3"/>
          <p:cNvSpPr/>
          <p:nvPr/>
        </p:nvSpPr>
        <p:spPr>
          <a:xfrm>
            <a:off x="6217920" y="1828800"/>
            <a:ext cx="5029200" cy="3291840"/>
          </a:xfrm>
          <a:prstGeom prst="rect">
            <a:avLst/>
          </a:prstGeom>
          <a:solidFill>
            <a:srgbClr val="122A12"/>
          </a:solidFill>
          <a:ln w="2540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lIns="254000" tIns="203200"/>
          <a:lstStyle/>
          <a:p>
            <a:pPr algn="ctr">
              <a:spcAft>
                <a:spcPts val="1000"/>
              </a:spcAft>
            </a:pPr>
            <a:r>
              <a:rPr sz="2400" b="1">
                <a:solidFill>
                  <a:srgbClr val="81C784"/>
                </a:solidFill>
                <a:latin typeface="Helvetica Neue"/>
              </a:rPr>
              <a:t>Glass Box</a:t>
            </a:r>
          </a:p>
          <a:p>
            <a:pPr>
              <a:spcAft>
                <a:spcPts val="400"/>
              </a:spcAft>
            </a:pPr>
            <a:r>
              <a:rPr sz="1400" b="0">
                <a:solidFill>
                  <a:srgbClr val="BBBBBB"/>
                </a:solidFill>
                <a:latin typeface="Helvetica Neue"/>
              </a:rPr>
              <a:t>Decision tree, linear regression</a:t>
            </a:r>
          </a:p>
          <a:p>
            <a:pPr>
              <a:spcAft>
                <a:spcPts val="400"/>
              </a:spcAft>
            </a:pPr>
            <a:r>
              <a:rPr sz="1400" b="0">
                <a:solidFill>
                  <a:srgbClr val="81C784"/>
                </a:solidFill>
                <a:latin typeface="Helvetica Neue"/>
              </a:rPr>
              <a:t>✓ Fully traceable</a:t>
            </a:r>
          </a:p>
          <a:p>
            <a:pPr>
              <a:spcAft>
                <a:spcPts val="400"/>
              </a:spcAft>
            </a:pPr>
            <a:r>
              <a:rPr sz="1400" b="0">
                <a:solidFill>
                  <a:srgbClr val="FFB74D"/>
                </a:solidFill>
                <a:latin typeface="Helvetica Neue"/>
              </a:rPr>
              <a:t>✗ Lower accuracy</a:t>
            </a:r>
          </a:p>
          <a:p>
            <a:pPr>
              <a:spcAft>
                <a:spcPts val="400"/>
              </a:spcAft>
            </a:pPr>
            <a:r>
              <a:rPr sz="1400" b="0">
                <a:solidFill>
                  <a:srgbClr val="81C784"/>
                </a:solidFill>
                <a:latin typeface="Helvetica Neue"/>
              </a:rPr>
              <a:t>✓ Regulators: approved</a:t>
            </a:r>
          </a:p>
        </p:txBody>
      </p:sp>
      <p:sp>
        <p:nvSpPr>
          <p:cNvPr id="5" name="TextBox 4"/>
          <p:cNvSpPr txBox="1"/>
          <p:nvPr/>
        </p:nvSpPr>
        <p:spPr>
          <a:xfrm>
            <a:off x="548640" y="5669280"/>
            <a:ext cx="10972800" cy="640080"/>
          </a:xfrm>
          <a:prstGeom prst="rect">
            <a:avLst/>
          </a:prstGeom>
          <a:noFill/>
        </p:spPr>
        <p:txBody>
          <a:bodyPr wrap="square" lIns="0" rIns="0" tIns="0" bIns="0" anchor="t">
            <a:spAutoFit/>
          </a:bodyPr>
          <a:lstStyle/>
          <a:p>
            <a:pPr algn="ctr"/>
            <a:r>
              <a:rPr sz="2200" b="1" i="0">
                <a:solidFill>
                  <a:srgbClr val="4FC3F7"/>
                </a:solidFill>
                <a:latin typeface="Helvetica Neue"/>
              </a:rPr>
              <a:t>Today's question: can we have both?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SECTION 2 · CONCEPT</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600" b="1" i="0">
                <a:solidFill>
                  <a:srgbClr val="4FC3F7"/>
                </a:solidFill>
                <a:latin typeface="Helvetica Neue"/>
              </a:rPr>
              <a:t>Classic Decision Tree</a:t>
            </a:r>
          </a:p>
        </p:txBody>
      </p:sp>
      <p:sp>
        <p:nvSpPr>
          <p:cNvPr id="4" name="Rectangle 3"/>
          <p:cNvSpPr/>
          <p:nvPr/>
        </p:nvSpPr>
        <p:spPr>
          <a:xfrm>
            <a:off x="1371600" y="2286000"/>
            <a:ext cx="9418320" cy="310896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400">
                <a:solidFill>
                  <a:srgbClr val="EEEEEE"/>
                </a:solidFill>
                <a:latin typeface="Menlo"/>
              </a:rPr>
              <a:t>             [ Sensor 11 (Ps30) &gt; 47.5 ? ]</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yes                  no</a:t>
            </a:r>
          </a:p>
          <a:p>
            <a:pPr algn="l">
              <a:lnSpc>
                <a:spcPct val="120000"/>
              </a:lnSpc>
            </a:pPr>
            <a:r>
              <a:rPr sz="1400">
                <a:solidFill>
                  <a:srgbClr val="EEEEEE"/>
                </a:solidFill>
                <a:latin typeface="Menlo"/>
              </a:rPr>
              <a:t>      [ Sensor 14 (NRc) &gt; 8138 ? ]  [ HEALTHY ]</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yes               no</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 CRITICAL ]         [ CAUTION ]</a:t>
            </a:r>
          </a:p>
        </p:txBody>
      </p:sp>
      <p:sp>
        <p:nvSpPr>
          <p:cNvPr id="5" name="TextBox 4"/>
          <p:cNvSpPr txBox="1"/>
          <p:nvPr/>
        </p:nvSpPr>
        <p:spPr>
          <a:xfrm>
            <a:off x="548640" y="5577840"/>
            <a:ext cx="10972800" cy="457200"/>
          </a:xfrm>
          <a:prstGeom prst="rect">
            <a:avLst/>
          </a:prstGeom>
          <a:noFill/>
        </p:spPr>
        <p:txBody>
          <a:bodyPr wrap="square" lIns="0" rIns="0" tIns="0" bIns="0" anchor="t">
            <a:spAutoFit/>
          </a:bodyPr>
          <a:lstStyle/>
          <a:p>
            <a:pPr algn="ctr"/>
            <a:r>
              <a:rPr sz="1800" b="0" i="0">
                <a:solidFill>
                  <a:srgbClr val="EEEEEE"/>
                </a:solidFill>
                <a:latin typeface="Helvetica Neue"/>
              </a:rPr>
              <a:t>Beautifully explainable. Often poor accuracy.</a:t>
            </a:r>
          </a:p>
        </p:txBody>
      </p:sp>
      <p:sp>
        <p:nvSpPr>
          <p:cNvPr id="6" name="TextBox 5"/>
          <p:cNvSpPr txBox="1"/>
          <p:nvPr/>
        </p:nvSpPr>
        <p:spPr>
          <a:xfrm>
            <a:off x="548640" y="6126480"/>
            <a:ext cx="10972800" cy="365760"/>
          </a:xfrm>
          <a:prstGeom prst="rect">
            <a:avLst/>
          </a:prstGeom>
          <a:noFill/>
        </p:spPr>
        <p:txBody>
          <a:bodyPr wrap="square" lIns="0" rIns="0" tIns="0" bIns="0" anchor="t">
            <a:spAutoFit/>
          </a:bodyPr>
          <a:lstStyle/>
          <a:p>
            <a:pPr algn="ctr"/>
            <a:r>
              <a:rPr sz="1400" b="0" i="1">
                <a:solidFill>
                  <a:srgbClr val="FFB74D"/>
                </a:solidFill>
                <a:latin typeface="Helvetica Neue"/>
              </a:rPr>
              <a:t>Hard splits: a 0.01 difference in a sensor flips the entire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731520"/>
            <a:ext cx="10972800" cy="914400"/>
          </a:xfrm>
          <a:prstGeom prst="rect">
            <a:avLst/>
          </a:prstGeom>
          <a:noFill/>
        </p:spPr>
        <p:txBody>
          <a:bodyPr wrap="square" lIns="0" rIns="0" tIns="0" bIns="0" anchor="t">
            <a:spAutoFit/>
          </a:bodyPr>
          <a:lstStyle/>
          <a:p>
            <a:pPr algn="l"/>
            <a:r>
              <a:rPr sz="4400" b="1" i="0">
                <a:solidFill>
                  <a:srgbClr val="4FC3F7"/>
                </a:solidFill>
                <a:latin typeface="Helvetica Neue"/>
              </a:rPr>
              <a:t>Hard split</a:t>
            </a:r>
          </a:p>
        </p:txBody>
      </p:sp>
      <p:sp>
        <p:nvSpPr>
          <p:cNvPr id="3" name="Rectangle 2"/>
          <p:cNvSpPr/>
          <p:nvPr/>
        </p:nvSpPr>
        <p:spPr>
          <a:xfrm>
            <a:off x="1828800" y="2103120"/>
            <a:ext cx="8503920" cy="219456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600">
                <a:solidFill>
                  <a:srgbClr val="EEEEEE"/>
                </a:solidFill>
                <a:latin typeface="Menlo"/>
              </a:rPr>
              <a:t>def hard_split(x, threshold):</a:t>
            </a:r>
          </a:p>
          <a:p>
            <a:pPr algn="l">
              <a:lnSpc>
                <a:spcPct val="120000"/>
              </a:lnSpc>
            </a:pPr>
            <a:r>
              <a:rPr sz="1600">
                <a:solidFill>
                  <a:srgbClr val="EEEEEE"/>
                </a:solidFill>
                <a:latin typeface="Menlo"/>
              </a:rPr>
              <a:t>    if x &gt; threshold:</a:t>
            </a:r>
          </a:p>
          <a:p>
            <a:pPr algn="l">
              <a:lnSpc>
                <a:spcPct val="120000"/>
              </a:lnSpc>
            </a:pPr>
            <a:r>
              <a:rPr sz="1600">
                <a:solidFill>
                  <a:srgbClr val="EEEEEE"/>
                </a:solidFill>
                <a:latin typeface="Menlo"/>
              </a:rPr>
              <a:t>        return 'right'</a:t>
            </a:r>
          </a:p>
          <a:p>
            <a:pPr algn="l">
              <a:lnSpc>
                <a:spcPct val="120000"/>
              </a:lnSpc>
            </a:pPr>
            <a:r>
              <a:rPr sz="1600">
                <a:solidFill>
                  <a:srgbClr val="EEEEEE"/>
                </a:solidFill>
                <a:latin typeface="Menlo"/>
              </a:rPr>
              <a:t>    else:</a:t>
            </a:r>
          </a:p>
          <a:p>
            <a:pPr algn="l">
              <a:lnSpc>
                <a:spcPct val="120000"/>
              </a:lnSpc>
            </a:pPr>
            <a:r>
              <a:rPr sz="1600">
                <a:solidFill>
                  <a:srgbClr val="EEEEEE"/>
                </a:solidFill>
                <a:latin typeface="Menlo"/>
              </a:rPr>
              <a:t>        return 'left'</a:t>
            </a:r>
          </a:p>
        </p:txBody>
      </p:sp>
      <p:sp>
        <p:nvSpPr>
          <p:cNvPr id="4" name="TextBox 3"/>
          <p:cNvSpPr txBox="1"/>
          <p:nvPr/>
        </p:nvSpPr>
        <p:spPr>
          <a:xfrm>
            <a:off x="548640" y="4754880"/>
            <a:ext cx="10972800" cy="548640"/>
          </a:xfrm>
          <a:prstGeom prst="rect">
            <a:avLst/>
          </a:prstGeom>
          <a:noFill/>
        </p:spPr>
        <p:txBody>
          <a:bodyPr wrap="square" lIns="0" rIns="0" tIns="0" bIns="0" anchor="t">
            <a:spAutoFit/>
          </a:bodyPr>
          <a:lstStyle/>
          <a:p>
            <a:pPr algn="ctr"/>
            <a:r>
              <a:rPr sz="1800" b="0" i="0">
                <a:solidFill>
                  <a:srgbClr val="EEEEEE"/>
                </a:solidFill>
                <a:latin typeface="Helvetica Neue"/>
              </a:rPr>
              <a:t>Output: 'left' or 'right'. Discrete. No gradient.</a:t>
            </a:r>
          </a:p>
        </p:txBody>
      </p:sp>
      <p:sp>
        <p:nvSpPr>
          <p:cNvPr id="5" name="TextBox 4"/>
          <p:cNvSpPr txBox="1"/>
          <p:nvPr/>
        </p:nvSpPr>
        <p:spPr>
          <a:xfrm>
            <a:off x="548640" y="5394960"/>
            <a:ext cx="10972800" cy="548640"/>
          </a:xfrm>
          <a:prstGeom prst="rect">
            <a:avLst/>
          </a:prstGeom>
          <a:noFill/>
        </p:spPr>
        <p:txBody>
          <a:bodyPr wrap="square" lIns="0" rIns="0" tIns="0" bIns="0" anchor="t">
            <a:spAutoFit/>
          </a:bodyPr>
          <a:lstStyle/>
          <a:p>
            <a:pPr algn="ctr"/>
            <a:r>
              <a:rPr sz="1500" b="0" i="1">
                <a:solidFill>
                  <a:srgbClr val="BBBBBB"/>
                </a:solidFill>
                <a:latin typeface="Helvetica Neue"/>
              </a:rPr>
              <a:t>Cannot train with backpropagation. Tree built greedily, one node at a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731520"/>
            <a:ext cx="10972800" cy="914400"/>
          </a:xfrm>
          <a:prstGeom prst="rect">
            <a:avLst/>
          </a:prstGeom>
          <a:noFill/>
        </p:spPr>
        <p:txBody>
          <a:bodyPr wrap="square" lIns="0" rIns="0" tIns="0" bIns="0" anchor="t">
            <a:spAutoFit/>
          </a:bodyPr>
          <a:lstStyle/>
          <a:p>
            <a:pPr algn="l"/>
            <a:r>
              <a:rPr sz="4400" b="1" i="0">
                <a:solidFill>
                  <a:srgbClr val="4FC3F7"/>
                </a:solidFill>
                <a:latin typeface="Helvetica Neue"/>
              </a:rPr>
              <a:t>Soft split</a:t>
            </a:r>
          </a:p>
        </p:txBody>
      </p:sp>
      <p:sp>
        <p:nvSpPr>
          <p:cNvPr id="3" name="Rectangle 2"/>
          <p:cNvSpPr/>
          <p:nvPr/>
        </p:nvSpPr>
        <p:spPr>
          <a:xfrm>
            <a:off x="1828800" y="2103120"/>
            <a:ext cx="8503920" cy="219456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600">
                <a:solidFill>
                  <a:srgbClr val="EEEEEE"/>
                </a:solidFill>
                <a:latin typeface="Menlo"/>
              </a:rPr>
              <a:t>def soft_split(x, w, b):</a:t>
            </a:r>
          </a:p>
          <a:p>
            <a:pPr algn="l">
              <a:lnSpc>
                <a:spcPct val="120000"/>
              </a:lnSpc>
            </a:pPr>
            <a:r>
              <a:rPr sz="1600">
                <a:solidFill>
                  <a:srgbClr val="EEEEEE"/>
                </a:solidFill>
                <a:latin typeface="Menlo"/>
              </a:rPr>
              <a:t>    # sigmoid: σ(z) = 1 / (1 + exp(-z))</a:t>
            </a:r>
          </a:p>
          <a:p>
            <a:pPr algn="l">
              <a:lnSpc>
                <a:spcPct val="120000"/>
              </a:lnSpc>
            </a:pPr>
            <a:r>
              <a:rPr sz="1600">
                <a:solidFill>
                  <a:srgbClr val="EEEEEE"/>
                </a:solidFill>
                <a:latin typeface="Menlo"/>
              </a:rPr>
              <a:t>    p_right = sigmoid(w @ x - b)</a:t>
            </a:r>
          </a:p>
          <a:p>
            <a:pPr algn="l">
              <a:lnSpc>
                <a:spcPct val="120000"/>
              </a:lnSpc>
            </a:pPr>
            <a:r>
              <a:rPr sz="1600">
                <a:solidFill>
                  <a:srgbClr val="EEEEEE"/>
                </a:solidFill>
                <a:latin typeface="Menlo"/>
              </a:rPr>
              <a:t>    return p_right       # ∈ [0, 1]</a:t>
            </a:r>
          </a:p>
        </p:txBody>
      </p:sp>
      <p:sp>
        <p:nvSpPr>
          <p:cNvPr id="4" name="TextBox 3"/>
          <p:cNvSpPr txBox="1"/>
          <p:nvPr/>
        </p:nvSpPr>
        <p:spPr>
          <a:xfrm>
            <a:off x="548640" y="4754880"/>
            <a:ext cx="10972800" cy="548640"/>
          </a:xfrm>
          <a:prstGeom prst="rect">
            <a:avLst/>
          </a:prstGeom>
          <a:noFill/>
        </p:spPr>
        <p:txBody>
          <a:bodyPr wrap="square" lIns="0" rIns="0" tIns="0" bIns="0" anchor="t">
            <a:spAutoFit/>
          </a:bodyPr>
          <a:lstStyle/>
          <a:p>
            <a:pPr algn="ctr"/>
            <a:r>
              <a:rPr sz="1800" b="0" i="0">
                <a:solidFill>
                  <a:srgbClr val="EEEEEE"/>
                </a:solidFill>
                <a:latin typeface="Helvetica Neue"/>
              </a:rPr>
              <a:t>Output: a probability of going right. Continuous. Gradient flows.</a:t>
            </a:r>
          </a:p>
        </p:txBody>
      </p:sp>
      <p:sp>
        <p:nvSpPr>
          <p:cNvPr id="5" name="TextBox 4"/>
          <p:cNvSpPr txBox="1"/>
          <p:nvPr/>
        </p:nvSpPr>
        <p:spPr>
          <a:xfrm>
            <a:off x="548640" y="5394960"/>
            <a:ext cx="10972800" cy="548640"/>
          </a:xfrm>
          <a:prstGeom prst="rect">
            <a:avLst/>
          </a:prstGeom>
          <a:noFill/>
        </p:spPr>
        <p:txBody>
          <a:bodyPr wrap="square" lIns="0" rIns="0" tIns="0" bIns="0" anchor="t">
            <a:spAutoFit/>
          </a:bodyPr>
          <a:lstStyle/>
          <a:p>
            <a:pPr algn="ctr"/>
            <a:r>
              <a:rPr sz="1500" b="0" i="1">
                <a:solidFill>
                  <a:srgbClr val="81C784"/>
                </a:solidFill>
                <a:latin typeface="Helvetica Neue"/>
              </a:rPr>
              <a:t>Train the entire tree end-to-end with backprop, like a small neural network.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731520"/>
            <a:ext cx="10972800" cy="914400"/>
          </a:xfrm>
          <a:prstGeom prst="rect">
            <a:avLst/>
          </a:prstGeom>
          <a:noFill/>
        </p:spPr>
        <p:txBody>
          <a:bodyPr wrap="square" lIns="0" rIns="0" tIns="0" bIns="0" anchor="t">
            <a:spAutoFit/>
          </a:bodyPr>
          <a:lstStyle/>
          <a:p>
            <a:pPr algn="l"/>
            <a:r>
              <a:rPr sz="4200" b="1" i="0">
                <a:solidFill>
                  <a:srgbClr val="4FC3F7"/>
                </a:solidFill>
                <a:latin typeface="Helvetica Neue"/>
              </a:rPr>
              <a:t>Soft Decision Tree</a:t>
            </a:r>
          </a:p>
        </p:txBody>
      </p:sp>
      <p:sp>
        <p:nvSpPr>
          <p:cNvPr id="3" name="Rectangle 2"/>
          <p:cNvSpPr/>
          <p:nvPr/>
        </p:nvSpPr>
        <p:spPr>
          <a:xfrm>
            <a:off x="1371600" y="2103120"/>
            <a:ext cx="9418320" cy="329184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400">
                <a:solidFill>
                  <a:srgbClr val="EEEEEE"/>
                </a:solidFill>
                <a:latin typeface="Menlo"/>
              </a:rPr>
              <a:t>             [ σ(w·x − b) → 0.82 right ]</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0.82             0.18</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 σ(w·x − b) → 0.30 ]   [ leaf: P(C, H, W) ]</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0.30      0.70</a:t>
            </a:r>
          </a:p>
          <a:p>
            <a:pPr algn="l">
              <a:lnSpc>
                <a:spcPct val="120000"/>
              </a:lnSpc>
            </a:pPr>
            <a:r>
              <a:rPr sz="1400">
                <a:solidFill>
                  <a:srgbClr val="EEEEEE"/>
                </a:solidFill>
                <a:latin typeface="Menlo"/>
              </a:rPr>
              <a:t>      /          \</a:t>
            </a:r>
          </a:p>
          <a:p>
            <a:pPr algn="l">
              <a:lnSpc>
                <a:spcPct val="120000"/>
              </a:lnSpc>
            </a:pPr>
            <a:r>
              <a:rPr sz="1400">
                <a:solidFill>
                  <a:srgbClr val="EEEEEE"/>
                </a:solidFill>
                <a:latin typeface="Menlo"/>
              </a:rPr>
              <a:t>  [ leaf ]    [ leaf ]</a:t>
            </a:r>
          </a:p>
        </p:txBody>
      </p:sp>
      <p:sp>
        <p:nvSpPr>
          <p:cNvPr id="4" name="TextBox 3"/>
          <p:cNvSpPr txBox="1"/>
          <p:nvPr/>
        </p:nvSpPr>
        <p:spPr>
          <a:xfrm>
            <a:off x="548640" y="5669280"/>
            <a:ext cx="10972800" cy="365760"/>
          </a:xfrm>
          <a:prstGeom prst="rect">
            <a:avLst/>
          </a:prstGeom>
          <a:noFill/>
        </p:spPr>
        <p:txBody>
          <a:bodyPr wrap="square" lIns="0" rIns="0" tIns="0" bIns="0" anchor="t">
            <a:spAutoFit/>
          </a:bodyPr>
          <a:lstStyle/>
          <a:p>
            <a:pPr algn="ctr"/>
            <a:r>
              <a:rPr sz="1600" b="0" i="0">
                <a:solidFill>
                  <a:srgbClr val="EEEEEE"/>
                </a:solidFill>
                <a:latin typeface="Helvetica Neue"/>
              </a:rPr>
              <a:t>Every leaf gets a weighted vote based on path probability.</a:t>
            </a:r>
          </a:p>
        </p:txBody>
      </p:sp>
      <p:sp>
        <p:nvSpPr>
          <p:cNvPr id="5" name="TextBox 4"/>
          <p:cNvSpPr txBox="1"/>
          <p:nvPr/>
        </p:nvSpPr>
        <p:spPr>
          <a:xfrm>
            <a:off x="548640" y="6126480"/>
            <a:ext cx="10972800" cy="365760"/>
          </a:xfrm>
          <a:prstGeom prst="rect">
            <a:avLst/>
          </a:prstGeom>
          <a:noFill/>
        </p:spPr>
        <p:txBody>
          <a:bodyPr wrap="square" lIns="0" rIns="0" tIns="0" bIns="0" anchor="t">
            <a:spAutoFit/>
          </a:bodyPr>
          <a:lstStyle/>
          <a:p>
            <a:pPr algn="ctr"/>
            <a:r>
              <a:rPr sz="1400" b="0" i="1">
                <a:solidFill>
                  <a:srgbClr val="BBBBBB"/>
                </a:solidFill>
                <a:latin typeface="Helvetica Neue"/>
              </a:rPr>
              <a:t>Final prediction = sum over all leaves.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WHY THIS IS A BIG DEAL</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4200" b="1" i="0">
                <a:solidFill>
                  <a:srgbClr val="4FC3F7"/>
                </a:solidFill>
                <a:latin typeface="Helvetica Neue"/>
              </a:rPr>
              <a:t>You get both</a:t>
            </a:r>
          </a:p>
        </p:txBody>
      </p:sp>
      <p:sp>
        <p:nvSpPr>
          <p:cNvPr id="4" name="Rectangle 3"/>
          <p:cNvSpPr/>
          <p:nvPr/>
        </p:nvSpPr>
        <p:spPr>
          <a:xfrm>
            <a:off x="914400" y="2468880"/>
            <a:ext cx="5029200" cy="2926080"/>
          </a:xfrm>
          <a:prstGeom prst="rect">
            <a:avLst/>
          </a:prstGeom>
          <a:solidFill>
            <a:srgbClr val="122A12"/>
          </a:solidFill>
          <a:ln w="2540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lIns="254000" tIns="203200"/>
          <a:lstStyle/>
          <a:p>
            <a:pPr algn="ctr">
              <a:spcAft>
                <a:spcPts val="1000"/>
              </a:spcAft>
            </a:pPr>
            <a:r>
              <a:rPr sz="2200" b="1">
                <a:solidFill>
                  <a:srgbClr val="81C784"/>
                </a:solidFill>
                <a:latin typeface="Helvetica Neue"/>
              </a:rPr>
              <a:t>From the tree</a:t>
            </a:r>
          </a:p>
          <a:p>
            <a:pPr>
              <a:spcAft>
                <a:spcPts val="600"/>
              </a:spcAft>
            </a:pPr>
            <a:r>
              <a:rPr sz="1400" b="0">
                <a:solidFill>
                  <a:srgbClr val="EEEEEE"/>
                </a:solidFill>
                <a:latin typeface="Helvetica Neue"/>
              </a:rPr>
              <a:t>• Path traceability</a:t>
            </a:r>
          </a:p>
          <a:p>
            <a:pPr>
              <a:spcAft>
                <a:spcPts val="600"/>
              </a:spcAft>
            </a:pPr>
            <a:r>
              <a:rPr sz="1400" b="0">
                <a:solidFill>
                  <a:srgbClr val="EEEEEE"/>
                </a:solidFill>
                <a:latin typeface="Helvetica Neue"/>
              </a:rPr>
              <a:t>• Per-feature thresholds</a:t>
            </a:r>
          </a:p>
          <a:p>
            <a:pPr>
              <a:spcAft>
                <a:spcPts val="600"/>
              </a:spcAft>
            </a:pPr>
            <a:r>
              <a:rPr sz="1400" b="0">
                <a:solidFill>
                  <a:srgbClr val="EEEEEE"/>
                </a:solidFill>
                <a:latin typeface="Helvetica Neue"/>
              </a:rPr>
              <a:t>• Human-readable rules</a:t>
            </a:r>
          </a:p>
        </p:txBody>
      </p:sp>
      <p:sp>
        <p:nvSpPr>
          <p:cNvPr id="5" name="Rectangle 4"/>
          <p:cNvSpPr/>
          <p:nvPr/>
        </p:nvSpPr>
        <p:spPr>
          <a:xfrm>
            <a:off x="6217920" y="2468880"/>
            <a:ext cx="5029200" cy="2926080"/>
          </a:xfrm>
          <a:prstGeom prst="rect">
            <a:avLst/>
          </a:prstGeom>
          <a:solidFill>
            <a:srgbClr val="121A2A"/>
          </a:solidFill>
          <a:ln w="25400">
            <a:solidFill>
              <a:srgbClr val="4FC3F7"/>
            </a:solidFill>
          </a:ln>
        </p:spPr>
        <p:style>
          <a:lnRef idx="1">
            <a:schemeClr val="accent1"/>
          </a:lnRef>
          <a:fillRef idx="3">
            <a:schemeClr val="accent1"/>
          </a:fillRef>
          <a:effectRef idx="2">
            <a:schemeClr val="accent1"/>
          </a:effectRef>
          <a:fontRef idx="minor">
            <a:schemeClr val="lt1"/>
          </a:fontRef>
        </p:style>
        <p:txBody>
          <a:bodyPr rtlCol="0" anchor="ctr" lIns="254000" tIns="203200"/>
          <a:lstStyle/>
          <a:p>
            <a:pPr algn="ctr">
              <a:spcAft>
                <a:spcPts val="1000"/>
              </a:spcAft>
            </a:pPr>
            <a:r>
              <a:rPr sz="2200" b="1">
                <a:solidFill>
                  <a:srgbClr val="4FC3F7"/>
                </a:solidFill>
                <a:latin typeface="Helvetica Neue"/>
              </a:rPr>
              <a:t>From the network</a:t>
            </a:r>
          </a:p>
          <a:p>
            <a:pPr>
              <a:spcAft>
                <a:spcPts val="600"/>
              </a:spcAft>
            </a:pPr>
            <a:r>
              <a:rPr sz="1400" b="0">
                <a:solidFill>
                  <a:srgbClr val="EEEEEE"/>
                </a:solidFill>
                <a:latin typeface="Helvetica Neue"/>
              </a:rPr>
              <a:t>• End-to-end training</a:t>
            </a:r>
          </a:p>
          <a:p>
            <a:pPr>
              <a:spcAft>
                <a:spcPts val="600"/>
              </a:spcAft>
            </a:pPr>
            <a:r>
              <a:rPr sz="1400" b="0">
                <a:solidFill>
                  <a:srgbClr val="EEEEEE"/>
                </a:solidFill>
                <a:latin typeface="Helvetica Neue"/>
              </a:rPr>
              <a:t>• Composable with other layers</a:t>
            </a:r>
          </a:p>
          <a:p>
            <a:pPr>
              <a:spcAft>
                <a:spcPts val="600"/>
              </a:spcAft>
            </a:pPr>
            <a:r>
              <a:rPr sz="1400" b="0">
                <a:solidFill>
                  <a:srgbClr val="EEEEEE"/>
                </a:solidFill>
                <a:latin typeface="Helvetica Neue"/>
              </a:rPr>
              <a:t>• Higher accuracy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WHY THIS MATTERS FOR SAFETY-CRITICAL AI</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800" b="1" i="0">
                <a:solidFill>
                  <a:srgbClr val="4FC3F7"/>
                </a:solidFill>
                <a:latin typeface="Helvetica Neue"/>
              </a:rPr>
              <a:t>Three properties</a:t>
            </a:r>
          </a:p>
        </p:txBody>
      </p:sp>
      <p:sp>
        <p:nvSpPr>
          <p:cNvPr id="4" name="TextBox 3"/>
          <p:cNvSpPr txBox="1"/>
          <p:nvPr/>
        </p:nvSpPr>
        <p:spPr>
          <a:xfrm>
            <a:off x="914400" y="2377440"/>
            <a:ext cx="10515600" cy="3657600"/>
          </a:xfrm>
          <a:prstGeom prst="rect">
            <a:avLst/>
          </a:prstGeom>
          <a:noFill/>
        </p:spPr>
        <p:txBody>
          <a:bodyPr wrap="none" lIns="0">
            <a:spAutoFit/>
          </a:bodyPr>
          <a:lstStyle/>
          <a:p>
            <a:pPr>
              <a:spcAft>
                <a:spcPts val="0"/>
              </a:spcAft>
            </a:pPr>
            <a:r>
              <a:rPr sz="2200" b="1">
                <a:solidFill>
                  <a:srgbClr val="4FC3F7"/>
                </a:solidFill>
                <a:latin typeface="Helvetica Neue"/>
              </a:rPr>
              <a:t>1. Explainability</a:t>
            </a:r>
          </a:p>
          <a:p>
            <a:pPr>
              <a:spcAft>
                <a:spcPts val="1200"/>
              </a:spcAft>
            </a:pPr>
            <a:r>
              <a:rPr sz="1400" b="0">
                <a:solidFill>
                  <a:srgbClr val="BBBBBB"/>
                </a:solidFill>
                <a:latin typeface="Helvetica Neue"/>
              </a:rPr>
              <a:t>Every prediction comes with the path that produced it.</a:t>
            </a:r>
          </a:p>
          <a:p>
            <a:pPr>
              <a:spcAft>
                <a:spcPts val="0"/>
              </a:spcAft>
            </a:pPr>
            <a:r>
              <a:rPr sz="2200" b="1">
                <a:solidFill>
                  <a:srgbClr val="4FC3F7"/>
                </a:solidFill>
                <a:latin typeface="Helvetica Neue"/>
              </a:rPr>
              <a:t>2. Noise robustness</a:t>
            </a:r>
          </a:p>
          <a:p>
            <a:pPr>
              <a:spcAft>
                <a:spcPts val="1200"/>
              </a:spcAft>
            </a:pPr>
            <a:r>
              <a:rPr sz="1400" b="0">
                <a:solidFill>
                  <a:srgbClr val="BBBBBB"/>
                </a:solidFill>
                <a:latin typeface="Helvetica Neue"/>
              </a:rPr>
              <a:t>Soft splits are less brittle to small sensor perturbations than hard splits.</a:t>
            </a:r>
          </a:p>
          <a:p>
            <a:pPr>
              <a:spcAft>
                <a:spcPts val="0"/>
              </a:spcAft>
            </a:pPr>
            <a:r>
              <a:rPr sz="2200" b="1">
                <a:solidFill>
                  <a:srgbClr val="4FC3F7"/>
                </a:solidFill>
                <a:latin typeface="Helvetica Neue"/>
              </a:rPr>
              <a:t>3. Sensor failure tolerance</a:t>
            </a:r>
          </a:p>
          <a:p>
            <a:pPr>
              <a:spcAft>
                <a:spcPts val="0"/>
              </a:spcAft>
            </a:pPr>
            <a:r>
              <a:rPr sz="1400" b="0">
                <a:solidFill>
                  <a:srgbClr val="BBBBBB"/>
                </a:solidFill>
                <a:latin typeface="Helvetica Neue"/>
              </a:rPr>
              <a:t>Channel-level dropout during training teaches the model to operate under partial sensor failure.</a:t>
            </a:r>
          </a:p>
        </p:txBody>
      </p:sp>
      <p:sp>
        <p:nvSpPr>
          <p:cNvPr id="5" name="TextBox 4"/>
          <p:cNvSpPr txBox="1"/>
          <p:nvPr/>
        </p:nvSpPr>
        <p:spPr>
          <a:xfrm>
            <a:off x="548640" y="6126480"/>
            <a:ext cx="10972800" cy="365760"/>
          </a:xfrm>
          <a:prstGeom prst="rect">
            <a:avLst/>
          </a:prstGeom>
          <a:noFill/>
        </p:spPr>
        <p:txBody>
          <a:bodyPr wrap="square" lIns="0" rIns="0" tIns="0" bIns="0" anchor="t">
            <a:spAutoFit/>
          </a:bodyPr>
          <a:lstStyle/>
          <a:p>
            <a:pPr algn="ctr"/>
            <a:r>
              <a:rPr sz="1400" b="0" i="1">
                <a:solidFill>
                  <a:srgbClr val="888888"/>
                </a:solidFill>
                <a:latin typeface="Helvetica Neue"/>
              </a:rPr>
              <a:t>You will see all three in the next 90 minutes.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FROM MY PAPER</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4200" b="1" i="0">
                <a:solidFill>
                  <a:srgbClr val="4FC3F7"/>
                </a:solidFill>
                <a:latin typeface="Helvetica Neue"/>
              </a:rPr>
              <a:t>The numbers</a:t>
            </a:r>
          </a:p>
        </p:txBody>
      </p:sp>
      <p:graphicFrame>
        <p:nvGraphicFramePr>
          <p:cNvPr id="4" name="Table 3"/>
          <p:cNvGraphicFramePr>
            <a:graphicFrameLocks noGrp="1"/>
          </p:cNvGraphicFramePr>
          <p:nvPr/>
        </p:nvGraphicFramePr>
        <p:xfrm>
          <a:off x="1371600" y="2468880"/>
          <a:ext cx="9418320" cy="2377440"/>
        </p:xfrm>
        <a:graphic>
          <a:graphicData uri="http://schemas.openxmlformats.org/drawingml/2006/table">
            <a:tbl>
              <a:tblPr firstRow="1" bandRow="1">
                <a:tableStyleId>{5C22544A-7EE6-4342-B048-85BDC9FD1C3A}</a:tableStyleId>
              </a:tblPr>
              <a:tblGrid>
                <a:gridCol w="2743200"/>
                <a:gridCol w="1828800"/>
                <a:gridCol w="3017520"/>
                <a:gridCol w="1828800"/>
              </a:tblGrid>
              <a:tr h="594360">
                <a:tc>
                  <a:txBody>
                    <a:bodyPr/>
                    <a:lstStyle/>
                    <a:p>
                      <a:r>
                        <a:rPr sz="1400" b="1">
                          <a:solidFill>
                            <a:srgbClr val="4FC3F7"/>
                          </a:solidFill>
                          <a:latin typeface="Helvetica Neue"/>
                        </a:rPr>
                        <a:t>Model</a:t>
                      </a:r>
                    </a:p>
                  </a:txBody>
                  <a:tcPr>
                    <a:solidFill>
                      <a:srgbClr val="1A1A1A"/>
                    </a:solidFill>
                  </a:tcPr>
                </a:tc>
                <a:tc>
                  <a:txBody>
                    <a:bodyPr/>
                    <a:lstStyle/>
                    <a:p>
                      <a:r>
                        <a:rPr sz="1400" b="1">
                          <a:solidFill>
                            <a:srgbClr val="4FC3F7"/>
                          </a:solidFill>
                          <a:latin typeface="Helvetica Neue"/>
                        </a:rPr>
                        <a:t>Clean RMSE</a:t>
                      </a:r>
                    </a:p>
                  </a:txBody>
                  <a:tcPr>
                    <a:solidFill>
                      <a:srgbClr val="1A1A1A"/>
                    </a:solidFill>
                  </a:tcPr>
                </a:tc>
                <a:tc>
                  <a:txBody>
                    <a:bodyPr/>
                    <a:lstStyle/>
                    <a:p>
                      <a:r>
                        <a:rPr sz="1400" b="1">
                          <a:solidFill>
                            <a:srgbClr val="4FC3F7"/>
                          </a:solidFill>
                          <a:latin typeface="Helvetica Neue"/>
                        </a:rPr>
                        <a:t>30% sensors missing</a:t>
                      </a:r>
                    </a:p>
                  </a:txBody>
                  <a:tcPr>
                    <a:solidFill>
                      <a:srgbClr val="1A1A1A"/>
                    </a:solidFill>
                  </a:tcPr>
                </a:tc>
                <a:tc>
                  <a:txBody>
                    <a:bodyPr/>
                    <a:lstStyle/>
                    <a:p>
                      <a:r>
                        <a:rPr sz="1400" b="1">
                          <a:solidFill>
                            <a:srgbClr val="4FC3F7"/>
                          </a:solidFill>
                          <a:latin typeface="Helvetica Neue"/>
                        </a:rPr>
                        <a:t>Explainable?</a:t>
                      </a:r>
                    </a:p>
                  </a:txBody>
                  <a:tcPr>
                    <a:solidFill>
                      <a:srgbClr val="1A1A1A"/>
                    </a:solidFill>
                  </a:tcPr>
                </a:tc>
              </a:tr>
              <a:tr h="594360">
                <a:tc>
                  <a:txBody>
                    <a:bodyPr/>
                    <a:lstStyle/>
                    <a:p>
                      <a:r>
                        <a:rPr sz="1500" b="0">
                          <a:solidFill>
                            <a:srgbClr val="EEEEEE"/>
                          </a:solidFill>
                          <a:latin typeface="Helvetica Neue"/>
                        </a:rPr>
                        <a:t>LSTM</a:t>
                      </a:r>
                    </a:p>
                  </a:txBody>
                  <a:tcPr>
                    <a:solidFill>
                      <a:srgbClr val="0A0A0A"/>
                    </a:solidFill>
                  </a:tcPr>
                </a:tc>
                <a:tc>
                  <a:txBody>
                    <a:bodyPr/>
                    <a:lstStyle/>
                    <a:p>
                      <a:r>
                        <a:rPr sz="1500" b="0">
                          <a:solidFill>
                            <a:srgbClr val="EEEEEE"/>
                          </a:solidFill>
                          <a:latin typeface="Helvetica Neue"/>
                        </a:rPr>
                        <a:t>15.49</a:t>
                      </a:r>
                    </a:p>
                  </a:txBody>
                  <a:tcPr>
                    <a:solidFill>
                      <a:srgbClr val="0A0A0A"/>
                    </a:solidFill>
                  </a:tcPr>
                </a:tc>
                <a:tc>
                  <a:txBody>
                    <a:bodyPr/>
                    <a:lstStyle/>
                    <a:p>
                      <a:r>
                        <a:rPr sz="1500" b="0">
                          <a:solidFill>
                            <a:srgbClr val="FFB74D"/>
                          </a:solidFill>
                          <a:latin typeface="Helvetica Neue"/>
                        </a:rPr>
                        <a:t>+89% degradation</a:t>
                      </a:r>
                    </a:p>
                  </a:txBody>
                  <a:tcPr>
                    <a:solidFill>
                      <a:srgbClr val="0A0A0A"/>
                    </a:solidFill>
                  </a:tcPr>
                </a:tc>
                <a:tc>
                  <a:txBody>
                    <a:bodyPr/>
                    <a:lstStyle/>
                    <a:p>
                      <a:r>
                        <a:rPr sz="1500" b="0">
                          <a:solidFill>
                            <a:srgbClr val="EEEEEE"/>
                          </a:solidFill>
                          <a:latin typeface="Helvetica Neue"/>
                        </a:rPr>
                        <a:t>✗</a:t>
                      </a:r>
                    </a:p>
                  </a:txBody>
                  <a:tcPr>
                    <a:solidFill>
                      <a:srgbClr val="0A0A0A"/>
                    </a:solidFill>
                  </a:tcPr>
                </a:tc>
              </a:tr>
              <a:tr h="594360">
                <a:tc>
                  <a:txBody>
                    <a:bodyPr/>
                    <a:lstStyle/>
                    <a:p>
                      <a:r>
                        <a:rPr sz="1500" b="0">
                          <a:solidFill>
                            <a:srgbClr val="EEEEEE"/>
                          </a:solidFill>
                          <a:latin typeface="Helvetica Neue"/>
                        </a:rPr>
                        <a:t>Random Forest</a:t>
                      </a:r>
                    </a:p>
                  </a:txBody>
                  <a:tcPr>
                    <a:solidFill>
                      <a:srgbClr val="0A0A0A"/>
                    </a:solidFill>
                  </a:tcPr>
                </a:tc>
                <a:tc>
                  <a:txBody>
                    <a:bodyPr/>
                    <a:lstStyle/>
                    <a:p>
                      <a:r>
                        <a:rPr sz="1500" b="0">
                          <a:solidFill>
                            <a:srgbClr val="EEEEEE"/>
                          </a:solidFill>
                          <a:latin typeface="Helvetica Neue"/>
                        </a:rPr>
                        <a:t>18.07</a:t>
                      </a:r>
                    </a:p>
                  </a:txBody>
                  <a:tcPr>
                    <a:solidFill>
                      <a:srgbClr val="0A0A0A"/>
                    </a:solidFill>
                  </a:tcPr>
                </a:tc>
                <a:tc>
                  <a:txBody>
                    <a:bodyPr/>
                    <a:lstStyle/>
                    <a:p>
                      <a:r>
                        <a:rPr sz="1500" b="0">
                          <a:solidFill>
                            <a:srgbClr val="EEEEEE"/>
                          </a:solidFill>
                          <a:latin typeface="Helvetica Neue"/>
                        </a:rPr>
                        <a:t>n/a</a:t>
                      </a:r>
                    </a:p>
                  </a:txBody>
                  <a:tcPr>
                    <a:solidFill>
                      <a:srgbClr val="0A0A0A"/>
                    </a:solidFill>
                  </a:tcPr>
                </a:tc>
                <a:tc>
                  <a:txBody>
                    <a:bodyPr/>
                    <a:lstStyle/>
                    <a:p>
                      <a:r>
                        <a:rPr sz="1500" b="0">
                          <a:solidFill>
                            <a:srgbClr val="EEEEEE"/>
                          </a:solidFill>
                          <a:latin typeface="Helvetica Neue"/>
                        </a:rPr>
                        <a:t>partial</a:t>
                      </a:r>
                    </a:p>
                  </a:txBody>
                  <a:tcPr>
                    <a:solidFill>
                      <a:srgbClr val="0A0A0A"/>
                    </a:solidFill>
                  </a:tcPr>
                </a:tc>
              </a:tr>
              <a:tr h="594360">
                <a:tc>
                  <a:txBody>
                    <a:bodyPr/>
                    <a:lstStyle/>
                    <a:p>
                      <a:r>
                        <a:rPr sz="1500" b="1">
                          <a:solidFill>
                            <a:srgbClr val="81C784"/>
                          </a:solidFill>
                          <a:latin typeface="Helvetica Neue"/>
                        </a:rPr>
                        <a:t>Temporal Neural Tree</a:t>
                      </a:r>
                    </a:p>
                  </a:txBody>
                  <a:tcPr>
                    <a:solidFill>
                      <a:srgbClr val="102010"/>
                    </a:solidFill>
                  </a:tcPr>
                </a:tc>
                <a:tc>
                  <a:txBody>
                    <a:bodyPr/>
                    <a:lstStyle/>
                    <a:p>
                      <a:r>
                        <a:rPr sz="1500" b="1">
                          <a:solidFill>
                            <a:srgbClr val="81C784"/>
                          </a:solidFill>
                          <a:latin typeface="Helvetica Neue"/>
                        </a:rPr>
                        <a:t>15.78</a:t>
                      </a:r>
                    </a:p>
                  </a:txBody>
                  <a:tcPr>
                    <a:solidFill>
                      <a:srgbClr val="102010"/>
                    </a:solidFill>
                  </a:tcPr>
                </a:tc>
                <a:tc>
                  <a:txBody>
                    <a:bodyPr/>
                    <a:lstStyle/>
                    <a:p>
                      <a:r>
                        <a:rPr sz="1500" b="1">
                          <a:solidFill>
                            <a:srgbClr val="81C784"/>
                          </a:solidFill>
                          <a:latin typeface="Helvetica Neue"/>
                        </a:rPr>
                        <a:t>+17% degradation</a:t>
                      </a:r>
                    </a:p>
                  </a:txBody>
                  <a:tcPr>
                    <a:solidFill>
                      <a:srgbClr val="102010"/>
                    </a:solidFill>
                  </a:tcPr>
                </a:tc>
                <a:tc>
                  <a:txBody>
                    <a:bodyPr/>
                    <a:lstStyle/>
                    <a:p>
                      <a:r>
                        <a:rPr sz="1500" b="1">
                          <a:solidFill>
                            <a:srgbClr val="81C784"/>
                          </a:solidFill>
                          <a:latin typeface="Helvetica Neue"/>
                        </a:rPr>
                        <a:t>✓</a:t>
                      </a:r>
                    </a:p>
                  </a:txBody>
                  <a:tcPr>
                    <a:solidFill>
                      <a:srgbClr val="102010"/>
                    </a:solidFill>
                  </a:tcPr>
                </a:tc>
              </a:tr>
            </a:tbl>
          </a:graphicData>
        </a:graphic>
      </p:graphicFrame>
      <p:sp>
        <p:nvSpPr>
          <p:cNvPr id="5" name="TextBox 4"/>
          <p:cNvSpPr txBox="1"/>
          <p:nvPr/>
        </p:nvSpPr>
        <p:spPr>
          <a:xfrm>
            <a:off x="548640" y="5303520"/>
            <a:ext cx="10972800" cy="731520"/>
          </a:xfrm>
          <a:prstGeom prst="rect">
            <a:avLst/>
          </a:prstGeom>
          <a:noFill/>
        </p:spPr>
        <p:txBody>
          <a:bodyPr wrap="square" lIns="0" rIns="0" tIns="0" bIns="0" anchor="t">
            <a:spAutoFit/>
          </a:bodyPr>
          <a:lstStyle/>
          <a:p>
            <a:pPr algn="ctr"/>
            <a:r>
              <a:rPr sz="1800" b="1" i="0">
                <a:solidFill>
                  <a:srgbClr val="4FC3F7"/>
                </a:solidFill>
                <a:latin typeface="Helvetica Neue"/>
              </a:rPr>
              <a:t>Within 0.3 RMSE of LSTM on clean data. 5x more robust under sensor failure.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THE TOOL YOU'LL USE</a:t>
            </a:r>
          </a:p>
        </p:txBody>
      </p:sp>
      <p:sp>
        <p:nvSpPr>
          <p:cNvPr id="3" name="TextBox 2"/>
          <p:cNvSpPr txBox="1"/>
          <p:nvPr/>
        </p:nvSpPr>
        <p:spPr>
          <a:xfrm>
            <a:off x="548640" y="1188720"/>
            <a:ext cx="10972800" cy="1097280"/>
          </a:xfrm>
          <a:prstGeom prst="rect">
            <a:avLst/>
          </a:prstGeom>
          <a:noFill/>
        </p:spPr>
        <p:txBody>
          <a:bodyPr wrap="square" lIns="0" rIns="0" tIns="0" bIns="0" anchor="t">
            <a:spAutoFit/>
          </a:bodyPr>
          <a:lstStyle/>
          <a:p>
            <a:pPr algn="l"/>
            <a:r>
              <a:rPr sz="5600" b="1" i="0">
                <a:solidFill>
                  <a:srgbClr val="4FC3F7"/>
                </a:solidFill>
                <a:latin typeface="Helvetica Neue"/>
              </a:rPr>
              <a:t>neural-trees</a:t>
            </a:r>
          </a:p>
        </p:txBody>
      </p:sp>
      <p:sp>
        <p:nvSpPr>
          <p:cNvPr id="4" name="Rectangle 3"/>
          <p:cNvSpPr/>
          <p:nvPr/>
        </p:nvSpPr>
        <p:spPr>
          <a:xfrm>
            <a:off x="2743200" y="2743200"/>
            <a:ext cx="6675120" cy="64008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800">
                <a:solidFill>
                  <a:srgbClr val="EEEEEE"/>
                </a:solidFill>
                <a:latin typeface="Menlo"/>
              </a:rPr>
              <a:t>pip install neural-trees</a:t>
            </a:r>
          </a:p>
        </p:txBody>
      </p:sp>
      <p:sp>
        <p:nvSpPr>
          <p:cNvPr id="5" name="TextBox 4"/>
          <p:cNvSpPr txBox="1"/>
          <p:nvPr/>
        </p:nvSpPr>
        <p:spPr>
          <a:xfrm>
            <a:off x="1828800" y="3840480"/>
            <a:ext cx="9144000" cy="2286000"/>
          </a:xfrm>
          <a:prstGeom prst="rect">
            <a:avLst/>
          </a:prstGeom>
          <a:noFill/>
        </p:spPr>
        <p:txBody>
          <a:bodyPr wrap="square" lIns="0" rIns="0" tIns="0" bIns="0" anchor="t">
            <a:spAutoFit/>
          </a:bodyPr>
          <a:lstStyle/>
          <a:p>
            <a:pPr algn="l">
              <a:lnSpc>
                <a:spcPct val="120000"/>
              </a:lnSpc>
              <a:spcAft>
                <a:spcPts val="600"/>
              </a:spcAft>
            </a:pPr>
            <a:r>
              <a:rPr sz="1600" b="0" i="0">
                <a:solidFill>
                  <a:srgbClr val="EEEEEE"/>
                </a:solidFill>
                <a:latin typeface="Helvetica Neue"/>
              </a:rPr>
              <a:t>• Open source, MIT licensed</a:t>
            </a:r>
          </a:p>
          <a:p>
            <a:pPr algn="l">
              <a:lnSpc>
                <a:spcPct val="120000"/>
              </a:lnSpc>
              <a:spcAft>
                <a:spcPts val="600"/>
              </a:spcAft>
            </a:pPr>
            <a:r>
              <a:rPr sz="1600" b="0" i="0">
                <a:solidFill>
                  <a:srgbClr val="EEEEEE"/>
                </a:solidFill>
                <a:latin typeface="Helvetica Neue"/>
              </a:rPr>
              <a:t>• scikit-learn compatible API</a:t>
            </a:r>
          </a:p>
          <a:p>
            <a:pPr algn="l">
              <a:lnSpc>
                <a:spcPct val="120000"/>
              </a:lnSpc>
              <a:spcAft>
                <a:spcPts val="600"/>
              </a:spcAft>
            </a:pPr>
            <a:r>
              <a:rPr sz="1600" b="0" i="0">
                <a:solidFill>
                  <a:srgbClr val="EEEEEE"/>
                </a:solidFill>
                <a:latin typeface="Helvetica Neue"/>
              </a:rPr>
              <a:t>• PyTorch backend</a:t>
            </a:r>
          </a:p>
          <a:p>
            <a:pPr algn="l">
              <a:lnSpc>
                <a:spcPct val="120000"/>
              </a:lnSpc>
              <a:spcAft>
                <a:spcPts val="600"/>
              </a:spcAft>
            </a:pPr>
            <a:r>
              <a:rPr sz="1600" b="0" i="0">
                <a:solidFill>
                  <a:srgbClr val="EEEEEE"/>
                </a:solidFill>
                <a:latin typeface="Helvetica Neue"/>
              </a:rPr>
              <a:t>• Soft Decision Trees, Hierarchical Mixture of Experts, statistical model comparison</a:t>
            </a:r>
          </a:p>
        </p:txBody>
      </p:sp>
      <p:sp>
        <p:nvSpPr>
          <p:cNvPr id="6" name="TextBox 5"/>
          <p:cNvSpPr txBox="1"/>
          <p:nvPr/>
        </p:nvSpPr>
        <p:spPr>
          <a:xfrm>
            <a:off x="548640" y="6217920"/>
            <a:ext cx="10972800" cy="365760"/>
          </a:xfrm>
          <a:prstGeom prst="rect">
            <a:avLst/>
          </a:prstGeom>
          <a:noFill/>
        </p:spPr>
        <p:txBody>
          <a:bodyPr wrap="square" lIns="0" rIns="0" tIns="0" bIns="0" anchor="t">
            <a:spAutoFit/>
          </a:bodyPr>
          <a:lstStyle/>
          <a:p>
            <a:pPr algn="ctr"/>
            <a:r>
              <a:rPr sz="1200" b="0" i="0">
                <a:solidFill>
                  <a:srgbClr val="888888"/>
                </a:solidFill>
                <a:latin typeface="Helvetica Neue"/>
              </a:rPr>
              <a:t>github.com/cgrtml/neural-trees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A2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ACTIVITY 1 · 55 MIN</a:t>
            </a:r>
          </a:p>
        </p:txBody>
      </p:sp>
      <p:sp>
        <p:nvSpPr>
          <p:cNvPr id="3" name="TextBox 2"/>
          <p:cNvSpPr txBox="1"/>
          <p:nvPr/>
        </p:nvSpPr>
        <p:spPr>
          <a:xfrm>
            <a:off x="548640" y="1828800"/>
            <a:ext cx="10972800" cy="1371600"/>
          </a:xfrm>
          <a:prstGeom prst="rect">
            <a:avLst/>
          </a:prstGeom>
          <a:noFill/>
        </p:spPr>
        <p:txBody>
          <a:bodyPr wrap="square" lIns="0" rIns="0" tIns="0" bIns="0" anchor="t">
            <a:spAutoFit/>
          </a:bodyPr>
          <a:lstStyle/>
          <a:p>
            <a:pPr algn="ctr"/>
            <a:r>
              <a:rPr sz="5400" b="1" i="0">
                <a:solidFill>
                  <a:srgbClr val="EEEEEE"/>
                </a:solidFill>
                <a:latin typeface="Helvetica Neue"/>
              </a:rPr>
              <a:t>Train Your Own Neural Tree</a:t>
            </a:r>
          </a:p>
        </p:txBody>
      </p:sp>
      <p:sp>
        <p:nvSpPr>
          <p:cNvPr id="4" name="TextBox 3"/>
          <p:cNvSpPr txBox="1"/>
          <p:nvPr/>
        </p:nvSpPr>
        <p:spPr>
          <a:xfrm>
            <a:off x="548640" y="4114800"/>
            <a:ext cx="10972800" cy="640080"/>
          </a:xfrm>
          <a:prstGeom prst="rect">
            <a:avLst/>
          </a:prstGeom>
          <a:noFill/>
        </p:spPr>
        <p:txBody>
          <a:bodyPr wrap="square" lIns="0" rIns="0" tIns="0" bIns="0" anchor="t">
            <a:spAutoFit/>
          </a:bodyPr>
          <a:lstStyle/>
          <a:p>
            <a:pPr algn="ctr"/>
            <a:r>
              <a:rPr sz="2200" b="0" i="0">
                <a:solidFill>
                  <a:srgbClr val="4FC3F7"/>
                </a:solidFill>
                <a:latin typeface="Helvetica Neue"/>
              </a:rPr>
              <a:t>Open the QR code on the next slide.</a:t>
            </a:r>
          </a:p>
        </p:txBody>
      </p:sp>
      <p:sp>
        <p:nvSpPr>
          <p:cNvPr id="5" name="TextBox 4"/>
          <p:cNvSpPr txBox="1"/>
          <p:nvPr/>
        </p:nvSpPr>
        <p:spPr>
          <a:xfrm>
            <a:off x="548640" y="4937760"/>
            <a:ext cx="10972800" cy="548640"/>
          </a:xfrm>
          <a:prstGeom prst="rect">
            <a:avLst/>
          </a:prstGeom>
          <a:noFill/>
        </p:spPr>
        <p:txBody>
          <a:bodyPr wrap="square" lIns="0" rIns="0" tIns="0" bIns="0" anchor="t">
            <a:spAutoFit/>
          </a:bodyPr>
          <a:lstStyle/>
          <a:p>
            <a:pPr algn="ctr"/>
            <a:r>
              <a:rPr sz="1800" b="0" i="1">
                <a:solidFill>
                  <a:srgbClr val="BBBBBB"/>
                </a:solidFill>
                <a:latin typeface="Helvetica Neue"/>
              </a:rPr>
              <a:t>No installs. Just Gmail and a browser.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548640"/>
            <a:ext cx="10972800" cy="731520"/>
          </a:xfrm>
          <a:prstGeom prst="rect">
            <a:avLst/>
          </a:prstGeom>
          <a:noFill/>
        </p:spPr>
        <p:txBody>
          <a:bodyPr wrap="square" lIns="0" rIns="0" tIns="0" bIns="0" anchor="t">
            <a:spAutoFit/>
          </a:bodyPr>
          <a:lstStyle/>
          <a:p>
            <a:pPr algn="ctr"/>
            <a:r>
              <a:rPr sz="3600" b="1" i="0">
                <a:solidFill>
                  <a:srgbClr val="0A0A0A"/>
                </a:solidFill>
                <a:latin typeface="Helvetica Neue"/>
              </a:rPr>
              <a:t>Scan to start</a:t>
            </a:r>
          </a:p>
        </p:txBody>
      </p:sp>
      <p:pic>
        <p:nvPicPr>
          <p:cNvPr id="3" name="Picture 2" descr="qr_landing.png"/>
          <p:cNvPicPr>
            <a:picLocks noChangeAspect="1"/>
          </p:cNvPicPr>
          <p:nvPr/>
        </p:nvPicPr>
        <p:blipFill>
          <a:blip r:embed="rId2"/>
          <a:stretch>
            <a:fillRect/>
          </a:stretch>
        </p:blipFill>
        <p:spPr>
          <a:xfrm>
            <a:off x="4572000" y="1463040"/>
            <a:ext cx="3200400" cy="3200400"/>
          </a:xfrm>
          <a:prstGeom prst="rect">
            <a:avLst/>
          </a:prstGeom>
        </p:spPr>
      </p:pic>
      <p:sp>
        <p:nvSpPr>
          <p:cNvPr id="4" name="TextBox 3"/>
          <p:cNvSpPr txBox="1"/>
          <p:nvPr/>
        </p:nvSpPr>
        <p:spPr>
          <a:xfrm>
            <a:off x="548640" y="4937760"/>
            <a:ext cx="10972800" cy="457200"/>
          </a:xfrm>
          <a:prstGeom prst="rect">
            <a:avLst/>
          </a:prstGeom>
          <a:noFill/>
        </p:spPr>
        <p:txBody>
          <a:bodyPr wrap="square" lIns="0" rIns="0" tIns="0" bIns="0" anchor="t">
            <a:spAutoFit/>
          </a:bodyPr>
          <a:lstStyle/>
          <a:p>
            <a:pPr algn="ctr"/>
            <a:r>
              <a:rPr sz="1800" b="1" i="0">
                <a:solidFill>
                  <a:srgbClr val="0A0A0A"/>
                </a:solidFill>
                <a:latin typeface="Helvetica Neue"/>
              </a:rPr>
              <a:t>github.com/cgrtml/wsu-workshop-may15</a:t>
            </a:r>
          </a:p>
        </p:txBody>
      </p:sp>
      <p:sp>
        <p:nvSpPr>
          <p:cNvPr id="5" name="TextBox 4"/>
          <p:cNvSpPr txBox="1"/>
          <p:nvPr/>
        </p:nvSpPr>
        <p:spPr>
          <a:xfrm>
            <a:off x="548640" y="5669280"/>
            <a:ext cx="10972800" cy="457200"/>
          </a:xfrm>
          <a:prstGeom prst="rect">
            <a:avLst/>
          </a:prstGeom>
          <a:noFill/>
        </p:spPr>
        <p:txBody>
          <a:bodyPr wrap="square" lIns="0" rIns="0" tIns="0" bIns="0" anchor="t">
            <a:spAutoFit/>
          </a:bodyPr>
          <a:lstStyle/>
          <a:p>
            <a:pPr algn="ctr"/>
            <a:r>
              <a:rPr sz="1400" b="0" i="0">
                <a:solidFill>
                  <a:srgbClr val="888888"/>
                </a:solidFill>
                <a:latin typeface="Helvetica Neue"/>
              </a:rPr>
              <a:t>1. Scan with phone camera → 2. Tap "Activity 1" → 3. Sign in with Gmail → 4. "Copy to Drive"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822960"/>
          </a:xfrm>
          <a:prstGeom prst="rect">
            <a:avLst/>
          </a:prstGeom>
          <a:noFill/>
        </p:spPr>
        <p:txBody>
          <a:bodyPr wrap="square" lIns="0" rIns="0" tIns="0" bIns="0" anchor="t">
            <a:spAutoFit/>
          </a:bodyPr>
          <a:lstStyle/>
          <a:p>
            <a:pPr algn="l"/>
            <a:r>
              <a:rPr sz="3600" b="1" i="0">
                <a:solidFill>
                  <a:srgbClr val="4FC3F7"/>
                </a:solidFill>
                <a:latin typeface="Helvetica Neue"/>
              </a:rPr>
              <a:t>Activity 1: what you will do</a:t>
            </a:r>
          </a:p>
        </p:txBody>
      </p:sp>
      <p:sp>
        <p:nvSpPr>
          <p:cNvPr id="3" name="TextBox 2"/>
          <p:cNvSpPr txBox="1"/>
          <p:nvPr/>
        </p:nvSpPr>
        <p:spPr>
          <a:xfrm>
            <a:off x="731520" y="1645920"/>
            <a:ext cx="10972800" cy="5029200"/>
          </a:xfrm>
          <a:prstGeom prst="rect">
            <a:avLst/>
          </a:prstGeom>
          <a:noFill/>
        </p:spPr>
        <p:txBody>
          <a:bodyPr wrap="square" lIns="0" rIns="0" tIns="0" bIns="0" anchor="t">
            <a:spAutoFit/>
          </a:bodyPr>
          <a:lstStyle/>
          <a:p>
            <a:pPr algn="l">
              <a:lnSpc>
                <a:spcPct val="120000"/>
              </a:lnSpc>
              <a:spcAft>
                <a:spcPts val="800"/>
              </a:spcAft>
            </a:pPr>
            <a:r>
              <a:rPr sz="1700" b="1" i="0">
                <a:solidFill>
                  <a:srgbClr val="EEEEEE"/>
                </a:solidFill>
                <a:latin typeface="Helvetica Neue"/>
              </a:rPr>
              <a:t>1. Load &amp; explore CMAPSS FD001 (10 min)</a:t>
            </a:r>
          </a:p>
          <a:p>
            <a:pPr algn="l">
              <a:lnSpc>
                <a:spcPct val="120000"/>
              </a:lnSpc>
              <a:spcAft>
                <a:spcPts val="1600"/>
              </a:spcAft>
            </a:pPr>
            <a:r>
              <a:rPr sz="1300" b="0" i="1">
                <a:solidFill>
                  <a:srgbClr val="BBBBBB"/>
                </a:solidFill>
                <a:latin typeface="Helvetica Neue"/>
              </a:rPr>
              <a:t>Plot a few engines. Find which sensors degrade.</a:t>
            </a:r>
          </a:p>
          <a:p>
            <a:pPr algn="l">
              <a:lnSpc>
                <a:spcPct val="120000"/>
              </a:lnSpc>
              <a:spcAft>
                <a:spcPts val="800"/>
              </a:spcAft>
            </a:pPr>
            <a:r>
              <a:rPr sz="1700" b="1" i="0">
                <a:solidFill>
                  <a:srgbClr val="EEEEEE"/>
                </a:solidFill>
                <a:latin typeface="Helvetica Neue"/>
              </a:rPr>
              <a:t>2. Bin RUL into 3 classes (5 min)</a:t>
            </a:r>
          </a:p>
          <a:p>
            <a:pPr algn="l">
              <a:lnSpc>
                <a:spcPct val="120000"/>
              </a:lnSpc>
              <a:spcAft>
                <a:spcPts val="1600"/>
              </a:spcAft>
            </a:pPr>
            <a:r>
              <a:rPr sz="1300" b="0" i="1">
                <a:solidFill>
                  <a:srgbClr val="BBBBBB"/>
                </a:solidFill>
                <a:latin typeface="Helvetica Neue"/>
              </a:rPr>
              <a:t>Critical · Caution · Healthy</a:t>
            </a:r>
          </a:p>
          <a:p>
            <a:pPr algn="l">
              <a:lnSpc>
                <a:spcPct val="120000"/>
              </a:lnSpc>
              <a:spcAft>
                <a:spcPts val="800"/>
              </a:spcAft>
            </a:pPr>
            <a:r>
              <a:rPr sz="1700" b="1" i="0">
                <a:solidFill>
                  <a:srgbClr val="EEEEEE"/>
                </a:solidFill>
                <a:latin typeface="Helvetica Neue"/>
              </a:rPr>
              <a:t>3. Train a SoftDecisionTree (15 min)</a:t>
            </a:r>
          </a:p>
          <a:p>
            <a:pPr algn="l">
              <a:lnSpc>
                <a:spcPct val="120000"/>
              </a:lnSpc>
              <a:spcAft>
                <a:spcPts val="1600"/>
              </a:spcAft>
            </a:pPr>
            <a:r>
              <a:rPr sz="1300" b="0" i="1">
                <a:solidFill>
                  <a:srgbClr val="BBBBBB"/>
                </a:solidFill>
                <a:latin typeface="Helvetica Neue"/>
              </a:rPr>
              <a:t>depth=4, max_epochs=30, runs on CPU</a:t>
            </a:r>
          </a:p>
          <a:p>
            <a:pPr algn="l">
              <a:lnSpc>
                <a:spcPct val="120000"/>
              </a:lnSpc>
              <a:spcAft>
                <a:spcPts val="1600"/>
              </a:spcAft>
            </a:pPr>
            <a:r>
              <a:rPr sz="1700" b="1" i="0">
                <a:solidFill>
                  <a:srgbClr val="EEEEEE"/>
                </a:solidFill>
                <a:latin typeface="Helvetica Neue"/>
              </a:rPr>
              <a:t>4. Evaluate accuracy &amp; confusion matrix (5 min)</a:t>
            </a:r>
          </a:p>
          <a:p>
            <a:pPr algn="l">
              <a:lnSpc>
                <a:spcPct val="120000"/>
              </a:lnSpc>
              <a:spcAft>
                <a:spcPts val="800"/>
              </a:spcAft>
            </a:pPr>
            <a:r>
              <a:rPr sz="1700" b="1" i="0">
                <a:solidFill>
                  <a:srgbClr val="4FC3F7"/>
                </a:solidFill>
                <a:latin typeface="Helvetica Neue"/>
              </a:rPr>
              <a:t>5. Traverse a prediction (15 min)</a:t>
            </a:r>
          </a:p>
          <a:p>
            <a:pPr algn="l">
              <a:lnSpc>
                <a:spcPct val="120000"/>
              </a:lnSpc>
              <a:spcAft>
                <a:spcPts val="0"/>
              </a:spcAft>
            </a:pPr>
            <a:r>
              <a:rPr sz="1300" b="0" i="1">
                <a:solidFill>
                  <a:srgbClr val="4FC3F7"/>
                </a:solidFill>
                <a:latin typeface="Helvetica Neue"/>
              </a:rPr>
              <a:t>This is the heart of the workshop.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1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Imports</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import numpy as np</a:t>
            </a:r>
          </a:p>
          <a:p>
            <a:pPr algn="l">
              <a:lnSpc>
                <a:spcPct val="120000"/>
              </a:lnSpc>
            </a:pPr>
            <a:r>
              <a:rPr sz="1100">
                <a:solidFill>
                  <a:srgbClr val="EEEEEE"/>
                </a:solidFill>
                <a:latin typeface="Menlo"/>
              </a:rPr>
              <a:t>import pandas as pd</a:t>
            </a:r>
          </a:p>
          <a:p>
            <a:pPr algn="l">
              <a:lnSpc>
                <a:spcPct val="120000"/>
              </a:lnSpc>
            </a:pPr>
            <a:r>
              <a:rPr sz="1100">
                <a:solidFill>
                  <a:srgbClr val="EEEEEE"/>
                </a:solidFill>
                <a:latin typeface="Menlo"/>
              </a:rPr>
              <a:t>import matplotlib.pyplot as plt</a:t>
            </a:r>
          </a:p>
          <a:p>
            <a:pPr algn="l">
              <a:lnSpc>
                <a:spcPct val="120000"/>
              </a:lnSpc>
            </a:pPr>
            <a:r>
              <a:rPr sz="1100">
                <a:solidFill>
                  <a:srgbClr val="EEEEEE"/>
                </a:solidFill>
                <a:latin typeface="Menlo"/>
              </a:rPr>
              <a:t>import seaborn as sns</a:t>
            </a:r>
          </a:p>
          <a:p>
            <a:pPr algn="l">
              <a:lnSpc>
                <a:spcPct val="120000"/>
              </a:lnSpc>
            </a:pPr>
            <a:r>
              <a:rPr sz="1100">
                <a:solidFill>
                  <a:srgbClr val="EEEEEE"/>
                </a:solidFill>
                <a:latin typeface="Menlo"/>
              </a:rPr>
              <a:t>from sklearn.model_selection import train_test_split</a:t>
            </a:r>
          </a:p>
          <a:p>
            <a:pPr algn="l">
              <a:lnSpc>
                <a:spcPct val="120000"/>
              </a:lnSpc>
            </a:pPr>
            <a:r>
              <a:rPr sz="1100">
                <a:solidFill>
                  <a:srgbClr val="EEEEEE"/>
                </a:solidFill>
                <a:latin typeface="Menlo"/>
              </a:rPr>
              <a:t>from sklearn.preprocessing import StandardScaler</a:t>
            </a:r>
          </a:p>
          <a:p>
            <a:pPr algn="l">
              <a:lnSpc>
                <a:spcPct val="120000"/>
              </a:lnSpc>
            </a:pPr>
            <a:r>
              <a:rPr sz="1100">
                <a:solidFill>
                  <a:srgbClr val="EEEEEE"/>
                </a:solidFill>
                <a:latin typeface="Menlo"/>
              </a:rPr>
              <a:t>from sklearn.metrics import classification_report, confusion_matrix</a:t>
            </a:r>
          </a:p>
          <a:p>
            <a:pPr algn="l">
              <a:lnSpc>
                <a:spcPct val="120000"/>
              </a:lnSpc>
            </a:pPr>
            <a:r>
              <a:rPr sz="1100">
                <a:solidFill>
                  <a:srgbClr val="EEEEEE"/>
                </a:solidFill>
                <a:latin typeface="Menlo"/>
              </a:rPr>
              <a:t>from neural_trees import SoftDecisionTree</a:t>
            </a:r>
          </a:p>
          <a:p>
            <a:pPr algn="l">
              <a:lnSpc>
                <a:spcPct val="120000"/>
              </a:lnSpc>
            </a:pPr>
            <a:r>
              <a:rPr sz="1100">
                <a:solidFill>
                  <a:srgbClr val="EEEEEE"/>
                </a:solidFill>
                <a:latin typeface="Menlo"/>
              </a:rPr>
              <a:t>print('All set.')</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All set.</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If you see IndentationError, every line must start at the left edge.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2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Load the data</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cols = ['engine_id', 'cycle'] + [f'op{i}' for i in range(1, 4)] + [f's{i}' for i in range(1, 22)]</a:t>
            </a:r>
          </a:p>
          <a:p>
            <a:pPr algn="l">
              <a:lnSpc>
                <a:spcPct val="120000"/>
              </a:lnSpc>
            </a:pPr>
            <a:r>
              <a:rPr sz="1100">
                <a:solidFill>
                  <a:srgbClr val="EEEEEE"/>
                </a:solidFill>
                <a:latin typeface="Menlo"/>
              </a:rPr>
              <a:t>train = pd.read_csv('train_FD001.txt', sep=r'\s+', header=None, names=cols)</a:t>
            </a:r>
          </a:p>
          <a:p>
            <a:pPr algn="l">
              <a:lnSpc>
                <a:spcPct val="120000"/>
              </a:lnSpc>
            </a:pPr>
            <a:r>
              <a:rPr sz="1100">
                <a:solidFill>
                  <a:srgbClr val="EEEEEE"/>
                </a:solidFill>
                <a:latin typeface="Menlo"/>
              </a:rPr>
              <a:t>print(train.shape, '-&gt;', train['engine_id'].nunique(), 'engines')</a:t>
            </a:r>
          </a:p>
          <a:p>
            <a:pPr algn="l">
              <a:lnSpc>
                <a:spcPct val="120000"/>
              </a:lnSpc>
            </a:pPr>
            <a:r>
              <a:rPr sz="1100">
                <a:solidFill>
                  <a:srgbClr val="EEEEEE"/>
                </a:solidFill>
                <a:latin typeface="Menlo"/>
              </a:rPr>
              <a:t>train.head()</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(20631, 26) -&gt; 100 engines</a:t>
            </a:r>
          </a:p>
          <a:p>
            <a:r>
              <a:rPr sz="1200">
                <a:solidFill>
                  <a:srgbClr val="D8E8D8"/>
                </a:solidFill>
                <a:latin typeface="Menlo"/>
              </a:rPr>
              <a:t> </a:t>
            </a:r>
          </a:p>
          <a:p>
            <a:r>
              <a:rPr sz="1200">
                <a:solidFill>
                  <a:srgbClr val="D8E8D8"/>
                </a:solidFill>
                <a:latin typeface="Menlo"/>
              </a:rPr>
              <a:t>First 5 rows of the dataframe</a:t>
            </a:r>
          </a:p>
          <a:p>
            <a:r>
              <a:rPr sz="1200">
                <a:solidFill>
                  <a:srgbClr val="D8E8D8"/>
                </a:solidFill>
                <a:latin typeface="Menlo"/>
              </a:rPr>
              <a:t>shown below.</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100 turbofan engines, 20,631 timesteps total.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3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Compute Remaining Useful Life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max_cycles = train.groupby('engine_id')['cycle'].max().rename('max_cycle')</a:t>
            </a:r>
          </a:p>
          <a:p>
            <a:pPr algn="l">
              <a:lnSpc>
                <a:spcPct val="120000"/>
              </a:lnSpc>
            </a:pPr>
            <a:r>
              <a:rPr sz="1100">
                <a:solidFill>
                  <a:srgbClr val="EEEEEE"/>
                </a:solidFill>
                <a:latin typeface="Menlo"/>
              </a:rPr>
              <a:t>train = train.merge(max_cycles, on='engine_id')</a:t>
            </a:r>
          </a:p>
          <a:p>
            <a:pPr algn="l">
              <a:lnSpc>
                <a:spcPct val="120000"/>
              </a:lnSpc>
            </a:pPr>
            <a:r>
              <a:rPr sz="1100">
                <a:solidFill>
                  <a:srgbClr val="EEEEEE"/>
                </a:solidFill>
                <a:latin typeface="Menlo"/>
              </a:rPr>
              <a:t>train['RUL'] = (train['max_cycle'] - train['cycle']).clip(upper=125)</a:t>
            </a:r>
          </a:p>
          <a:p>
            <a:pPr algn="l">
              <a:lnSpc>
                <a:spcPct val="120000"/>
              </a:lnSpc>
            </a:pPr>
            <a:r>
              <a:rPr sz="1100">
                <a:solidFill>
                  <a:srgbClr val="EEEEEE"/>
                </a:solidFill>
                <a:latin typeface="Menlo"/>
              </a:rPr>
              <a:t>train[['engine_id','cycle','max_cycle','RUL']].head()</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   engine_id  cycle  max_cycle  RUL</a:t>
            </a:r>
          </a:p>
          <a:p>
            <a:r>
              <a:rPr sz="1200">
                <a:solidFill>
                  <a:srgbClr val="D8E8D8"/>
                </a:solidFill>
                <a:latin typeface="Menlo"/>
              </a:rPr>
              <a:t>0          1      1        192  125</a:t>
            </a:r>
          </a:p>
          <a:p>
            <a:r>
              <a:rPr sz="1200">
                <a:solidFill>
                  <a:srgbClr val="D8E8D8"/>
                </a:solidFill>
                <a:latin typeface="Menlo"/>
              </a:rPr>
              <a:t>1          1      2        192  125</a:t>
            </a:r>
          </a:p>
          <a:p>
            <a:r>
              <a:rPr sz="1200">
                <a:solidFill>
                  <a:srgbClr val="D8E8D8"/>
                </a:solidFill>
                <a:latin typeface="Menlo"/>
              </a:rPr>
              <a:t>2          1      3        192  125</a:t>
            </a:r>
          </a:p>
          <a:p>
            <a:r>
              <a:rPr sz="1200">
                <a:solidFill>
                  <a:srgbClr val="D8E8D8"/>
                </a:solidFill>
                <a:latin typeface="Menlo"/>
              </a:rPr>
              <a:t>3          1      4        192  125</a:t>
            </a:r>
          </a:p>
          <a:p>
            <a:r>
              <a:rPr sz="1200">
                <a:solidFill>
                  <a:srgbClr val="D8E8D8"/>
                </a:solidFill>
                <a:latin typeface="Menlo"/>
              </a:rPr>
              <a:t>4          1      5        192  125</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RUL capped at 125. Engine 1 lived 192 cycles in total.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4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Visualize one engine's degradation</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engine = train[train['engine_id'] == 1].set_index('cycle')</a:t>
            </a:r>
          </a:p>
          <a:p>
            <a:pPr algn="l">
              <a:lnSpc>
                <a:spcPct val="120000"/>
              </a:lnSpc>
            </a:pPr>
            <a:r>
              <a:rPr sz="1100">
                <a:solidFill>
                  <a:srgbClr val="EEEEEE"/>
                </a:solidFill>
                <a:latin typeface="Menlo"/>
              </a:rPr>
              <a:t>engine[['s2', 's7', 's11', 's14']].plot(</a:t>
            </a:r>
          </a:p>
          <a:p>
            <a:pPr algn="l">
              <a:lnSpc>
                <a:spcPct val="120000"/>
              </a:lnSpc>
            </a:pPr>
            <a:r>
              <a:rPr sz="1100">
                <a:solidFill>
                  <a:srgbClr val="EEEEEE"/>
                </a:solidFill>
                <a:latin typeface="Menlo"/>
              </a:rPr>
              <a:t>    subplots=True, layout=(2,2), figsize=(12,6))</a:t>
            </a:r>
          </a:p>
          <a:p>
            <a:pPr algn="l">
              <a:lnSpc>
                <a:spcPct val="120000"/>
              </a:lnSpc>
            </a:pPr>
            <a:r>
              <a:rPr sz="1100">
                <a:solidFill>
                  <a:srgbClr val="EEEEEE"/>
                </a:solidFill>
                <a:latin typeface="Menlo"/>
              </a:rPr>
              <a:t>plt.suptitle('Engine 1 sensor degradation', y=1.02)</a:t>
            </a:r>
          </a:p>
          <a:p>
            <a:pPr algn="l">
              <a:lnSpc>
                <a:spcPct val="120000"/>
              </a:lnSpc>
            </a:pPr>
            <a:r>
              <a:rPr sz="1100">
                <a:solidFill>
                  <a:srgbClr val="EEEEEE"/>
                </a:solidFill>
                <a:latin typeface="Menlo"/>
              </a:rPr>
              <a:t>plt.tight_layout(); plt.show()</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step4_engine1.png"/>
          <p:cNvPicPr>
            <a:picLocks noChangeAspect="1"/>
          </p:cNvPicPr>
          <p:nvPr/>
        </p:nvPicPr>
        <p:blipFill>
          <a:blip r:embed="rId2"/>
          <a:stretch>
            <a:fillRect/>
          </a:stretch>
        </p:blipFill>
        <p:spPr>
          <a:xfrm>
            <a:off x="7040880" y="2240280"/>
            <a:ext cx="4937760" cy="2662598"/>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s2, s11, s14 trend up. s7 trends down. The engine is wearing.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5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Bin RUL into three classes</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def bin_rul(rul):</a:t>
            </a:r>
          </a:p>
          <a:p>
            <a:pPr algn="l">
              <a:lnSpc>
                <a:spcPct val="120000"/>
              </a:lnSpc>
            </a:pPr>
            <a:r>
              <a:rPr sz="1100">
                <a:solidFill>
                  <a:srgbClr val="EEEEEE"/>
                </a:solidFill>
                <a:latin typeface="Menlo"/>
              </a:rPr>
              <a:t>    if rul &lt; 30: return 0</a:t>
            </a:r>
          </a:p>
          <a:p>
            <a:pPr algn="l">
              <a:lnSpc>
                <a:spcPct val="120000"/>
              </a:lnSpc>
            </a:pPr>
            <a:r>
              <a:rPr sz="1100">
                <a:solidFill>
                  <a:srgbClr val="EEEEEE"/>
                </a:solidFill>
                <a:latin typeface="Menlo"/>
              </a:rPr>
              <a:t>    elif rul &lt; 80: return 1</a:t>
            </a:r>
          </a:p>
          <a:p>
            <a:pPr algn="l">
              <a:lnSpc>
                <a:spcPct val="120000"/>
              </a:lnSpc>
            </a:pPr>
            <a:r>
              <a:rPr sz="1100">
                <a:solidFill>
                  <a:srgbClr val="EEEEEE"/>
                </a:solidFill>
                <a:latin typeface="Menlo"/>
              </a:rPr>
              <a:t>    return 2</a:t>
            </a:r>
          </a:p>
          <a:p>
            <a:pPr algn="l">
              <a:lnSpc>
                <a:spcPct val="120000"/>
              </a:lnSpc>
            </a:pPr>
            <a:r>
              <a:rPr sz="1100">
                <a:solidFill>
                  <a:srgbClr val="EEEEEE"/>
                </a:solidFill>
                <a:latin typeface="Menlo"/>
              </a:rPr>
              <a:t> </a:t>
            </a:r>
          </a:p>
          <a:p>
            <a:pPr algn="l">
              <a:lnSpc>
                <a:spcPct val="120000"/>
              </a:lnSpc>
            </a:pPr>
            <a:r>
              <a:rPr sz="1100">
                <a:solidFill>
                  <a:srgbClr val="EEEEEE"/>
                </a:solidFill>
                <a:latin typeface="Menlo"/>
              </a:rPr>
              <a:t>train['health'] = train['RUL'].apply(bin_rul)</a:t>
            </a:r>
          </a:p>
          <a:p>
            <a:pPr algn="l">
              <a:lnSpc>
                <a:spcPct val="120000"/>
              </a:lnSpc>
            </a:pPr>
            <a:r>
              <a:rPr sz="1100">
                <a:solidFill>
                  <a:srgbClr val="EEEEEE"/>
                </a:solidFill>
                <a:latin typeface="Menlo"/>
              </a:rPr>
              <a:t>train['health'].value_counts().sort_index()</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health</a:t>
            </a:r>
          </a:p>
          <a:p>
            <a:r>
              <a:rPr sz="1200">
                <a:solidFill>
                  <a:srgbClr val="D8E8D8"/>
                </a:solidFill>
                <a:latin typeface="Menlo"/>
              </a:rPr>
              <a:t>0     3000</a:t>
            </a:r>
          </a:p>
          <a:p>
            <a:r>
              <a:rPr sz="1200">
                <a:solidFill>
                  <a:srgbClr val="D8E8D8"/>
                </a:solidFill>
                <a:latin typeface="Menlo"/>
              </a:rPr>
              <a:t>1     5000</a:t>
            </a:r>
          </a:p>
          <a:p>
            <a:r>
              <a:rPr sz="1200">
                <a:solidFill>
                  <a:srgbClr val="D8E8D8"/>
                </a:solidFill>
                <a:latin typeface="Menlo"/>
              </a:rPr>
              <a:t>2    12631</a:t>
            </a:r>
          </a:p>
          <a:p>
            <a:r>
              <a:rPr sz="1200">
                <a:solidFill>
                  <a:srgbClr val="D8E8D8"/>
                </a:solidFill>
                <a:latin typeface="Menlo"/>
              </a:rPr>
              <a:t>Name: count, dtype: int64</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14% Critical · 24% Caution · 61% Healthy.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6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Build the feature matrix</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all_sensors = [f's{i}' for i in range(1, 22)]</a:t>
            </a:r>
          </a:p>
          <a:p>
            <a:pPr algn="l">
              <a:lnSpc>
                <a:spcPct val="120000"/>
              </a:lnSpc>
            </a:pPr>
            <a:r>
              <a:rPr sz="1100">
                <a:solidFill>
                  <a:srgbClr val="EEEEEE"/>
                </a:solidFill>
                <a:latin typeface="Menlo"/>
              </a:rPr>
              <a:t>informative = [s for s in all_sensors if train[s].std() &gt; 0.001]</a:t>
            </a:r>
          </a:p>
          <a:p>
            <a:pPr algn="l">
              <a:lnSpc>
                <a:spcPct val="120000"/>
              </a:lnSpc>
            </a:pPr>
            <a:r>
              <a:rPr sz="1100">
                <a:solidFill>
                  <a:srgbClr val="EEEEEE"/>
                </a:solidFill>
                <a:latin typeface="Menlo"/>
              </a:rPr>
              <a:t>X = train[informative].values</a:t>
            </a:r>
          </a:p>
          <a:p>
            <a:pPr algn="l">
              <a:lnSpc>
                <a:spcPct val="120000"/>
              </a:lnSpc>
            </a:pPr>
            <a:r>
              <a:rPr sz="1100">
                <a:solidFill>
                  <a:srgbClr val="EEEEEE"/>
                </a:solidFill>
                <a:latin typeface="Menlo"/>
              </a:rPr>
              <a:t>y = train['health'].values</a:t>
            </a:r>
          </a:p>
          <a:p>
            <a:pPr algn="l">
              <a:lnSpc>
                <a:spcPct val="120000"/>
              </a:lnSpc>
            </a:pPr>
            <a:r>
              <a:rPr sz="1100">
                <a:solidFill>
                  <a:srgbClr val="EEEEEE"/>
                </a:solidFill>
                <a:latin typeface="Menlo"/>
              </a:rPr>
              <a:t>scaler = StandardScaler()</a:t>
            </a:r>
          </a:p>
          <a:p>
            <a:pPr algn="l">
              <a:lnSpc>
                <a:spcPct val="120000"/>
              </a:lnSpc>
            </a:pPr>
            <a:r>
              <a:rPr sz="1100">
                <a:solidFill>
                  <a:srgbClr val="EEEEEE"/>
                </a:solidFill>
                <a:latin typeface="Menlo"/>
              </a:rPr>
              <a:t>X = scaler.fit_transform(X)</a:t>
            </a:r>
          </a:p>
          <a:p>
            <a:pPr algn="l">
              <a:lnSpc>
                <a:spcPct val="120000"/>
              </a:lnSpc>
            </a:pPr>
            <a:r>
              <a:rPr sz="1100">
                <a:solidFill>
                  <a:srgbClr val="EEEEEE"/>
                </a:solidFill>
                <a:latin typeface="Menlo"/>
              </a:rPr>
              <a:t>print('X shape:', X.shape, '· y shape:', y.shape)</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X shape: (20631, 15) · y shape: (20631,)</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15 of 21 sensors are informative. s1, s5, s10, s16, s18, s19 are constant and dropped.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7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Train / test split</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X_train, X_test, y_train, y_test = train_test_split(</a:t>
            </a:r>
          </a:p>
          <a:p>
            <a:pPr algn="l">
              <a:lnSpc>
                <a:spcPct val="120000"/>
              </a:lnSpc>
            </a:pPr>
            <a:r>
              <a:rPr sz="1100">
                <a:solidFill>
                  <a:srgbClr val="EEEEEE"/>
                </a:solidFill>
                <a:latin typeface="Menlo"/>
              </a:rPr>
              <a:t>    X, y,</a:t>
            </a:r>
          </a:p>
          <a:p>
            <a:pPr algn="l">
              <a:lnSpc>
                <a:spcPct val="120000"/>
              </a:lnSpc>
            </a:pPr>
            <a:r>
              <a:rPr sz="1100">
                <a:solidFill>
                  <a:srgbClr val="EEEEEE"/>
                </a:solidFill>
                <a:latin typeface="Menlo"/>
              </a:rPr>
              <a:t>    test_size=0.2,</a:t>
            </a:r>
          </a:p>
          <a:p>
            <a:pPr algn="l">
              <a:lnSpc>
                <a:spcPct val="120000"/>
              </a:lnSpc>
            </a:pPr>
            <a:r>
              <a:rPr sz="1100">
                <a:solidFill>
                  <a:srgbClr val="EEEEEE"/>
                </a:solidFill>
                <a:latin typeface="Menlo"/>
              </a:rPr>
              <a:t>    stratify=y,</a:t>
            </a:r>
          </a:p>
          <a:p>
            <a:pPr algn="l">
              <a:lnSpc>
                <a:spcPct val="120000"/>
              </a:lnSpc>
            </a:pPr>
            <a:r>
              <a:rPr sz="1100">
                <a:solidFill>
                  <a:srgbClr val="EEEEEE"/>
                </a:solidFill>
                <a:latin typeface="Menlo"/>
              </a:rPr>
              <a:t>    random_state=42,</a:t>
            </a:r>
          </a:p>
          <a:p>
            <a:pPr algn="l">
              <a:lnSpc>
                <a:spcPct val="120000"/>
              </a:lnSpc>
            </a:pPr>
            <a:r>
              <a:rPr sz="1100">
                <a:solidFill>
                  <a:srgbClr val="EEEEEE"/>
                </a:solidFill>
                <a:latin typeface="Menlo"/>
              </a:rPr>
              <a:t>)</a:t>
            </a:r>
          </a:p>
          <a:p>
            <a:pPr algn="l">
              <a:lnSpc>
                <a:spcPct val="120000"/>
              </a:lnSpc>
            </a:pPr>
            <a:r>
              <a:rPr sz="1100">
                <a:solidFill>
                  <a:srgbClr val="EEEEEE"/>
                </a:solidFill>
                <a:latin typeface="Menlo"/>
              </a:rPr>
              <a:t>print(X_train.shape, X_test.shape)</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(16504, 15) (4127, 15)</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80/20 split. stratify=y preserves the class ratio in both sets.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8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Train the Soft Decision Tree (30 to 60 sec)</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tree = SoftDecisionTree(</a:t>
            </a:r>
          </a:p>
          <a:p>
            <a:pPr algn="l">
              <a:lnSpc>
                <a:spcPct val="120000"/>
              </a:lnSpc>
            </a:pPr>
            <a:r>
              <a:rPr sz="1100">
                <a:solidFill>
                  <a:srgbClr val="EEEEEE"/>
                </a:solidFill>
                <a:latin typeface="Menlo"/>
              </a:rPr>
              <a:t>    depth=4,</a:t>
            </a:r>
          </a:p>
          <a:p>
            <a:pPr algn="l">
              <a:lnSpc>
                <a:spcPct val="120000"/>
              </a:lnSpc>
            </a:pPr>
            <a:r>
              <a:rPr sz="1100">
                <a:solidFill>
                  <a:srgbClr val="EEEEEE"/>
                </a:solidFill>
                <a:latin typeface="Menlo"/>
              </a:rPr>
              <a:t>    max_epochs=30,</a:t>
            </a:r>
          </a:p>
          <a:p>
            <a:pPr algn="l">
              <a:lnSpc>
                <a:spcPct val="120000"/>
              </a:lnSpc>
            </a:pPr>
            <a:r>
              <a:rPr sz="1100">
                <a:solidFill>
                  <a:srgbClr val="EEEEEE"/>
                </a:solidFill>
                <a:latin typeface="Menlo"/>
              </a:rPr>
              <a:t>    learning_rate=0.01,</a:t>
            </a:r>
          </a:p>
          <a:p>
            <a:pPr algn="l">
              <a:lnSpc>
                <a:spcPct val="120000"/>
              </a:lnSpc>
            </a:pPr>
            <a:r>
              <a:rPr sz="1100">
                <a:solidFill>
                  <a:srgbClr val="EEEEEE"/>
                </a:solidFill>
                <a:latin typeface="Menlo"/>
              </a:rPr>
              <a:t>    penalty_coef=1e-3,</a:t>
            </a:r>
          </a:p>
          <a:p>
            <a:pPr algn="l">
              <a:lnSpc>
                <a:spcPct val="120000"/>
              </a:lnSpc>
            </a:pPr>
            <a:r>
              <a:rPr sz="1100">
                <a:solidFill>
                  <a:srgbClr val="EEEEEE"/>
                </a:solidFill>
                <a:latin typeface="Menlo"/>
              </a:rPr>
              <a:t>    verbose=True,</a:t>
            </a:r>
          </a:p>
          <a:p>
            <a:pPr algn="l">
              <a:lnSpc>
                <a:spcPct val="120000"/>
              </a:lnSpc>
            </a:pPr>
            <a:r>
              <a:rPr sz="1100">
                <a:solidFill>
                  <a:srgbClr val="EEEEEE"/>
                </a:solidFill>
                <a:latin typeface="Menlo"/>
              </a:rPr>
              <a:t>)</a:t>
            </a:r>
          </a:p>
          <a:p>
            <a:pPr algn="l">
              <a:lnSpc>
                <a:spcPct val="120000"/>
              </a:lnSpc>
            </a:pPr>
            <a:r>
              <a:rPr sz="1100">
                <a:solidFill>
                  <a:srgbClr val="EEEEEE"/>
                </a:solidFill>
                <a:latin typeface="Menlo"/>
              </a:rPr>
              <a:t>tree.fit(X_train, y_train)</a:t>
            </a:r>
          </a:p>
          <a:p>
            <a:pPr algn="l">
              <a:lnSpc>
                <a:spcPct val="120000"/>
              </a:lnSpc>
            </a:pPr>
            <a:r>
              <a:rPr sz="1100">
                <a:solidFill>
                  <a:srgbClr val="EEEEEE"/>
                </a:solidFill>
                <a:latin typeface="Menlo"/>
              </a:rPr>
              <a:t>acc = (tree.predict(X_test) == y_test).mean()</a:t>
            </a:r>
          </a:p>
          <a:p>
            <a:pPr algn="l">
              <a:lnSpc>
                <a:spcPct val="120000"/>
              </a:lnSpc>
            </a:pPr>
            <a:r>
              <a:rPr sz="1100">
                <a:solidFill>
                  <a:srgbClr val="EEEEEE"/>
                </a:solidFill>
                <a:latin typeface="Menlo"/>
              </a:rPr>
              <a:t>print(f'Test accuracy: {acc:.3f}')</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Epoch 5/30   loss=0.362  acc=0.851</a:t>
            </a:r>
          </a:p>
          <a:p>
            <a:r>
              <a:rPr sz="1200">
                <a:solidFill>
                  <a:srgbClr val="D8E8D8"/>
                </a:solidFill>
                <a:latin typeface="Menlo"/>
              </a:rPr>
              <a:t>Epoch 10/30  loss=0.355  acc=0.853</a:t>
            </a:r>
          </a:p>
          <a:p>
            <a:r>
              <a:rPr sz="1200">
                <a:solidFill>
                  <a:srgbClr val="D8E8D8"/>
                </a:solidFill>
                <a:latin typeface="Menlo"/>
              </a:rPr>
              <a:t>Epoch 15/30  loss=0.352  acc=0.854</a:t>
            </a:r>
          </a:p>
          <a:p>
            <a:r>
              <a:rPr sz="1200">
                <a:solidFill>
                  <a:srgbClr val="D8E8D8"/>
                </a:solidFill>
                <a:latin typeface="Menlo"/>
              </a:rPr>
              <a:t>Epoch 20/30  loss=0.351  acc=0.855</a:t>
            </a:r>
          </a:p>
          <a:p>
            <a:r>
              <a:rPr sz="1200">
                <a:solidFill>
                  <a:srgbClr val="D8E8D8"/>
                </a:solidFill>
                <a:latin typeface="Menlo"/>
              </a:rPr>
              <a:t>Epoch 25/30  loss=0.350  acc=0.854</a:t>
            </a:r>
          </a:p>
          <a:p>
            <a:r>
              <a:rPr sz="1200">
                <a:solidFill>
                  <a:srgbClr val="D8E8D8"/>
                </a:solidFill>
                <a:latin typeface="Menlo"/>
              </a:rPr>
              <a:t>Epoch 30/30  loss=0.349  acc=0.855</a:t>
            </a:r>
          </a:p>
          <a:p>
            <a:r>
              <a:rPr sz="1200">
                <a:solidFill>
                  <a:srgbClr val="D8E8D8"/>
                </a:solidFill>
                <a:latin typeface="Menlo"/>
              </a:rPr>
              <a:t>Test accuracy: 0.841</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Train vs test gap is about 1 point. No overfitting.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9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Confusion matrix and per-class report</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labels = ['Critical', 'Caution', 'Healthy']</a:t>
            </a:r>
          </a:p>
          <a:p>
            <a:pPr algn="l">
              <a:lnSpc>
                <a:spcPct val="120000"/>
              </a:lnSpc>
            </a:pPr>
            <a:r>
              <a:rPr sz="1100">
                <a:solidFill>
                  <a:srgbClr val="EEEEEE"/>
                </a:solidFill>
                <a:latin typeface="Menlo"/>
              </a:rPr>
              <a:t>y_pred = tree.predict(X_test)</a:t>
            </a:r>
          </a:p>
          <a:p>
            <a:pPr algn="l">
              <a:lnSpc>
                <a:spcPct val="120000"/>
              </a:lnSpc>
            </a:pPr>
            <a:r>
              <a:rPr sz="1100">
                <a:solidFill>
                  <a:srgbClr val="EEEEEE"/>
                </a:solidFill>
                <a:latin typeface="Menlo"/>
              </a:rPr>
              <a:t>cm = confusion_matrix(y_test, y_pred)</a:t>
            </a:r>
          </a:p>
          <a:p>
            <a:pPr algn="l">
              <a:lnSpc>
                <a:spcPct val="120000"/>
              </a:lnSpc>
            </a:pPr>
            <a:r>
              <a:rPr sz="1100">
                <a:solidFill>
                  <a:srgbClr val="EEEEEE"/>
                </a:solidFill>
                <a:latin typeface="Menlo"/>
              </a:rPr>
              <a:t>fig, ax = plt.subplots(figsize=(6, 5))</a:t>
            </a:r>
          </a:p>
          <a:p>
            <a:pPr algn="l">
              <a:lnSpc>
                <a:spcPct val="120000"/>
              </a:lnSpc>
            </a:pPr>
            <a:r>
              <a:rPr sz="1100">
                <a:solidFill>
                  <a:srgbClr val="EEEEEE"/>
                </a:solidFill>
                <a:latin typeface="Menlo"/>
              </a:rPr>
              <a:t>sns.heatmap(cm, annot=True, fmt='d', cmap='Blues',</a:t>
            </a:r>
          </a:p>
          <a:p>
            <a:pPr algn="l">
              <a:lnSpc>
                <a:spcPct val="120000"/>
              </a:lnSpc>
            </a:pPr>
            <a:r>
              <a:rPr sz="1100">
                <a:solidFill>
                  <a:srgbClr val="EEEEEE"/>
                </a:solidFill>
                <a:latin typeface="Menlo"/>
              </a:rPr>
              <a:t>            xticklabels=labels, yticklabels=labels, ax=ax)</a:t>
            </a:r>
          </a:p>
          <a:p>
            <a:pPr algn="l">
              <a:lnSpc>
                <a:spcPct val="120000"/>
              </a:lnSpc>
            </a:pPr>
            <a:r>
              <a:rPr sz="1100">
                <a:solidFill>
                  <a:srgbClr val="EEEEEE"/>
                </a:solidFill>
                <a:latin typeface="Menlo"/>
              </a:rPr>
              <a:t>plt.title('Confusion matrix'); plt.show()</a:t>
            </a:r>
          </a:p>
          <a:p>
            <a:pPr algn="l">
              <a:lnSpc>
                <a:spcPct val="120000"/>
              </a:lnSpc>
            </a:pPr>
            <a:r>
              <a:rPr sz="1100">
                <a:solidFill>
                  <a:srgbClr val="EEEEEE"/>
                </a:solidFill>
                <a:latin typeface="Menlo"/>
              </a:rPr>
              <a:t>print(classification_report(y_test, y_pred,</a:t>
            </a:r>
          </a:p>
          <a:p>
            <a:pPr algn="l">
              <a:lnSpc>
                <a:spcPct val="120000"/>
              </a:lnSpc>
            </a:pPr>
            <a:r>
              <a:rPr sz="1100">
                <a:solidFill>
                  <a:srgbClr val="EEEEEE"/>
                </a:solidFill>
                <a:latin typeface="Menlo"/>
              </a:rPr>
              <a:t>      target_names=labels))</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step9_confusion.png"/>
          <p:cNvPicPr>
            <a:picLocks noChangeAspect="1"/>
          </p:cNvPicPr>
          <p:nvPr/>
        </p:nvPicPr>
        <p:blipFill>
          <a:blip r:embed="rId2"/>
          <a:stretch>
            <a:fillRect/>
          </a:stretch>
        </p:blipFill>
        <p:spPr>
          <a:xfrm>
            <a:off x="7040880" y="2240280"/>
            <a:ext cx="4937760" cy="4047456"/>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0 false-Criticals on Healthy engines. Only 5 missed-Critical on 600.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10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Which sensor does each node lean on?</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splits = tree.get_split_weights()</a:t>
            </a:r>
          </a:p>
          <a:p>
            <a:pPr algn="l">
              <a:lnSpc>
                <a:spcPct val="120000"/>
              </a:lnSpc>
            </a:pPr>
            <a:r>
              <a:rPr sz="1100">
                <a:solidFill>
                  <a:srgbClr val="EEEEEE"/>
                </a:solidFill>
                <a:latin typeface="Menlo"/>
              </a:rPr>
              <a:t>print(f'Internal nodes: {len(splits)}')</a:t>
            </a:r>
          </a:p>
          <a:p>
            <a:pPr algn="l">
              <a:lnSpc>
                <a:spcPct val="120000"/>
              </a:lnSpc>
            </a:pPr>
            <a:r>
              <a:rPr sz="1100">
                <a:solidFill>
                  <a:srgbClr val="EEEEEE"/>
                </a:solidFill>
                <a:latin typeface="Menlo"/>
              </a:rPr>
              <a:t>for i, w in enumerate(splits):</a:t>
            </a:r>
          </a:p>
          <a:p>
            <a:pPr algn="l">
              <a:lnSpc>
                <a:spcPct val="120000"/>
              </a:lnSpc>
            </a:pPr>
            <a:r>
              <a:rPr sz="1100">
                <a:solidFill>
                  <a:srgbClr val="EEEEEE"/>
                </a:solidFill>
                <a:latin typeface="Menlo"/>
              </a:rPr>
              <a:t>    dom = informative[np.argmax(np.abs(w))]</a:t>
            </a:r>
          </a:p>
          <a:p>
            <a:pPr algn="l">
              <a:lnSpc>
                <a:spcPct val="120000"/>
              </a:lnSpc>
            </a:pPr>
            <a:r>
              <a:rPr sz="1100">
                <a:solidFill>
                  <a:srgbClr val="EEEEEE"/>
                </a:solidFill>
                <a:latin typeface="Menlo"/>
              </a:rPr>
              <a:t>    print(f'  Node {i:2d} -&gt; {dom:4s}')</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Internal nodes: 15</a:t>
            </a:r>
          </a:p>
          <a:p>
            <a:r>
              <a:rPr sz="1200">
                <a:solidFill>
                  <a:srgbClr val="D8E8D8"/>
                </a:solidFill>
                <a:latin typeface="Menlo"/>
              </a:rPr>
              <a:t>  Node  0 -&gt; s7</a:t>
            </a:r>
          </a:p>
          <a:p>
            <a:r>
              <a:rPr sz="1200">
                <a:solidFill>
                  <a:srgbClr val="D8E8D8"/>
                </a:solidFill>
                <a:latin typeface="Menlo"/>
              </a:rPr>
              <a:t>  Node  1 -&gt; s14</a:t>
            </a:r>
          </a:p>
          <a:p>
            <a:r>
              <a:rPr sz="1200">
                <a:solidFill>
                  <a:srgbClr val="D8E8D8"/>
                </a:solidFill>
                <a:latin typeface="Menlo"/>
              </a:rPr>
              <a:t>  Node  2 -&gt; s6</a:t>
            </a:r>
          </a:p>
          <a:p>
            <a:r>
              <a:rPr sz="1200">
                <a:solidFill>
                  <a:srgbClr val="D8E8D8"/>
                </a:solidFill>
                <a:latin typeface="Menlo"/>
              </a:rPr>
              <a:t>  Node  3 -&gt; s14</a:t>
            </a:r>
          </a:p>
          <a:p>
            <a:r>
              <a:rPr sz="1200">
                <a:solidFill>
                  <a:srgbClr val="D8E8D8"/>
                </a:solidFill>
                <a:latin typeface="Menlo"/>
              </a:rPr>
              <a:t>  Node  4 -&gt; s6</a:t>
            </a:r>
          </a:p>
          <a:p>
            <a:r>
              <a:rPr sz="1200">
                <a:solidFill>
                  <a:srgbClr val="D8E8D8"/>
                </a:solidFill>
                <a:latin typeface="Menlo"/>
              </a:rPr>
              <a:t>  Node  5 -&gt; s6</a:t>
            </a:r>
          </a:p>
          <a:p>
            <a:r>
              <a:rPr sz="1200">
                <a:solidFill>
                  <a:srgbClr val="D8E8D8"/>
                </a:solidFill>
                <a:latin typeface="Menlo"/>
              </a:rPr>
              <a:t>  Node  6 -&gt; s12</a:t>
            </a:r>
          </a:p>
          <a:p>
            <a:r>
              <a:rPr sz="1200">
                <a:solidFill>
                  <a:srgbClr val="D8E8D8"/>
                </a:solidFill>
                <a:latin typeface="Menlo"/>
              </a:rPr>
              <a:t>  ...</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s14 and s6 dominate multiple nodes. These are the model pillars.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4FC3F7"/>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11 / 11</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Read one prediction (the heart of the workshop)</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idx = 17</a:t>
            </a:r>
          </a:p>
          <a:p>
            <a:pPr algn="l">
              <a:lnSpc>
                <a:spcPct val="120000"/>
              </a:lnSpc>
            </a:pPr>
            <a:r>
              <a:rPr sz="1100">
                <a:solidFill>
                  <a:srgbClr val="EEEEEE"/>
                </a:solidFill>
                <a:latin typeface="Menlo"/>
              </a:rPr>
              <a:t>x = X_test[idx]</a:t>
            </a:r>
          </a:p>
          <a:p>
            <a:pPr algn="l">
              <a:lnSpc>
                <a:spcPct val="120000"/>
              </a:lnSpc>
            </a:pPr>
            <a:r>
              <a:rPr sz="1100">
                <a:solidFill>
                  <a:srgbClr val="EEEEEE"/>
                </a:solidFill>
                <a:latin typeface="Menlo"/>
              </a:rPr>
              <a:t>true = labels[y_test[idx]]</a:t>
            </a:r>
          </a:p>
          <a:p>
            <a:pPr algn="l">
              <a:lnSpc>
                <a:spcPct val="120000"/>
              </a:lnSpc>
            </a:pPr>
            <a:r>
              <a:rPr sz="1100">
                <a:solidFill>
                  <a:srgbClr val="EEEEEE"/>
                </a:solidFill>
                <a:latin typeface="Menlo"/>
              </a:rPr>
              <a:t>pred = labels[tree.predict([x])[0]]</a:t>
            </a:r>
          </a:p>
          <a:p>
            <a:pPr algn="l">
              <a:lnSpc>
                <a:spcPct val="120000"/>
              </a:lnSpc>
            </a:pPr>
            <a:r>
              <a:rPr sz="1100">
                <a:solidFill>
                  <a:srgbClr val="EEEEEE"/>
                </a:solidFill>
                <a:latin typeface="Menlo"/>
              </a:rPr>
              <a:t>proba = tree.predict_proba([x])[0]</a:t>
            </a:r>
          </a:p>
          <a:p>
            <a:pPr algn="l">
              <a:lnSpc>
                <a:spcPct val="120000"/>
              </a:lnSpc>
            </a:pPr>
            <a:r>
              <a:rPr sz="1100">
                <a:solidFill>
                  <a:srgbClr val="EEEEEE"/>
                </a:solidFill>
                <a:latin typeface="Menlo"/>
              </a:rPr>
              <a:t>root = informative[np.argmax(np.abs(splits[0]))]</a:t>
            </a:r>
          </a:p>
          <a:p>
            <a:pPr algn="l">
              <a:lnSpc>
                <a:spcPct val="120000"/>
              </a:lnSpc>
            </a:pPr>
            <a:r>
              <a:rPr sz="1100">
                <a:solidFill>
                  <a:srgbClr val="EEEEEE"/>
                </a:solidFill>
                <a:latin typeface="Menlo"/>
              </a:rPr>
              <a:t> </a:t>
            </a:r>
          </a:p>
          <a:p>
            <a:pPr algn="l">
              <a:lnSpc>
                <a:spcPct val="120000"/>
              </a:lnSpc>
            </a:pPr>
            <a:r>
              <a:rPr sz="1100">
                <a:solidFill>
                  <a:srgbClr val="EEEEEE"/>
                </a:solidFill>
                <a:latin typeface="Menlo"/>
              </a:rPr>
              <a:t>print(f'True class:      {true}')</a:t>
            </a:r>
          </a:p>
          <a:p>
            <a:pPr algn="l">
              <a:lnSpc>
                <a:spcPct val="120000"/>
              </a:lnSpc>
            </a:pPr>
            <a:r>
              <a:rPr sz="1100">
                <a:solidFill>
                  <a:srgbClr val="EEEEEE"/>
                </a:solidFill>
                <a:latin typeface="Menlo"/>
              </a:rPr>
              <a:t>print(f'Predicted class: {pred}')</a:t>
            </a:r>
          </a:p>
          <a:p>
            <a:pPr algn="l">
              <a:lnSpc>
                <a:spcPct val="120000"/>
              </a:lnSpc>
            </a:pPr>
            <a:r>
              <a:rPr sz="1100">
                <a:solidFill>
                  <a:srgbClr val="EEEEEE"/>
                </a:solidFill>
                <a:latin typeface="Menlo"/>
              </a:rPr>
              <a:t>print(f'Probabilities:   '</a:t>
            </a:r>
          </a:p>
          <a:p>
            <a:pPr algn="l">
              <a:lnSpc>
                <a:spcPct val="120000"/>
              </a:lnSpc>
            </a:pPr>
            <a:r>
              <a:rPr sz="1100">
                <a:solidFill>
                  <a:srgbClr val="EEEEEE"/>
                </a:solidFill>
                <a:latin typeface="Menlo"/>
              </a:rPr>
              <a:t>      f'Critical={proba[0]:.3f} '</a:t>
            </a:r>
          </a:p>
          <a:p>
            <a:pPr algn="l">
              <a:lnSpc>
                <a:spcPct val="120000"/>
              </a:lnSpc>
            </a:pPr>
            <a:r>
              <a:rPr sz="1100">
                <a:solidFill>
                  <a:srgbClr val="EEEEEE"/>
                </a:solidFill>
                <a:latin typeface="Menlo"/>
              </a:rPr>
              <a:t>      f'Caution={proba[1]:.3f} '</a:t>
            </a:r>
          </a:p>
          <a:p>
            <a:pPr algn="l">
              <a:lnSpc>
                <a:spcPct val="120000"/>
              </a:lnSpc>
            </a:pPr>
            <a:r>
              <a:rPr sz="1100">
                <a:solidFill>
                  <a:srgbClr val="EEEEEE"/>
                </a:solidFill>
                <a:latin typeface="Menlo"/>
              </a:rPr>
              <a:t>      f'Healthy={proba[2]:.3f}')</a:t>
            </a:r>
          </a:p>
          <a:p>
            <a:pPr algn="l">
              <a:lnSpc>
                <a:spcPct val="120000"/>
              </a:lnSpc>
            </a:pPr>
            <a:r>
              <a:rPr sz="1100">
                <a:solidFill>
                  <a:srgbClr val="EEEEEE"/>
                </a:solidFill>
                <a:latin typeface="Menlo"/>
              </a:rPr>
              <a:t>print(f'Root sensor:     {root}')</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True class:      Caution</a:t>
            </a:r>
          </a:p>
          <a:p>
            <a:r>
              <a:rPr sz="1200">
                <a:solidFill>
                  <a:srgbClr val="D8E8D8"/>
                </a:solidFill>
                <a:latin typeface="Menlo"/>
              </a:rPr>
              <a:t>Predicted class: Healthy</a:t>
            </a:r>
          </a:p>
          <a:p>
            <a:r>
              <a:rPr sz="1200">
                <a:solidFill>
                  <a:srgbClr val="D8E8D8"/>
                </a:solidFill>
                <a:latin typeface="Menlo"/>
              </a:rPr>
              <a:t>Probabilities:   Critical=0.000</a:t>
            </a:r>
          </a:p>
          <a:p>
            <a:r>
              <a:rPr sz="1200">
                <a:solidFill>
                  <a:srgbClr val="D8E8D8"/>
                </a:solidFill>
                <a:latin typeface="Menlo"/>
              </a:rPr>
              <a:t>                 Caution=0.148</a:t>
            </a:r>
          </a:p>
          <a:p>
            <a:r>
              <a:rPr sz="1200">
                <a:solidFill>
                  <a:srgbClr val="D8E8D8"/>
                </a:solidFill>
                <a:latin typeface="Menlo"/>
              </a:rPr>
              <a:t>                 Healthy=0.852</a:t>
            </a:r>
          </a:p>
          <a:p>
            <a:r>
              <a:rPr sz="1200">
                <a:solidFill>
                  <a:srgbClr val="D8E8D8"/>
                </a:solidFill>
                <a:latin typeface="Menlo"/>
              </a:rPr>
              <a:t>Root sensor:     s7</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You can defend this prediction to a regulator. An LSTM cannot.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01A10"/>
        </a:solidFill>
        <a:effectLst/>
      </p:bgPr>
    </p:bg>
    <p:spTree>
      <p:nvGrpSpPr>
        <p:cNvPr id="1" name=""/>
        <p:cNvGrpSpPr/>
        <p:nvPr/>
      </p:nvGrpSpPr>
      <p:grpSpPr/>
      <p:sp>
        <p:nvSpPr>
          <p:cNvPr id="2" name="TextBox 1"/>
          <p:cNvSpPr txBox="1"/>
          <p:nvPr/>
        </p:nvSpPr>
        <p:spPr>
          <a:xfrm>
            <a:off x="548640" y="548640"/>
            <a:ext cx="10972800" cy="914400"/>
          </a:xfrm>
          <a:prstGeom prst="rect">
            <a:avLst/>
          </a:prstGeom>
          <a:noFill/>
        </p:spPr>
        <p:txBody>
          <a:bodyPr wrap="square" lIns="0" rIns="0" tIns="0" bIns="0" anchor="t">
            <a:spAutoFit/>
          </a:bodyPr>
          <a:lstStyle/>
          <a:p>
            <a:pPr algn="l"/>
            <a:r>
              <a:rPr sz="4400" b="1" i="0">
                <a:solidFill>
                  <a:srgbClr val="81C784"/>
                </a:solidFill>
                <a:latin typeface="Helvetica Neue"/>
              </a:rPr>
              <a:t>Checkpoint</a:t>
            </a:r>
          </a:p>
        </p:txBody>
      </p:sp>
      <p:sp>
        <p:nvSpPr>
          <p:cNvPr id="3" name="TextBox 2"/>
          <p:cNvSpPr txBox="1"/>
          <p:nvPr/>
        </p:nvSpPr>
        <p:spPr>
          <a:xfrm>
            <a:off x="731520" y="1828800"/>
            <a:ext cx="10972800" cy="548640"/>
          </a:xfrm>
          <a:prstGeom prst="rect">
            <a:avLst/>
          </a:prstGeom>
          <a:noFill/>
        </p:spPr>
        <p:txBody>
          <a:bodyPr wrap="square" lIns="0" rIns="0" tIns="0" bIns="0" anchor="t">
            <a:spAutoFit/>
          </a:bodyPr>
          <a:lstStyle/>
          <a:p>
            <a:pPr algn="l"/>
            <a:r>
              <a:rPr sz="2000" b="0" i="0">
                <a:solidFill>
                  <a:srgbClr val="EEEEEE"/>
                </a:solidFill>
                <a:latin typeface="Helvetica Neue"/>
              </a:rPr>
              <a:t>By 10:25 you should have:</a:t>
            </a:r>
          </a:p>
        </p:txBody>
      </p:sp>
      <p:sp>
        <p:nvSpPr>
          <p:cNvPr id="4" name="TextBox 3"/>
          <p:cNvSpPr txBox="1"/>
          <p:nvPr/>
        </p:nvSpPr>
        <p:spPr>
          <a:xfrm>
            <a:off x="1280160" y="2743200"/>
            <a:ext cx="10972800" cy="2286000"/>
          </a:xfrm>
          <a:prstGeom prst="rect">
            <a:avLst/>
          </a:prstGeom>
          <a:noFill/>
        </p:spPr>
        <p:txBody>
          <a:bodyPr wrap="square" lIns="0" rIns="0" tIns="0" bIns="0" anchor="t">
            <a:spAutoFit/>
          </a:bodyPr>
          <a:lstStyle/>
          <a:p>
            <a:pPr algn="l">
              <a:lnSpc>
                <a:spcPct val="120000"/>
              </a:lnSpc>
              <a:spcAft>
                <a:spcPts val="800"/>
              </a:spcAft>
            </a:pPr>
            <a:r>
              <a:rPr sz="1800" b="0" i="0">
                <a:solidFill>
                  <a:srgbClr val="81C784"/>
                </a:solidFill>
                <a:latin typeface="Helvetica Neue"/>
              </a:rPr>
              <a:t>✓ A trained SoftDecisionTree on FD001</a:t>
            </a:r>
          </a:p>
          <a:p>
            <a:pPr algn="l">
              <a:lnSpc>
                <a:spcPct val="120000"/>
              </a:lnSpc>
              <a:spcAft>
                <a:spcPts val="800"/>
              </a:spcAft>
            </a:pPr>
            <a:r>
              <a:rPr sz="1800" b="0" i="0">
                <a:solidFill>
                  <a:srgbClr val="81C784"/>
                </a:solidFill>
                <a:latin typeface="Helvetica Neue"/>
              </a:rPr>
              <a:t>✓ Test accuracy &gt; 80%</a:t>
            </a:r>
          </a:p>
          <a:p>
            <a:pPr algn="l">
              <a:lnSpc>
                <a:spcPct val="120000"/>
              </a:lnSpc>
              <a:spcAft>
                <a:spcPts val="800"/>
              </a:spcAft>
            </a:pPr>
            <a:r>
              <a:rPr sz="1800" b="0" i="0">
                <a:solidFill>
                  <a:srgbClr val="81C784"/>
                </a:solidFill>
                <a:latin typeface="Helvetica Neue"/>
              </a:rPr>
              <a:t>✓ A printed decision path for at least one engine</a:t>
            </a:r>
          </a:p>
        </p:txBody>
      </p:sp>
      <p:sp>
        <p:nvSpPr>
          <p:cNvPr id="5" name="TextBox 4"/>
          <p:cNvSpPr txBox="1"/>
          <p:nvPr/>
        </p:nvSpPr>
        <p:spPr>
          <a:xfrm>
            <a:off x="548640" y="5120640"/>
            <a:ext cx="10972800" cy="548640"/>
          </a:xfrm>
          <a:prstGeom prst="rect">
            <a:avLst/>
          </a:prstGeom>
          <a:noFill/>
        </p:spPr>
        <p:txBody>
          <a:bodyPr wrap="square" lIns="0" rIns="0" tIns="0" bIns="0" anchor="t">
            <a:spAutoFit/>
          </a:bodyPr>
          <a:lstStyle/>
          <a:p>
            <a:pPr algn="ctr"/>
            <a:r>
              <a:rPr sz="2400" b="1" i="0">
                <a:solidFill>
                  <a:srgbClr val="4FC3F7"/>
                </a:solidFill>
                <a:latin typeface="Helvetica Neue"/>
              </a:rPr>
              <a:t>☕ 10-minute break.</a:t>
            </a:r>
          </a:p>
        </p:txBody>
      </p:sp>
      <p:sp>
        <p:nvSpPr>
          <p:cNvPr id="6" name="TextBox 5"/>
          <p:cNvSpPr txBox="1"/>
          <p:nvPr/>
        </p:nvSpPr>
        <p:spPr>
          <a:xfrm>
            <a:off x="548640" y="5760720"/>
            <a:ext cx="10972800" cy="457200"/>
          </a:xfrm>
          <a:prstGeom prst="rect">
            <a:avLst/>
          </a:prstGeom>
          <a:noFill/>
        </p:spPr>
        <p:txBody>
          <a:bodyPr wrap="square" lIns="0" rIns="0" tIns="0" bIns="0" anchor="t">
            <a:spAutoFit/>
          </a:bodyPr>
          <a:lstStyle/>
          <a:p>
            <a:pPr algn="ctr"/>
            <a:r>
              <a:rPr sz="1400" b="0" i="1">
                <a:solidFill>
                  <a:srgbClr val="BBBBBB"/>
                </a:solidFill>
                <a:latin typeface="Helvetica Neue"/>
              </a:rPr>
              <a:t>Activity 2 (team competition) starts at 10:35.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A0A1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ACTIVITY 2 · 25 MIN · TEAM CHALLENGE</a:t>
            </a:r>
          </a:p>
        </p:txBody>
      </p:sp>
      <p:sp>
        <p:nvSpPr>
          <p:cNvPr id="3" name="TextBox 2"/>
          <p:cNvSpPr txBox="1"/>
          <p:nvPr/>
        </p:nvSpPr>
        <p:spPr>
          <a:xfrm>
            <a:off x="548640" y="1828800"/>
            <a:ext cx="10972800" cy="1371600"/>
          </a:xfrm>
          <a:prstGeom prst="rect">
            <a:avLst/>
          </a:prstGeom>
          <a:noFill/>
        </p:spPr>
        <p:txBody>
          <a:bodyPr wrap="square" lIns="0" rIns="0" tIns="0" bIns="0" anchor="t">
            <a:spAutoFit/>
          </a:bodyPr>
          <a:lstStyle/>
          <a:p>
            <a:pPr algn="ctr"/>
            <a:r>
              <a:rPr sz="5400" b="1" i="0">
                <a:solidFill>
                  <a:srgbClr val="EEEEEE"/>
                </a:solidFill>
                <a:latin typeface="Helvetica Neue"/>
              </a:rPr>
              <a:t>Sensor Fault Detection</a:t>
            </a:r>
          </a:p>
        </p:txBody>
      </p:sp>
      <p:sp>
        <p:nvSpPr>
          <p:cNvPr id="4" name="TextBox 3"/>
          <p:cNvSpPr txBox="1"/>
          <p:nvPr/>
        </p:nvSpPr>
        <p:spPr>
          <a:xfrm>
            <a:off x="548640" y="4023360"/>
            <a:ext cx="10972800" cy="548640"/>
          </a:xfrm>
          <a:prstGeom prst="rect">
            <a:avLst/>
          </a:prstGeom>
          <a:noFill/>
        </p:spPr>
        <p:txBody>
          <a:bodyPr wrap="square" lIns="0" rIns="0" tIns="0" bIns="0" anchor="t">
            <a:spAutoFit/>
          </a:bodyPr>
          <a:lstStyle/>
          <a:p>
            <a:pPr algn="ctr"/>
            <a:r>
              <a:rPr sz="2000" b="0" i="0">
                <a:solidFill>
                  <a:srgbClr val="EEEEEE"/>
                </a:solidFill>
                <a:latin typeface="Helvetica Neue"/>
              </a:rPr>
              <a:t>One of engine 17's sensors is reporting bad data.</a:t>
            </a:r>
          </a:p>
        </p:txBody>
      </p:sp>
      <p:sp>
        <p:nvSpPr>
          <p:cNvPr id="5" name="TextBox 4"/>
          <p:cNvSpPr txBox="1"/>
          <p:nvPr/>
        </p:nvSpPr>
        <p:spPr>
          <a:xfrm>
            <a:off x="548640" y="4754880"/>
            <a:ext cx="10972800" cy="640080"/>
          </a:xfrm>
          <a:prstGeom prst="rect">
            <a:avLst/>
          </a:prstGeom>
          <a:noFill/>
        </p:spPr>
        <p:txBody>
          <a:bodyPr wrap="square" lIns="0" rIns="0" tIns="0" bIns="0" anchor="t">
            <a:spAutoFit/>
          </a:bodyPr>
          <a:lstStyle/>
          <a:p>
            <a:pPr algn="ctr"/>
            <a:r>
              <a:rPr sz="2400" b="1" i="0">
                <a:solidFill>
                  <a:srgbClr val="4FC3F7"/>
                </a:solidFill>
                <a:latin typeface="Helvetica Neue"/>
              </a:rPr>
              <a:t>Which sensor, and can your model tell you why?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822960"/>
          </a:xfrm>
          <a:prstGeom prst="rect">
            <a:avLst/>
          </a:prstGeom>
          <a:noFill/>
        </p:spPr>
        <p:txBody>
          <a:bodyPr wrap="square" lIns="0" rIns="0" tIns="0" bIns="0" anchor="t">
            <a:spAutoFit/>
          </a:bodyPr>
          <a:lstStyle/>
          <a:p>
            <a:pPr algn="l"/>
            <a:r>
              <a:rPr sz="3800" b="1" i="0">
                <a:solidFill>
                  <a:srgbClr val="4FC3F7"/>
                </a:solidFill>
                <a:latin typeface="Helvetica Neue"/>
              </a:rPr>
              <a:t>The scenario</a:t>
            </a:r>
          </a:p>
        </p:txBody>
      </p:sp>
      <p:sp>
        <p:nvSpPr>
          <p:cNvPr id="3" name="TextBox 2"/>
          <p:cNvSpPr txBox="1"/>
          <p:nvPr/>
        </p:nvSpPr>
        <p:spPr>
          <a:xfrm>
            <a:off x="548640" y="1737360"/>
            <a:ext cx="10972800" cy="1097280"/>
          </a:xfrm>
          <a:prstGeom prst="rect">
            <a:avLst/>
          </a:prstGeom>
          <a:noFill/>
        </p:spPr>
        <p:txBody>
          <a:bodyPr wrap="square" lIns="0" rIns="0" tIns="0" bIns="0" anchor="t">
            <a:spAutoFit/>
          </a:bodyPr>
          <a:lstStyle/>
          <a:p>
            <a:pPr algn="l"/>
            <a:r>
              <a:rPr sz="1800" b="0" i="0">
                <a:solidFill>
                  <a:srgbClr val="EEEEEE"/>
                </a:solidFill>
                <a:latin typeface="Helvetica Neue"/>
              </a:rPr>
              <a:t>You are the data science team at an airline. Maintenance ops sends you three suspicious test files for the same engine:</a:t>
            </a:r>
          </a:p>
        </p:txBody>
      </p:sp>
      <p:sp>
        <p:nvSpPr>
          <p:cNvPr id="4" name="Rectangle 3"/>
          <p:cNvSpPr/>
          <p:nvPr/>
        </p:nvSpPr>
        <p:spPr>
          <a:xfrm>
            <a:off x="731520" y="2926080"/>
            <a:ext cx="10698480" cy="1463040"/>
          </a:xfrm>
          <a:prstGeom prst="rect">
            <a:avLst/>
          </a:prstGeom>
          <a:solidFill>
            <a:srgbClr val="2A1F0A"/>
          </a:solidFill>
          <a:ln w="25400">
            <a:solidFill>
              <a:srgbClr val="FFB74D"/>
            </a:solidFill>
          </a:ln>
        </p:spPr>
        <p:style>
          <a:lnRef idx="1">
            <a:schemeClr val="accent1"/>
          </a:lnRef>
          <a:fillRef idx="3">
            <a:schemeClr val="accent1"/>
          </a:fillRef>
          <a:effectRef idx="2">
            <a:schemeClr val="accent1"/>
          </a:effectRef>
          <a:fontRef idx="minor">
            <a:schemeClr val="lt1"/>
          </a:fontRef>
        </p:style>
        <p:txBody>
          <a:bodyPr rtlCol="0" anchor="ctr" lIns="203200" tIns="152400" wrap="square"/>
          <a:lstStyle/>
          <a:p>
            <a:pPr algn="ctr"/>
            <a:r>
              <a:rPr sz="1600" i="1">
                <a:solidFill>
                  <a:srgbClr val="EEEEEE"/>
                </a:solidFill>
                <a:latin typeface="Helvetica Neue"/>
              </a:rPr>
              <a:t>Something is wrong with engine 17. The pattern looks like a sensor drift, a frozen sensor, or noise spikes, but we cannot tell which channel is at fault. Localize the faulty sensor before the next flight.</a:t>
            </a:r>
          </a:p>
        </p:txBody>
      </p:sp>
      <p:sp>
        <p:nvSpPr>
          <p:cNvPr id="5" name="TextBox 4"/>
          <p:cNvSpPr txBox="1"/>
          <p:nvPr/>
        </p:nvSpPr>
        <p:spPr>
          <a:xfrm>
            <a:off x="548640" y="4754880"/>
            <a:ext cx="10972800" cy="457200"/>
          </a:xfrm>
          <a:prstGeom prst="rect">
            <a:avLst/>
          </a:prstGeom>
          <a:noFill/>
        </p:spPr>
        <p:txBody>
          <a:bodyPr wrap="square" lIns="0" rIns="0" tIns="0" bIns="0" anchor="t">
            <a:spAutoFit/>
          </a:bodyPr>
          <a:lstStyle/>
          <a:p>
            <a:pPr algn="l"/>
            <a:r>
              <a:rPr sz="1600" b="1" i="0">
                <a:solidFill>
                  <a:srgbClr val="EEEEEE"/>
                </a:solidFill>
                <a:latin typeface="Helvetica Neue"/>
              </a:rPr>
              <a:t>Two models available to you:</a:t>
            </a:r>
          </a:p>
        </p:txBody>
      </p:sp>
      <p:sp>
        <p:nvSpPr>
          <p:cNvPr id="6" name="TextBox 5"/>
          <p:cNvSpPr txBox="1"/>
          <p:nvPr/>
        </p:nvSpPr>
        <p:spPr>
          <a:xfrm>
            <a:off x="822960" y="5303520"/>
            <a:ext cx="10972800" cy="1097280"/>
          </a:xfrm>
          <a:prstGeom prst="rect">
            <a:avLst/>
          </a:prstGeom>
          <a:noFill/>
        </p:spPr>
        <p:txBody>
          <a:bodyPr wrap="square" lIns="0" rIns="0" tIns="0" bIns="0" anchor="t">
            <a:spAutoFit/>
          </a:bodyPr>
          <a:lstStyle/>
          <a:p>
            <a:pPr algn="l">
              <a:lnSpc>
                <a:spcPct val="120000"/>
              </a:lnSpc>
            </a:pPr>
            <a:r>
              <a:rPr sz="1500" b="0" i="0">
                <a:solidFill>
                  <a:srgbClr val="81C784"/>
                </a:solidFill>
                <a:latin typeface="Helvetica Neue"/>
              </a:rPr>
              <a:t>• Your SoftDecisionTree from Activity 1, explainable</a:t>
            </a:r>
          </a:p>
          <a:p>
            <a:pPr algn="l">
              <a:lnSpc>
                <a:spcPct val="120000"/>
              </a:lnSpc>
            </a:pPr>
            <a:r>
              <a:rPr sz="1500" b="0" i="0">
                <a:solidFill>
                  <a:srgbClr val="FFB74D"/>
                </a:solidFill>
                <a:latin typeface="Helvetica Neue"/>
              </a:rPr>
              <a:t>• A RandomForest baseline, accurate but opaque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400" b="1" i="0">
                <a:solidFill>
                  <a:srgbClr val="4FC3F7"/>
                </a:solidFill>
                <a:latin typeface="Helvetica Neue"/>
              </a:rPr>
              <a:t>Teams</a:t>
            </a:r>
          </a:p>
        </p:txBody>
      </p:sp>
      <p:sp>
        <p:nvSpPr>
          <p:cNvPr id="3" name="TextBox 2"/>
          <p:cNvSpPr txBox="1"/>
          <p:nvPr/>
        </p:nvSpPr>
        <p:spPr>
          <a:xfrm>
            <a:off x="914400" y="2286000"/>
            <a:ext cx="10972800" cy="3200400"/>
          </a:xfrm>
          <a:prstGeom prst="rect">
            <a:avLst/>
          </a:prstGeom>
          <a:noFill/>
        </p:spPr>
        <p:txBody>
          <a:bodyPr wrap="square" lIns="0" rIns="0" tIns="0" bIns="0" anchor="t">
            <a:spAutoFit/>
          </a:bodyPr>
          <a:lstStyle/>
          <a:p>
            <a:pPr algn="l">
              <a:lnSpc>
                <a:spcPct val="120000"/>
              </a:lnSpc>
              <a:spcAft>
                <a:spcPts val="1200"/>
              </a:spcAft>
            </a:pPr>
            <a:r>
              <a:rPr sz="2000" b="0" i="0">
                <a:solidFill>
                  <a:srgbClr val="EEEEEE"/>
                </a:solidFill>
                <a:latin typeface="Helvetica Neue"/>
              </a:rPr>
              <a:t>• Form groups of 3 to 4 students</a:t>
            </a:r>
          </a:p>
          <a:p>
            <a:pPr algn="l">
              <a:lnSpc>
                <a:spcPct val="120000"/>
              </a:lnSpc>
              <a:spcAft>
                <a:spcPts val="1200"/>
              </a:spcAft>
            </a:pPr>
            <a:r>
              <a:rPr sz="2000" b="0" i="0">
                <a:solidFill>
                  <a:srgbClr val="EEEEEE"/>
                </a:solidFill>
                <a:latin typeface="Helvetica Neue"/>
              </a:rPr>
              <a:t>• Use the same notebook within your team</a:t>
            </a:r>
          </a:p>
          <a:p>
            <a:pPr algn="l">
              <a:lnSpc>
                <a:spcPct val="120000"/>
              </a:lnSpc>
              <a:spcAft>
                <a:spcPts val="1200"/>
              </a:spcAft>
            </a:pPr>
            <a:r>
              <a:rPr sz="2000" b="0" i="0">
                <a:solidFill>
                  <a:srgbClr val="EEEEEE"/>
                </a:solidFill>
                <a:latin typeface="Helvetica Neue"/>
              </a:rPr>
              <a:t>• You have 17 minutes for analysis</a:t>
            </a:r>
          </a:p>
          <a:p>
            <a:pPr algn="l">
              <a:lnSpc>
                <a:spcPct val="120000"/>
              </a:lnSpc>
              <a:spcAft>
                <a:spcPts val="1200"/>
              </a:spcAft>
            </a:pPr>
            <a:r>
              <a:rPr sz="2000" b="0" i="0">
                <a:solidFill>
                  <a:srgbClr val="EEEEEE"/>
                </a:solidFill>
                <a:latin typeface="Helvetica Neue"/>
              </a:rPr>
              <a:t>• Then we collect answers</a:t>
            </a:r>
          </a:p>
        </p:txBody>
      </p:sp>
      <p:sp>
        <p:nvSpPr>
          <p:cNvPr id="4" name="TextBox 3"/>
          <p:cNvSpPr txBox="1"/>
          <p:nvPr/>
        </p:nvSpPr>
        <p:spPr>
          <a:xfrm>
            <a:off x="548640" y="5486400"/>
            <a:ext cx="10972800" cy="731520"/>
          </a:xfrm>
          <a:prstGeom prst="rect">
            <a:avLst/>
          </a:prstGeom>
          <a:noFill/>
        </p:spPr>
        <p:txBody>
          <a:bodyPr wrap="square" lIns="0" rIns="0" tIns="0" bIns="0" anchor="t">
            <a:spAutoFit/>
          </a:bodyPr>
          <a:lstStyle/>
          <a:p>
            <a:pPr algn="ctr"/>
            <a:r>
              <a:rPr sz="2400" b="1" i="0">
                <a:solidFill>
                  <a:srgbClr val="4FC3F7"/>
                </a:solidFill>
                <a:latin typeface="Helvetica Neue"/>
              </a:rPr>
              <a:t>First team to correctly identify all three attacks wins.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000" b="1" i="0">
                <a:solidFill>
                  <a:srgbClr val="4FC3F7"/>
                </a:solidFill>
                <a:latin typeface="Helvetica Neue"/>
              </a:rPr>
              <a:t>Three attack files</a:t>
            </a:r>
          </a:p>
        </p:txBody>
      </p:sp>
      <p:graphicFrame>
        <p:nvGraphicFramePr>
          <p:cNvPr id="3" name="Table 2"/>
          <p:cNvGraphicFramePr>
            <a:graphicFrameLocks noGrp="1"/>
          </p:cNvGraphicFramePr>
          <p:nvPr/>
        </p:nvGraphicFramePr>
        <p:xfrm>
          <a:off x="914400" y="2194560"/>
          <a:ext cx="10332720" cy="2377440"/>
        </p:xfrm>
        <a:graphic>
          <a:graphicData uri="http://schemas.openxmlformats.org/drawingml/2006/table">
            <a:tbl>
              <a:tblPr firstRow="1" bandRow="1">
                <a:tableStyleId>{5C22544A-7EE6-4342-B048-85BDC9FD1C3A}</a:tableStyleId>
              </a:tblPr>
              <a:tblGrid>
                <a:gridCol w="2468880"/>
                <a:gridCol w="3931920"/>
                <a:gridCol w="3931920"/>
              </a:tblGrid>
              <a:tr h="594360">
                <a:tc>
                  <a:txBody>
                    <a:bodyPr/>
                    <a:lstStyle/>
                    <a:p>
                      <a:r>
                        <a:rPr sz="1600" b="1">
                          <a:solidFill>
                            <a:srgbClr val="4FC3F7"/>
                          </a:solidFill>
                          <a:latin typeface="Helvetica Neue"/>
                        </a:rPr>
                        <a:t>File</a:t>
                      </a:r>
                    </a:p>
                  </a:txBody>
                  <a:tcPr>
                    <a:solidFill>
                      <a:srgbClr val="1A1A1A"/>
                    </a:solidFill>
                  </a:tcPr>
                </a:tc>
                <a:tc>
                  <a:txBody>
                    <a:bodyPr/>
                    <a:lstStyle/>
                    <a:p>
                      <a:r>
                        <a:rPr sz="1600" b="1">
                          <a:solidFill>
                            <a:srgbClr val="4FC3F7"/>
                          </a:solidFill>
                          <a:latin typeface="Helvetica Neue"/>
                        </a:rPr>
                        <a:t>Attack type</a:t>
                      </a:r>
                    </a:p>
                  </a:txBody>
                  <a:tcPr>
                    <a:solidFill>
                      <a:srgbClr val="1A1A1A"/>
                    </a:solidFill>
                  </a:tcPr>
                </a:tc>
                <a:tc>
                  <a:txBody>
                    <a:bodyPr/>
                    <a:lstStyle/>
                    <a:p>
                      <a:r>
                        <a:rPr sz="1600" b="1">
                          <a:solidFill>
                            <a:srgbClr val="4FC3F7"/>
                          </a:solidFill>
                          <a:latin typeface="Helvetica Neue"/>
                        </a:rPr>
                        <a:t>Your job</a:t>
                      </a:r>
                    </a:p>
                  </a:txBody>
                  <a:tcPr>
                    <a:solidFill>
                      <a:srgbClr val="1A1A1A"/>
                    </a:solidFill>
                  </a:tcPr>
                </a:tc>
              </a:tr>
              <a:tr h="594360">
                <a:tc>
                  <a:txBody>
                    <a:bodyPr/>
                    <a:lstStyle/>
                    <a:p>
                      <a:r>
                        <a:rPr sz="1500">
                          <a:solidFill>
                            <a:srgbClr val="EEEEEE"/>
                          </a:solidFill>
                          <a:latin typeface="Menlo"/>
                        </a:rPr>
                        <a:t>attack_A.csv</a:t>
                      </a:r>
                    </a:p>
                  </a:txBody>
                  <a:tcPr>
                    <a:solidFill>
                      <a:srgbClr val="0A0A0A"/>
                    </a:solidFill>
                  </a:tcPr>
                </a:tc>
                <a:tc>
                  <a:txBody>
                    <a:bodyPr/>
                    <a:lstStyle/>
                    <a:p>
                      <a:r>
                        <a:rPr sz="1500">
                          <a:solidFill>
                            <a:srgbClr val="EEEEEE"/>
                          </a:solidFill>
                          <a:latin typeface="Helvetica Neue"/>
                        </a:rPr>
                        <a:t>Drift (constant offset)</a:t>
                      </a:r>
                    </a:p>
                  </a:txBody>
                  <a:tcPr>
                    <a:solidFill>
                      <a:srgbClr val="0A0A0A"/>
                    </a:solidFill>
                  </a:tcPr>
                </a:tc>
                <a:tc>
                  <a:txBody>
                    <a:bodyPr/>
                    <a:lstStyle/>
                    <a:p>
                      <a:r>
                        <a:rPr sz="1500">
                          <a:solidFill>
                            <a:srgbClr val="EEEEEE"/>
                          </a:solidFill>
                          <a:latin typeface="Helvetica Neue"/>
                        </a:rPr>
                        <a:t>Which sensor?</a:t>
                      </a:r>
                    </a:p>
                  </a:txBody>
                  <a:tcPr>
                    <a:solidFill>
                      <a:srgbClr val="0A0A0A"/>
                    </a:solidFill>
                  </a:tcPr>
                </a:tc>
              </a:tr>
              <a:tr h="594360">
                <a:tc>
                  <a:txBody>
                    <a:bodyPr/>
                    <a:lstStyle/>
                    <a:p>
                      <a:r>
                        <a:rPr sz="1500">
                          <a:solidFill>
                            <a:srgbClr val="EEEEEE"/>
                          </a:solidFill>
                          <a:latin typeface="Menlo"/>
                        </a:rPr>
                        <a:t>attack_B.csv</a:t>
                      </a:r>
                    </a:p>
                  </a:txBody>
                  <a:tcPr>
                    <a:solidFill>
                      <a:srgbClr val="0A0A0A"/>
                    </a:solidFill>
                  </a:tcPr>
                </a:tc>
                <a:tc>
                  <a:txBody>
                    <a:bodyPr/>
                    <a:lstStyle/>
                    <a:p>
                      <a:r>
                        <a:rPr sz="1500">
                          <a:solidFill>
                            <a:srgbClr val="EEEEEE"/>
                          </a:solidFill>
                          <a:latin typeface="Helvetica Neue"/>
                        </a:rPr>
                        <a:t>Stuck-at (frozen value)</a:t>
                      </a:r>
                    </a:p>
                  </a:txBody>
                  <a:tcPr>
                    <a:solidFill>
                      <a:srgbClr val="0A0A0A"/>
                    </a:solidFill>
                  </a:tcPr>
                </a:tc>
                <a:tc>
                  <a:txBody>
                    <a:bodyPr/>
                    <a:lstStyle/>
                    <a:p>
                      <a:r>
                        <a:rPr sz="1500">
                          <a:solidFill>
                            <a:srgbClr val="EEEEEE"/>
                          </a:solidFill>
                          <a:latin typeface="Helvetica Neue"/>
                        </a:rPr>
                        <a:t>Which sensor?</a:t>
                      </a:r>
                    </a:p>
                  </a:txBody>
                  <a:tcPr>
                    <a:solidFill>
                      <a:srgbClr val="0A0A0A"/>
                    </a:solidFill>
                  </a:tcPr>
                </a:tc>
              </a:tr>
              <a:tr h="594360">
                <a:tc>
                  <a:txBody>
                    <a:bodyPr/>
                    <a:lstStyle/>
                    <a:p>
                      <a:r>
                        <a:rPr sz="1500">
                          <a:solidFill>
                            <a:srgbClr val="EEEEEE"/>
                          </a:solidFill>
                          <a:latin typeface="Menlo"/>
                        </a:rPr>
                        <a:t>attack_C.csv</a:t>
                      </a:r>
                    </a:p>
                  </a:txBody>
                  <a:tcPr>
                    <a:solidFill>
                      <a:srgbClr val="0A0A0A"/>
                    </a:solidFill>
                  </a:tcPr>
                </a:tc>
                <a:tc>
                  <a:txBody>
                    <a:bodyPr/>
                    <a:lstStyle/>
                    <a:p>
                      <a:r>
                        <a:rPr sz="1500">
                          <a:solidFill>
                            <a:srgbClr val="EEEEEE"/>
                          </a:solidFill>
                          <a:latin typeface="Helvetica Neue"/>
                        </a:rPr>
                        <a:t>Gaussian noise injection</a:t>
                      </a:r>
                    </a:p>
                  </a:txBody>
                  <a:tcPr>
                    <a:solidFill>
                      <a:srgbClr val="0A0A0A"/>
                    </a:solidFill>
                  </a:tcPr>
                </a:tc>
                <a:tc>
                  <a:txBody>
                    <a:bodyPr/>
                    <a:lstStyle/>
                    <a:p>
                      <a:r>
                        <a:rPr sz="1500">
                          <a:solidFill>
                            <a:srgbClr val="EEEEEE"/>
                          </a:solidFill>
                          <a:latin typeface="Helvetica Neue"/>
                        </a:rPr>
                        <a:t>Which sensor?</a:t>
                      </a:r>
                    </a:p>
                  </a:txBody>
                  <a:tcPr>
                    <a:solidFill>
                      <a:srgbClr val="0A0A0A"/>
                    </a:solidFill>
                  </a:tcPr>
                </a:tc>
              </a:tr>
            </a:tbl>
          </a:graphicData>
        </a:graphic>
      </p:graphicFrame>
      <p:sp>
        <p:nvSpPr>
          <p:cNvPr id="4" name="TextBox 3"/>
          <p:cNvSpPr txBox="1"/>
          <p:nvPr/>
        </p:nvSpPr>
        <p:spPr>
          <a:xfrm>
            <a:off x="548640" y="5120640"/>
            <a:ext cx="10972800" cy="548640"/>
          </a:xfrm>
          <a:prstGeom prst="rect">
            <a:avLst/>
          </a:prstGeom>
          <a:noFill/>
        </p:spPr>
        <p:txBody>
          <a:bodyPr wrap="square" lIns="0" rIns="0" tIns="0" bIns="0" anchor="t">
            <a:spAutoFit/>
          </a:bodyPr>
          <a:lstStyle/>
          <a:p>
            <a:pPr algn="ctr"/>
            <a:r>
              <a:rPr sz="1500" b="0" i="1">
                <a:solidFill>
                  <a:srgbClr val="BBBBBB"/>
                </a:solidFill>
                <a:latin typeface="Helvetica Neue"/>
              </a:rPr>
              <a:t>Each file is a copy of clean engine 17 data, but one sensor channel has been manipulated.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1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Add a RandomForest baseline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from sklearn.ensemble import RandomForestClassifier</a:t>
            </a:r>
          </a:p>
          <a:p>
            <a:pPr algn="l">
              <a:lnSpc>
                <a:spcPct val="120000"/>
              </a:lnSpc>
            </a:pPr>
            <a:r>
              <a:rPr sz="1100">
                <a:solidFill>
                  <a:srgbClr val="EEEEEE"/>
                </a:solidFill>
                <a:latin typeface="Menlo"/>
              </a:rPr>
              <a:t>rf = RandomForestClassifier(</a:t>
            </a:r>
          </a:p>
          <a:p>
            <a:pPr algn="l">
              <a:lnSpc>
                <a:spcPct val="120000"/>
              </a:lnSpc>
            </a:pPr>
            <a:r>
              <a:rPr sz="1100">
                <a:solidFill>
                  <a:srgbClr val="EEEEEE"/>
                </a:solidFill>
                <a:latin typeface="Menlo"/>
              </a:rPr>
              <a:t>    n_estimators=100, random_state=42</a:t>
            </a:r>
          </a:p>
          <a:p>
            <a:pPr algn="l">
              <a:lnSpc>
                <a:spcPct val="120000"/>
              </a:lnSpc>
            </a:pPr>
            <a:r>
              <a:rPr sz="1100">
                <a:solidFill>
                  <a:srgbClr val="EEEEEE"/>
                </a:solidFill>
                <a:latin typeface="Menlo"/>
              </a:rPr>
              <a:t>).fit(X_train, y_train)</a:t>
            </a:r>
          </a:p>
          <a:p>
            <a:pPr algn="l">
              <a:lnSpc>
                <a:spcPct val="120000"/>
              </a:lnSpc>
            </a:pPr>
            <a:r>
              <a:rPr sz="1100">
                <a:solidFill>
                  <a:srgbClr val="EEEEEE"/>
                </a:solidFill>
                <a:latin typeface="Menlo"/>
              </a:rPr>
              <a:t> </a:t>
            </a:r>
          </a:p>
          <a:p>
            <a:pPr algn="l">
              <a:lnSpc>
                <a:spcPct val="120000"/>
              </a:lnSpc>
            </a:pPr>
            <a:r>
              <a:rPr sz="1100">
                <a:solidFill>
                  <a:srgbClr val="EEEEEE"/>
                </a:solidFill>
                <a:latin typeface="Menlo"/>
              </a:rPr>
              <a:t>print(f'SoftTree accuracy: '</a:t>
            </a:r>
          </a:p>
          <a:p>
            <a:pPr algn="l">
              <a:lnSpc>
                <a:spcPct val="120000"/>
              </a:lnSpc>
            </a:pPr>
            <a:r>
              <a:rPr sz="1100">
                <a:solidFill>
                  <a:srgbClr val="EEEEEE"/>
                </a:solidFill>
                <a:latin typeface="Menlo"/>
              </a:rPr>
              <a:t>      f'{(tree.predict(X_test) == y_test).mean():.3f}')</a:t>
            </a:r>
          </a:p>
          <a:p>
            <a:pPr algn="l">
              <a:lnSpc>
                <a:spcPct val="120000"/>
              </a:lnSpc>
            </a:pPr>
            <a:r>
              <a:rPr sz="1100">
                <a:solidFill>
                  <a:srgbClr val="EEEEEE"/>
                </a:solidFill>
                <a:latin typeface="Menlo"/>
              </a:rPr>
              <a:t>print(f'RandomForest      : '</a:t>
            </a:r>
          </a:p>
          <a:p>
            <a:pPr algn="l">
              <a:lnSpc>
                <a:spcPct val="120000"/>
              </a:lnSpc>
            </a:pPr>
            <a:r>
              <a:rPr sz="1100">
                <a:solidFill>
                  <a:srgbClr val="EEEEEE"/>
                </a:solidFill>
                <a:latin typeface="Menlo"/>
              </a:rPr>
              <a:t>      f'{(rf.predict(X_test) == y_test).mean():.3f}')</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SoftTree accuracy: 0.841</a:t>
            </a:r>
          </a:p>
          <a:p>
            <a:r>
              <a:rPr sz="1200">
                <a:solidFill>
                  <a:srgbClr val="D8E8D8"/>
                </a:solidFill>
                <a:latin typeface="Menlo"/>
              </a:rPr>
              <a:t>RandomForest      : 0.843</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Two models, nearly identical accuracy. One is explainable. One is not.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2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Predict on clean engine 17</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clean = pd.read_csv('engine17_clean.csv')</a:t>
            </a:r>
          </a:p>
          <a:p>
            <a:pPr algn="l">
              <a:lnSpc>
                <a:spcPct val="120000"/>
              </a:lnSpc>
            </a:pPr>
            <a:r>
              <a:rPr sz="1100">
                <a:solidFill>
                  <a:srgbClr val="EEEEEE"/>
                </a:solidFill>
                <a:latin typeface="Menlo"/>
              </a:rPr>
              <a:t>Xc = scaler.transform(clean[informative].values)</a:t>
            </a:r>
          </a:p>
          <a:p>
            <a:pPr algn="l">
              <a:lnSpc>
                <a:spcPct val="120000"/>
              </a:lnSpc>
            </a:pPr>
            <a:r>
              <a:rPr sz="1100">
                <a:solidFill>
                  <a:srgbClr val="EEEEEE"/>
                </a:solidFill>
                <a:latin typeface="Menlo"/>
              </a:rPr>
              <a:t>clean_tree_pred = tree.predict(Xc)</a:t>
            </a:r>
          </a:p>
          <a:p>
            <a:pPr algn="l">
              <a:lnSpc>
                <a:spcPct val="120000"/>
              </a:lnSpc>
            </a:pPr>
            <a:r>
              <a:rPr sz="1100">
                <a:solidFill>
                  <a:srgbClr val="EEEEEE"/>
                </a:solidFill>
                <a:latin typeface="Menlo"/>
              </a:rPr>
              <a:t>clean_rf_pred = rf.predict(Xc)</a:t>
            </a:r>
          </a:p>
          <a:p>
            <a:pPr algn="l">
              <a:lnSpc>
                <a:spcPct val="120000"/>
              </a:lnSpc>
            </a:pPr>
            <a:r>
              <a:rPr sz="1100">
                <a:solidFill>
                  <a:srgbClr val="EEEEEE"/>
                </a:solidFill>
                <a:latin typeface="Menlo"/>
              </a:rPr>
              <a:t> </a:t>
            </a:r>
          </a:p>
          <a:p>
            <a:pPr algn="l">
              <a:lnSpc>
                <a:spcPct val="120000"/>
              </a:lnSpc>
            </a:pPr>
            <a:r>
              <a:rPr sz="1100">
                <a:solidFill>
                  <a:srgbClr val="EEEEEE"/>
                </a:solidFill>
                <a:latin typeface="Menlo"/>
              </a:rPr>
              <a:t>print(f'Engine 17 clean: {len(Xc)} cycles')</a:t>
            </a:r>
          </a:p>
          <a:p>
            <a:pPr algn="l">
              <a:lnSpc>
                <a:spcPct val="120000"/>
              </a:lnSpc>
            </a:pPr>
            <a:r>
              <a:rPr sz="1100">
                <a:solidFill>
                  <a:srgbClr val="EEEEEE"/>
                </a:solidFill>
                <a:latin typeface="Menlo"/>
              </a:rPr>
              <a:t>print(f'Tree vs RF agreement: '</a:t>
            </a:r>
          </a:p>
          <a:p>
            <a:pPr algn="l">
              <a:lnSpc>
                <a:spcPct val="120000"/>
              </a:lnSpc>
            </a:pPr>
            <a:r>
              <a:rPr sz="1100">
                <a:solidFill>
                  <a:srgbClr val="EEEEEE"/>
                </a:solidFill>
                <a:latin typeface="Menlo"/>
              </a:rPr>
              <a:t>      f'{(clean_tree_pred == clean_rf_pred).mean():.2f}')</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Engine 17 clean: 276 cycles</a:t>
            </a:r>
          </a:p>
          <a:p>
            <a:r>
              <a:rPr sz="1200">
                <a:solidFill>
                  <a:srgbClr val="D8E8D8"/>
                </a:solidFill>
                <a:latin typeface="Menlo"/>
              </a:rPr>
              <a:t>Tree vs RF agreement: 0.95</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95% agreement on clean data. The two models say roughly the same thing.</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3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How much did each attack move the predictions?</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for fname in ['attack_A.csv', 'attack_B.csv', 'attack_C.csv']:</a:t>
            </a:r>
          </a:p>
          <a:p>
            <a:pPr algn="l">
              <a:lnSpc>
                <a:spcPct val="120000"/>
              </a:lnSpc>
            </a:pPr>
            <a:r>
              <a:rPr sz="1100">
                <a:solidFill>
                  <a:srgbClr val="EEEEEE"/>
                </a:solidFill>
                <a:latin typeface="Menlo"/>
              </a:rPr>
              <a:t>    df = pd.read_csv(fname)</a:t>
            </a:r>
          </a:p>
          <a:p>
            <a:pPr algn="l">
              <a:lnSpc>
                <a:spcPct val="120000"/>
              </a:lnSpc>
            </a:pPr>
            <a:r>
              <a:rPr sz="1100">
                <a:solidFill>
                  <a:srgbClr val="EEEEEE"/>
                </a:solidFill>
                <a:latin typeface="Menlo"/>
              </a:rPr>
              <a:t>    Xa = scaler.transform(df[informative].values)</a:t>
            </a:r>
          </a:p>
          <a:p>
            <a:pPr algn="l">
              <a:lnSpc>
                <a:spcPct val="120000"/>
              </a:lnSpc>
            </a:pPr>
            <a:r>
              <a:rPr sz="1100">
                <a:solidFill>
                  <a:srgbClr val="EEEEEE"/>
                </a:solidFill>
                <a:latin typeface="Menlo"/>
              </a:rPr>
              <a:t>    pt = tree.predict(Xa)</a:t>
            </a:r>
          </a:p>
          <a:p>
            <a:pPr algn="l">
              <a:lnSpc>
                <a:spcPct val="120000"/>
              </a:lnSpc>
            </a:pPr>
            <a:r>
              <a:rPr sz="1100">
                <a:solidFill>
                  <a:srgbClr val="EEEEEE"/>
                </a:solidFill>
                <a:latin typeface="Menlo"/>
              </a:rPr>
              <a:t>    pr = rf.predict(Xa)</a:t>
            </a:r>
          </a:p>
          <a:p>
            <a:pPr algn="l">
              <a:lnSpc>
                <a:spcPct val="120000"/>
              </a:lnSpc>
            </a:pPr>
            <a:r>
              <a:rPr sz="1100">
                <a:solidFill>
                  <a:srgbClr val="EEEEEE"/>
                </a:solidFill>
                <a:latin typeface="Menlo"/>
              </a:rPr>
              <a:t>    print(f'{fname}: '</a:t>
            </a:r>
          </a:p>
          <a:p>
            <a:pPr algn="l">
              <a:lnSpc>
                <a:spcPct val="120000"/>
              </a:lnSpc>
            </a:pPr>
            <a:r>
              <a:rPr sz="1100">
                <a:solidFill>
                  <a:srgbClr val="EEEEEE"/>
                </a:solidFill>
                <a:latin typeface="Menlo"/>
              </a:rPr>
              <a:t>          f'Tree {(pt != clean_tree_pred).sum():3d}/{len(pt)} | '</a:t>
            </a:r>
          </a:p>
          <a:p>
            <a:pPr algn="l">
              <a:lnSpc>
                <a:spcPct val="120000"/>
              </a:lnSpc>
            </a:pPr>
            <a:r>
              <a:rPr sz="1100">
                <a:solidFill>
                  <a:srgbClr val="EEEEEE"/>
                </a:solidFill>
                <a:latin typeface="Menlo"/>
              </a:rPr>
              <a:t>          f'RF {(pr != clean_rf_pred).sum():3d}/{len(pr)}')</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attack_A.csv: Tree  18/276 | RF  14/276</a:t>
            </a:r>
          </a:p>
          <a:p>
            <a:r>
              <a:rPr sz="1200">
                <a:solidFill>
                  <a:srgbClr val="D8E8D8"/>
                </a:solidFill>
                <a:latin typeface="Menlo"/>
              </a:rPr>
              <a:t>attack_B.csv: Tree  33/276 | RF   8/276</a:t>
            </a:r>
          </a:p>
          <a:p>
            <a:r>
              <a:rPr sz="1200">
                <a:solidFill>
                  <a:srgbClr val="D8E8D8"/>
                </a:solidFill>
                <a:latin typeface="Menlo"/>
              </a:rPr>
              <a:t>attack_C.csv: Tree   8/276 | RF   1/276</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Attack C: RF changed at only 1 cycle. It is missing the attack. The Soft Tree caught 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4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Attack A. Look for two parallel lines</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clean = pd.read_csv('engine17_clean.csv')</a:t>
            </a:r>
          </a:p>
          <a:p>
            <a:pPr algn="l">
              <a:lnSpc>
                <a:spcPct val="120000"/>
              </a:lnSpc>
            </a:pPr>
            <a:r>
              <a:rPr sz="1100">
                <a:solidFill>
                  <a:srgbClr val="EEEEEE"/>
                </a:solidFill>
                <a:latin typeface="Menlo"/>
              </a:rPr>
              <a:t>attack = pd.read_csv('attack_A.csv')</a:t>
            </a:r>
          </a:p>
          <a:p>
            <a:pPr algn="l">
              <a:lnSpc>
                <a:spcPct val="120000"/>
              </a:lnSpc>
            </a:pPr>
            <a:r>
              <a:rPr sz="1100">
                <a:solidFill>
                  <a:srgbClr val="EEEEEE"/>
                </a:solidFill>
                <a:latin typeface="Menlo"/>
              </a:rPr>
              <a:t>fig, axes = plt.subplots(4, 4, figsize=(16, 10))</a:t>
            </a:r>
          </a:p>
          <a:p>
            <a:pPr algn="l">
              <a:lnSpc>
                <a:spcPct val="120000"/>
              </a:lnSpc>
            </a:pPr>
            <a:r>
              <a:rPr sz="1100">
                <a:solidFill>
                  <a:srgbClr val="EEEEEE"/>
                </a:solidFill>
                <a:latin typeface="Menlo"/>
              </a:rPr>
              <a:t>for ax, s in zip(axes.flat, informative):</a:t>
            </a:r>
          </a:p>
          <a:p>
            <a:pPr algn="l">
              <a:lnSpc>
                <a:spcPct val="120000"/>
              </a:lnSpc>
            </a:pPr>
            <a:r>
              <a:rPr sz="1100">
                <a:solidFill>
                  <a:srgbClr val="EEEEEE"/>
                </a:solidFill>
                <a:latin typeface="Menlo"/>
              </a:rPr>
              <a:t>    ax.plot(clean['cycle'], clean[s],</a:t>
            </a:r>
          </a:p>
          <a:p>
            <a:pPr algn="l">
              <a:lnSpc>
                <a:spcPct val="120000"/>
              </a:lnSpc>
            </a:pPr>
            <a:r>
              <a:rPr sz="1100">
                <a:solidFill>
                  <a:srgbClr val="EEEEEE"/>
                </a:solidFill>
                <a:latin typeface="Menlo"/>
              </a:rPr>
              <a:t>            label='clean', alpha=0.7)</a:t>
            </a:r>
          </a:p>
          <a:p>
            <a:pPr algn="l">
              <a:lnSpc>
                <a:spcPct val="120000"/>
              </a:lnSpc>
            </a:pPr>
            <a:r>
              <a:rPr sz="1100">
                <a:solidFill>
                  <a:srgbClr val="EEEEEE"/>
                </a:solidFill>
                <a:latin typeface="Menlo"/>
              </a:rPr>
              <a:t>    ax.plot(attack['cycle'], attack[s],</a:t>
            </a:r>
          </a:p>
          <a:p>
            <a:pPr algn="l">
              <a:lnSpc>
                <a:spcPct val="120000"/>
              </a:lnSpc>
            </a:pPr>
            <a:r>
              <a:rPr sz="1100">
                <a:solidFill>
                  <a:srgbClr val="EEEEEE"/>
                </a:solidFill>
                <a:latin typeface="Menlo"/>
              </a:rPr>
              <a:t>            label='attack', alpha=0.7)</a:t>
            </a:r>
          </a:p>
          <a:p>
            <a:pPr algn="l">
              <a:lnSpc>
                <a:spcPct val="120000"/>
              </a:lnSpc>
            </a:pPr>
            <a:r>
              <a:rPr sz="1100">
                <a:solidFill>
                  <a:srgbClr val="EEEEEE"/>
                </a:solidFill>
                <a:latin typeface="Menlo"/>
              </a:rPr>
              <a:t>    ax.set_title(s)</a:t>
            </a:r>
          </a:p>
          <a:p>
            <a:pPr algn="l">
              <a:lnSpc>
                <a:spcPct val="120000"/>
              </a:lnSpc>
            </a:pPr>
            <a:r>
              <a:rPr sz="1100">
                <a:solidFill>
                  <a:srgbClr val="EEEEEE"/>
                </a:solidFill>
                <a:latin typeface="Menlo"/>
              </a:rPr>
              <a:t>axes.flat[0].legend()</a:t>
            </a:r>
          </a:p>
          <a:p>
            <a:pPr algn="l">
              <a:lnSpc>
                <a:spcPct val="120000"/>
              </a:lnSpc>
            </a:pPr>
            <a:r>
              <a:rPr sz="1100">
                <a:solidFill>
                  <a:srgbClr val="EEEEEE"/>
                </a:solidFill>
                <a:latin typeface="Menlo"/>
              </a:rPr>
              <a:t>plt.tight_layout(); plt.show()</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attack_A.png"/>
          <p:cNvPicPr>
            <a:picLocks noChangeAspect="1"/>
          </p:cNvPicPr>
          <p:nvPr/>
        </p:nvPicPr>
        <p:blipFill>
          <a:blip r:embed="rId2"/>
          <a:stretch>
            <a:fillRect/>
          </a:stretch>
        </p:blipFill>
        <p:spPr>
          <a:xfrm>
            <a:off x="7040880" y="2240280"/>
            <a:ext cx="4937760" cy="3210028"/>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One sensor shows the orange line shifted up by a constant offset. Answer: s11 (drift).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5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Attack B. Look for a flat horizontal line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attack = pd.read_csv('attack_B.csv')</a:t>
            </a:r>
          </a:p>
          <a:p>
            <a:pPr algn="l">
              <a:lnSpc>
                <a:spcPct val="120000"/>
              </a:lnSpc>
            </a:pPr>
            <a:r>
              <a:rPr sz="1100">
                <a:solidFill>
                  <a:srgbClr val="EEEEEE"/>
                </a:solidFill>
                <a:latin typeface="Menlo"/>
              </a:rPr>
              <a:t>fig, axes = plt.subplots(4, 4, figsize=(16, 10))</a:t>
            </a:r>
          </a:p>
          <a:p>
            <a:pPr algn="l">
              <a:lnSpc>
                <a:spcPct val="120000"/>
              </a:lnSpc>
            </a:pPr>
            <a:r>
              <a:rPr sz="1100">
                <a:solidFill>
                  <a:srgbClr val="EEEEEE"/>
                </a:solidFill>
                <a:latin typeface="Menlo"/>
              </a:rPr>
              <a:t>for ax, s in zip(axes.flat, informative):</a:t>
            </a:r>
          </a:p>
          <a:p>
            <a:pPr algn="l">
              <a:lnSpc>
                <a:spcPct val="120000"/>
              </a:lnSpc>
            </a:pPr>
            <a:r>
              <a:rPr sz="1100">
                <a:solidFill>
                  <a:srgbClr val="EEEEEE"/>
                </a:solidFill>
                <a:latin typeface="Menlo"/>
              </a:rPr>
              <a:t>    ax.plot(clean['cycle'], clean[s],</a:t>
            </a:r>
          </a:p>
          <a:p>
            <a:pPr algn="l">
              <a:lnSpc>
                <a:spcPct val="120000"/>
              </a:lnSpc>
            </a:pPr>
            <a:r>
              <a:rPr sz="1100">
                <a:solidFill>
                  <a:srgbClr val="EEEEEE"/>
                </a:solidFill>
                <a:latin typeface="Menlo"/>
              </a:rPr>
              <a:t>            label='clean', alpha=0.7)</a:t>
            </a:r>
          </a:p>
          <a:p>
            <a:pPr algn="l">
              <a:lnSpc>
                <a:spcPct val="120000"/>
              </a:lnSpc>
            </a:pPr>
            <a:r>
              <a:rPr sz="1100">
                <a:solidFill>
                  <a:srgbClr val="EEEEEE"/>
                </a:solidFill>
                <a:latin typeface="Menlo"/>
              </a:rPr>
              <a:t>    ax.plot(attack['cycle'], attack[s],</a:t>
            </a:r>
          </a:p>
          <a:p>
            <a:pPr algn="l">
              <a:lnSpc>
                <a:spcPct val="120000"/>
              </a:lnSpc>
            </a:pPr>
            <a:r>
              <a:rPr sz="1100">
                <a:solidFill>
                  <a:srgbClr val="EEEEEE"/>
                </a:solidFill>
                <a:latin typeface="Menlo"/>
              </a:rPr>
              <a:t>            label='attack', alpha=0.7)</a:t>
            </a:r>
          </a:p>
          <a:p>
            <a:pPr algn="l">
              <a:lnSpc>
                <a:spcPct val="120000"/>
              </a:lnSpc>
            </a:pPr>
            <a:r>
              <a:rPr sz="1100">
                <a:solidFill>
                  <a:srgbClr val="EEEEEE"/>
                </a:solidFill>
                <a:latin typeface="Menlo"/>
              </a:rPr>
              <a:t>    ax.set_title(s)</a:t>
            </a:r>
          </a:p>
          <a:p>
            <a:pPr algn="l">
              <a:lnSpc>
                <a:spcPct val="120000"/>
              </a:lnSpc>
            </a:pPr>
            <a:r>
              <a:rPr sz="1100">
                <a:solidFill>
                  <a:srgbClr val="EEEEEE"/>
                </a:solidFill>
                <a:latin typeface="Menlo"/>
              </a:rPr>
              <a:t>axes.flat[0].legend()</a:t>
            </a:r>
          </a:p>
          <a:p>
            <a:pPr algn="l">
              <a:lnSpc>
                <a:spcPct val="120000"/>
              </a:lnSpc>
            </a:pPr>
            <a:r>
              <a:rPr sz="1100">
                <a:solidFill>
                  <a:srgbClr val="EEEEEE"/>
                </a:solidFill>
                <a:latin typeface="Menlo"/>
              </a:rPr>
              <a:t>plt.tight_layout(); plt.show()</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attack_B.png"/>
          <p:cNvPicPr>
            <a:picLocks noChangeAspect="1"/>
          </p:cNvPicPr>
          <p:nvPr/>
        </p:nvPicPr>
        <p:blipFill>
          <a:blip r:embed="rId2"/>
          <a:stretch>
            <a:fillRect/>
          </a:stretch>
        </p:blipFill>
        <p:spPr>
          <a:xfrm>
            <a:off x="7040880" y="2240280"/>
            <a:ext cx="4937760" cy="3210028"/>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One sensor's orange line is flat while blue rises. Stuck-at. Answer: s14 (stuck-at).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6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Attack C. Look for a noisier line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attack = pd.read_csv('attack_C.csv')</a:t>
            </a:r>
          </a:p>
          <a:p>
            <a:pPr algn="l">
              <a:lnSpc>
                <a:spcPct val="120000"/>
              </a:lnSpc>
            </a:pPr>
            <a:r>
              <a:rPr sz="1100">
                <a:solidFill>
                  <a:srgbClr val="EEEEEE"/>
                </a:solidFill>
                <a:latin typeface="Menlo"/>
              </a:rPr>
              <a:t>fig, axes = plt.subplots(4, 4, figsize=(16, 10))</a:t>
            </a:r>
          </a:p>
          <a:p>
            <a:pPr algn="l">
              <a:lnSpc>
                <a:spcPct val="120000"/>
              </a:lnSpc>
            </a:pPr>
            <a:r>
              <a:rPr sz="1100">
                <a:solidFill>
                  <a:srgbClr val="EEEEEE"/>
                </a:solidFill>
                <a:latin typeface="Menlo"/>
              </a:rPr>
              <a:t>for ax, s in zip(axes.flat, informative):</a:t>
            </a:r>
          </a:p>
          <a:p>
            <a:pPr algn="l">
              <a:lnSpc>
                <a:spcPct val="120000"/>
              </a:lnSpc>
            </a:pPr>
            <a:r>
              <a:rPr sz="1100">
                <a:solidFill>
                  <a:srgbClr val="EEEEEE"/>
                </a:solidFill>
                <a:latin typeface="Menlo"/>
              </a:rPr>
              <a:t>    ax.plot(clean['cycle'], clean[s],</a:t>
            </a:r>
          </a:p>
          <a:p>
            <a:pPr algn="l">
              <a:lnSpc>
                <a:spcPct val="120000"/>
              </a:lnSpc>
            </a:pPr>
            <a:r>
              <a:rPr sz="1100">
                <a:solidFill>
                  <a:srgbClr val="EEEEEE"/>
                </a:solidFill>
                <a:latin typeface="Menlo"/>
              </a:rPr>
              <a:t>            label='clean', alpha=0.7)</a:t>
            </a:r>
          </a:p>
          <a:p>
            <a:pPr algn="l">
              <a:lnSpc>
                <a:spcPct val="120000"/>
              </a:lnSpc>
            </a:pPr>
            <a:r>
              <a:rPr sz="1100">
                <a:solidFill>
                  <a:srgbClr val="EEEEEE"/>
                </a:solidFill>
                <a:latin typeface="Menlo"/>
              </a:rPr>
              <a:t>    ax.plot(attack['cycle'], attack[s],</a:t>
            </a:r>
          </a:p>
          <a:p>
            <a:pPr algn="l">
              <a:lnSpc>
                <a:spcPct val="120000"/>
              </a:lnSpc>
            </a:pPr>
            <a:r>
              <a:rPr sz="1100">
                <a:solidFill>
                  <a:srgbClr val="EEEEEE"/>
                </a:solidFill>
                <a:latin typeface="Menlo"/>
              </a:rPr>
              <a:t>            label='attack', alpha=0.7)</a:t>
            </a:r>
          </a:p>
          <a:p>
            <a:pPr algn="l">
              <a:lnSpc>
                <a:spcPct val="120000"/>
              </a:lnSpc>
            </a:pPr>
            <a:r>
              <a:rPr sz="1100">
                <a:solidFill>
                  <a:srgbClr val="EEEEEE"/>
                </a:solidFill>
                <a:latin typeface="Menlo"/>
              </a:rPr>
              <a:t>    ax.set_title(s)</a:t>
            </a:r>
          </a:p>
          <a:p>
            <a:pPr algn="l">
              <a:lnSpc>
                <a:spcPct val="120000"/>
              </a:lnSpc>
            </a:pPr>
            <a:r>
              <a:rPr sz="1100">
                <a:solidFill>
                  <a:srgbClr val="EEEEEE"/>
                </a:solidFill>
                <a:latin typeface="Menlo"/>
              </a:rPr>
              <a:t>axes.flat[0].legend()</a:t>
            </a:r>
          </a:p>
          <a:p>
            <a:pPr algn="l">
              <a:lnSpc>
                <a:spcPct val="120000"/>
              </a:lnSpc>
            </a:pPr>
            <a:r>
              <a:rPr sz="1100">
                <a:solidFill>
                  <a:srgbClr val="EEEEEE"/>
                </a:solidFill>
                <a:latin typeface="Menlo"/>
              </a:rPr>
              <a:t>plt.tight_layout(); plt.show()</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pic>
        <p:nvPicPr>
          <p:cNvPr id="7" name="Picture 6" descr="attack_C.png"/>
          <p:cNvPicPr>
            <a:picLocks noChangeAspect="1"/>
          </p:cNvPicPr>
          <p:nvPr/>
        </p:nvPicPr>
        <p:blipFill>
          <a:blip r:embed="rId2"/>
          <a:stretch>
            <a:fillRect/>
          </a:stretch>
        </p:blipFill>
        <p:spPr>
          <a:xfrm>
            <a:off x="7040880" y="2240280"/>
            <a:ext cx="4937760" cy="3210028"/>
          </a:xfrm>
          <a:prstGeom prst="rect">
            <a:avLst/>
          </a:prstGeom>
        </p:spPr>
      </p:pic>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Same trend, much higher variance. Noise injection. Answer: s9 (noise).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411480"/>
            <a:ext cx="2194560" cy="384048"/>
          </a:xfrm>
          <a:prstGeom prst="roundRect">
            <a:avLst>
              <a:gd name="adj" fmla="val 50000"/>
            </a:avLst>
          </a:prstGeom>
          <a:solidFill>
            <a:srgbClr val="BA68C8"/>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STEP 7 / 7</a:t>
            </a:r>
          </a:p>
        </p:txBody>
      </p:sp>
      <p:sp>
        <p:nvSpPr>
          <p:cNvPr id="3" name="TextBox 2"/>
          <p:cNvSpPr txBox="1"/>
          <p:nvPr/>
        </p:nvSpPr>
        <p:spPr>
          <a:xfrm>
            <a:off x="548640" y="914400"/>
            <a:ext cx="10972800" cy="822960"/>
          </a:xfrm>
          <a:prstGeom prst="rect">
            <a:avLst/>
          </a:prstGeom>
          <a:noFill/>
        </p:spPr>
        <p:txBody>
          <a:bodyPr wrap="square" lIns="0" rIns="0" tIns="0" bIns="0" anchor="t">
            <a:spAutoFit/>
          </a:bodyPr>
          <a:lstStyle/>
          <a:p>
            <a:pPr algn="l"/>
            <a:r>
              <a:rPr sz="2600" b="1" i="0">
                <a:solidFill>
                  <a:srgbClr val="4FC3F7"/>
                </a:solidFill>
                <a:latin typeface="Helvetica Neue"/>
              </a:rPr>
              <a:t>Quantify the divergence</a:t>
            </a:r>
          </a:p>
        </p:txBody>
      </p:sp>
      <p:sp>
        <p:nvSpPr>
          <p:cNvPr id="4" name="TextBox 3"/>
          <p:cNvSpPr txBox="1"/>
          <p:nvPr/>
        </p:nvSpPr>
        <p:spPr>
          <a:xfrm>
            <a:off x="548640" y="1874519"/>
            <a:ext cx="5486400" cy="365760"/>
          </a:xfrm>
          <a:prstGeom prst="rect">
            <a:avLst/>
          </a:prstGeom>
          <a:noFill/>
        </p:spPr>
        <p:txBody>
          <a:bodyPr wrap="square" lIns="0" rIns="0" tIns="0" bIns="0" anchor="t">
            <a:spAutoFit/>
          </a:bodyPr>
          <a:lstStyle/>
          <a:p>
            <a:pPr algn="l"/>
            <a:r>
              <a:rPr sz="1100" b="1" i="0">
                <a:solidFill>
                  <a:srgbClr val="4FC3F7"/>
                </a:solidFill>
                <a:latin typeface="Helvetica Neue"/>
              </a:rPr>
              <a:t>PASTE THIS</a:t>
            </a:r>
          </a:p>
        </p:txBody>
      </p:sp>
      <p:sp>
        <p:nvSpPr>
          <p:cNvPr id="5" name="Rectangle 4"/>
          <p:cNvSpPr/>
          <p:nvPr/>
        </p:nvSpPr>
        <p:spPr>
          <a:xfrm>
            <a:off x="548640" y="2240280"/>
            <a:ext cx="6217920" cy="4114800"/>
          </a:xfrm>
          <a:prstGeom prst="rect">
            <a:avLst/>
          </a:prstGeom>
          <a:solidFill>
            <a:srgbClr val="141414"/>
          </a:solidFill>
          <a:ln w="9525">
            <a:solidFill>
              <a:srgbClr val="2A2A2A"/>
            </a:solidFill>
          </a:ln>
        </p:spPr>
        <p:style>
          <a:lnRef idx="1">
            <a:schemeClr val="accent1"/>
          </a:lnRef>
          <a:fillRef idx="3">
            <a:schemeClr val="accent1"/>
          </a:fillRef>
          <a:effectRef idx="2">
            <a:schemeClr val="accent1"/>
          </a:effectRef>
          <a:fontRef idx="minor">
            <a:schemeClr val="lt1"/>
          </a:fontRef>
        </p:style>
        <p:txBody>
          <a:bodyPr rtlCol="0" anchor="ctr" wrap="none" lIns="127000" rIns="127000" tIns="101600" bIns="101600"/>
          <a:lstStyle/>
          <a:p>
            <a:pPr algn="l">
              <a:lnSpc>
                <a:spcPct val="120000"/>
              </a:lnSpc>
            </a:pPr>
            <a:r>
              <a:rPr sz="1100">
                <a:solidFill>
                  <a:srgbClr val="EEEEEE"/>
                </a:solidFill>
                <a:latin typeface="Menlo"/>
              </a:rPr>
              <a:t>for fname in ['attack_A.csv', 'attack_B.csv', 'attack_C.csv']:</a:t>
            </a:r>
          </a:p>
          <a:p>
            <a:pPr algn="l">
              <a:lnSpc>
                <a:spcPct val="120000"/>
              </a:lnSpc>
            </a:pPr>
            <a:r>
              <a:rPr sz="1100">
                <a:solidFill>
                  <a:srgbClr val="EEEEEE"/>
                </a:solidFill>
                <a:latin typeface="Menlo"/>
              </a:rPr>
              <a:t>    a = pd.read_csv(fname)</a:t>
            </a:r>
          </a:p>
          <a:p>
            <a:pPr algn="l">
              <a:lnSpc>
                <a:spcPct val="120000"/>
              </a:lnSpc>
            </a:pPr>
            <a:r>
              <a:rPr sz="1100">
                <a:solidFill>
                  <a:srgbClr val="EEEEEE"/>
                </a:solidFill>
                <a:latin typeface="Menlo"/>
              </a:rPr>
              <a:t>    d = {s: float(np.mean(np.abs(clean[s].values - a[s].values)))</a:t>
            </a:r>
          </a:p>
          <a:p>
            <a:pPr algn="l">
              <a:lnSpc>
                <a:spcPct val="120000"/>
              </a:lnSpc>
            </a:pPr>
            <a:r>
              <a:rPr sz="1100">
                <a:solidFill>
                  <a:srgbClr val="EEEEEE"/>
                </a:solidFill>
                <a:latin typeface="Menlo"/>
              </a:rPr>
              <a:t>         for s in informative}</a:t>
            </a:r>
          </a:p>
          <a:p>
            <a:pPr algn="l">
              <a:lnSpc>
                <a:spcPct val="120000"/>
              </a:lnSpc>
            </a:pPr>
            <a:r>
              <a:rPr sz="1100">
                <a:solidFill>
                  <a:srgbClr val="EEEEEE"/>
                </a:solidFill>
                <a:latin typeface="Menlo"/>
              </a:rPr>
              <a:t>    top = sorted(d.items(), key=lambda kv: -kv[1])[:3]</a:t>
            </a:r>
          </a:p>
          <a:p>
            <a:pPr algn="l">
              <a:lnSpc>
                <a:spcPct val="120000"/>
              </a:lnSpc>
            </a:pPr>
            <a:r>
              <a:rPr sz="1100">
                <a:solidFill>
                  <a:srgbClr val="EEEEEE"/>
                </a:solidFill>
                <a:latin typeface="Menlo"/>
              </a:rPr>
              <a:t>    print(f'{fname} top 3: {top}')</a:t>
            </a:r>
          </a:p>
        </p:txBody>
      </p:sp>
      <p:sp>
        <p:nvSpPr>
          <p:cNvPr id="6" name="TextBox 5"/>
          <p:cNvSpPr txBox="1"/>
          <p:nvPr/>
        </p:nvSpPr>
        <p:spPr>
          <a:xfrm>
            <a:off x="7040880" y="1874519"/>
            <a:ext cx="5486400" cy="365760"/>
          </a:xfrm>
          <a:prstGeom prst="rect">
            <a:avLst/>
          </a:prstGeom>
          <a:noFill/>
        </p:spPr>
        <p:txBody>
          <a:bodyPr wrap="square" lIns="0" rIns="0" tIns="0" bIns="0" anchor="t">
            <a:spAutoFit/>
          </a:bodyPr>
          <a:lstStyle/>
          <a:p>
            <a:pPr algn="l"/>
            <a:r>
              <a:rPr sz="1100" b="1" i="0">
                <a:solidFill>
                  <a:srgbClr val="81C784"/>
                </a:solidFill>
                <a:latin typeface="Helvetica Neue"/>
              </a:rPr>
              <a:t>YOU SHOULD SEE</a:t>
            </a:r>
          </a:p>
        </p:txBody>
      </p:sp>
      <p:sp>
        <p:nvSpPr>
          <p:cNvPr id="7" name="Rectangle 6"/>
          <p:cNvSpPr/>
          <p:nvPr/>
        </p:nvSpPr>
        <p:spPr>
          <a:xfrm>
            <a:off x="7040880" y="2240280"/>
            <a:ext cx="4937760" cy="3108960"/>
          </a:xfrm>
          <a:prstGeom prst="rect">
            <a:avLst/>
          </a:prstGeom>
          <a:solidFill>
            <a:srgbClr val="0E1D0E"/>
          </a:solidFill>
          <a:ln w="31750">
            <a:solidFill>
              <a:srgbClr val="81C784"/>
            </a:solidFill>
          </a:ln>
        </p:spPr>
        <p:style>
          <a:lnRef idx="1">
            <a:schemeClr val="accent1"/>
          </a:lnRef>
          <a:fillRef idx="3">
            <a:schemeClr val="accent1"/>
          </a:fillRef>
          <a:effectRef idx="2">
            <a:schemeClr val="accent1"/>
          </a:effectRef>
          <a:fontRef idx="minor">
            <a:schemeClr val="lt1"/>
          </a:fontRef>
        </p:style>
        <p:txBody>
          <a:bodyPr rtlCol="0" anchor="ctr" wrap="none" lIns="152400" rIns="101600" tIns="101600" bIns="101600"/>
          <a:lstStyle/>
          <a:p>
            <a:pPr algn="ctr"/>
            <a:r>
              <a:rPr sz="1200">
                <a:solidFill>
                  <a:srgbClr val="D8E8D8"/>
                </a:solidFill>
                <a:latin typeface="Menlo"/>
              </a:rPr>
              <a:t>attack_A.csv top 3: [('s11', 0.367), ('s2', 0.0), ('s3', 0.0)]</a:t>
            </a:r>
          </a:p>
          <a:p>
            <a:r>
              <a:rPr sz="1200">
                <a:solidFill>
                  <a:srgbClr val="D8E8D8"/>
                </a:solidFill>
                <a:latin typeface="Menlo"/>
              </a:rPr>
              <a:t>attack_B.csv top 3: [('s14', 19.89), ('s2', 0.0), ('s3', 0.0)]</a:t>
            </a:r>
          </a:p>
          <a:p>
            <a:r>
              <a:rPr sz="1200">
                <a:solidFill>
                  <a:srgbClr val="D8E8D8"/>
                </a:solidFill>
                <a:latin typeface="Menlo"/>
              </a:rPr>
              <a:t>attack_C.csv top 3: [('s9',  6.42), ('s2', 0.0), ('s3', 0.0)]</a:t>
            </a:r>
          </a:p>
        </p:txBody>
      </p:sp>
      <p:sp>
        <p:nvSpPr>
          <p:cNvPr id="8" name="TextBox 7"/>
          <p:cNvSpPr txBox="1"/>
          <p:nvPr/>
        </p:nvSpPr>
        <p:spPr>
          <a:xfrm>
            <a:off x="548640" y="6446520"/>
            <a:ext cx="10972800" cy="320040"/>
          </a:xfrm>
          <a:prstGeom prst="rect">
            <a:avLst/>
          </a:prstGeom>
          <a:noFill/>
        </p:spPr>
        <p:txBody>
          <a:bodyPr wrap="square" lIns="0" rIns="0" tIns="0" bIns="0" anchor="t">
            <a:spAutoFit/>
          </a:bodyPr>
          <a:lstStyle/>
          <a:p>
            <a:pPr algn="l"/>
            <a:r>
              <a:rPr sz="1100" b="0" i="1">
                <a:solidFill>
                  <a:srgbClr val="BBBBBB"/>
                </a:solidFill>
                <a:latin typeface="Helvetica Neue"/>
              </a:rPr>
              <a:t>Numbers confirm the visual answer. Only one sensor differs in each file.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100A1A"/>
        </a:solidFill>
        <a:effectLst/>
      </p:bgPr>
    </p:bg>
    <p:spTree>
      <p:nvGrpSpPr>
        <p:cNvPr id="1" name=""/>
        <p:cNvGrpSpPr/>
        <p:nvPr/>
      </p:nvGrpSpPr>
      <p:grpSpPr/>
      <p:sp>
        <p:nvSpPr>
          <p:cNvPr id="2" name="TextBox 1"/>
          <p:cNvSpPr txBox="1"/>
          <p:nvPr/>
        </p:nvSpPr>
        <p:spPr>
          <a:xfrm>
            <a:off x="548640" y="1828800"/>
            <a:ext cx="10972800" cy="1463040"/>
          </a:xfrm>
          <a:prstGeom prst="rect">
            <a:avLst/>
          </a:prstGeom>
          <a:noFill/>
        </p:spPr>
        <p:txBody>
          <a:bodyPr wrap="square" lIns="0" rIns="0" tIns="0" bIns="0" anchor="t">
            <a:spAutoFit/>
          </a:bodyPr>
          <a:lstStyle/>
          <a:p>
            <a:pPr algn="ctr"/>
            <a:r>
              <a:rPr sz="8000" b="1" i="0">
                <a:solidFill>
                  <a:srgbClr val="4FC3F7"/>
                </a:solidFill>
                <a:latin typeface="Helvetica Neue"/>
              </a:rPr>
              <a:t>⏱  17 minutes</a:t>
            </a:r>
          </a:p>
        </p:txBody>
      </p:sp>
      <p:sp>
        <p:nvSpPr>
          <p:cNvPr id="3" name="TextBox 2"/>
          <p:cNvSpPr txBox="1"/>
          <p:nvPr/>
        </p:nvSpPr>
        <p:spPr>
          <a:xfrm>
            <a:off x="548640" y="3840480"/>
            <a:ext cx="10972800" cy="640080"/>
          </a:xfrm>
          <a:prstGeom prst="rect">
            <a:avLst/>
          </a:prstGeom>
          <a:noFill/>
        </p:spPr>
        <p:txBody>
          <a:bodyPr wrap="square" lIns="0" rIns="0" tIns="0" bIns="0" anchor="t">
            <a:spAutoFit/>
          </a:bodyPr>
          <a:lstStyle/>
          <a:p>
            <a:pPr algn="ctr"/>
            <a:r>
              <a:rPr sz="2200" b="0" i="0">
                <a:solidFill>
                  <a:srgbClr val="EEEEEE"/>
                </a:solidFill>
                <a:latin typeface="Helvetica Neue"/>
              </a:rPr>
              <a:t>Open activity2_student.ipynb</a:t>
            </a:r>
          </a:p>
        </p:txBody>
      </p:sp>
      <p:sp>
        <p:nvSpPr>
          <p:cNvPr id="4" name="TextBox 3"/>
          <p:cNvSpPr txBox="1"/>
          <p:nvPr/>
        </p:nvSpPr>
        <p:spPr>
          <a:xfrm>
            <a:off x="548640" y="4572000"/>
            <a:ext cx="10972800" cy="548640"/>
          </a:xfrm>
          <a:prstGeom prst="rect">
            <a:avLst/>
          </a:prstGeom>
          <a:noFill/>
        </p:spPr>
        <p:txBody>
          <a:bodyPr wrap="square" lIns="0" rIns="0" tIns="0" bIns="0" anchor="t">
            <a:spAutoFit/>
          </a:bodyPr>
          <a:lstStyle/>
          <a:p>
            <a:pPr algn="ctr"/>
            <a:r>
              <a:rPr sz="1800" b="0" i="1">
                <a:solidFill>
                  <a:srgbClr val="BBBBBB"/>
                </a:solidFill>
                <a:latin typeface="Helvetica Neue"/>
              </a:rPr>
              <a:t>Run cells. Discuss as a team. Pick your answers.</a:t>
            </a:r>
          </a:p>
        </p:txBody>
      </p:sp>
      <p:sp>
        <p:nvSpPr>
          <p:cNvPr id="5" name="TextBox 4"/>
          <p:cNvSpPr txBox="1"/>
          <p:nvPr/>
        </p:nvSpPr>
        <p:spPr>
          <a:xfrm>
            <a:off x="548640" y="5669280"/>
            <a:ext cx="10972800" cy="365760"/>
          </a:xfrm>
          <a:prstGeom prst="rect">
            <a:avLst/>
          </a:prstGeom>
          <a:noFill/>
        </p:spPr>
        <p:txBody>
          <a:bodyPr wrap="square" lIns="0" rIns="0" tIns="0" bIns="0" anchor="t">
            <a:spAutoFit/>
          </a:bodyPr>
          <a:lstStyle/>
          <a:p>
            <a:pPr algn="ctr"/>
            <a:r>
              <a:rPr sz="1400" b="0" i="1">
                <a:solidFill>
                  <a:srgbClr val="888888"/>
                </a:solidFill>
                <a:latin typeface="Helvetica Neue"/>
              </a:rPr>
              <a:t>I'll come around with hints, but I will not give you the answer.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548640"/>
            <a:ext cx="10972800" cy="914400"/>
          </a:xfrm>
          <a:prstGeom prst="rect">
            <a:avLst/>
          </a:prstGeom>
          <a:noFill/>
        </p:spPr>
        <p:txBody>
          <a:bodyPr wrap="square" lIns="0" rIns="0" tIns="0" bIns="0" anchor="t">
            <a:spAutoFit/>
          </a:bodyPr>
          <a:lstStyle/>
          <a:p>
            <a:pPr algn="l"/>
            <a:r>
              <a:rPr sz="4400" b="1" i="0">
                <a:solidFill>
                  <a:srgbClr val="4FC3F7"/>
                </a:solidFill>
                <a:latin typeface="Helvetica Neue"/>
              </a:rPr>
              <a:t>Answers</a:t>
            </a:r>
          </a:p>
        </p:txBody>
      </p:sp>
      <p:graphicFrame>
        <p:nvGraphicFramePr>
          <p:cNvPr id="3" name="Table 2"/>
          <p:cNvGraphicFramePr>
            <a:graphicFrameLocks noGrp="1"/>
          </p:cNvGraphicFramePr>
          <p:nvPr/>
        </p:nvGraphicFramePr>
        <p:xfrm>
          <a:off x="1828800" y="2011680"/>
          <a:ext cx="8503920" cy="2560320"/>
        </p:xfrm>
        <a:graphic>
          <a:graphicData uri="http://schemas.openxmlformats.org/drawingml/2006/table">
            <a:tbl>
              <a:tblPr firstRow="1" bandRow="1">
                <a:tableStyleId>{5C22544A-7EE6-4342-B048-85BDC9FD1C3A}</a:tableStyleId>
              </a:tblPr>
              <a:tblGrid>
                <a:gridCol w="1828800"/>
                <a:gridCol w="3657600"/>
                <a:gridCol w="3017520"/>
              </a:tblGrid>
              <a:tr h="640080">
                <a:tc>
                  <a:txBody>
                    <a:bodyPr/>
                    <a:lstStyle/>
                    <a:p>
                      <a:r>
                        <a:rPr sz="1800" b="1">
                          <a:solidFill>
                            <a:srgbClr val="4FC3F7"/>
                          </a:solidFill>
                          <a:latin typeface="Helvetica Neue"/>
                        </a:rPr>
                        <a:t>Attack</a:t>
                      </a:r>
                    </a:p>
                  </a:txBody>
                  <a:tcPr>
                    <a:solidFill>
                      <a:srgbClr val="1A1A1A"/>
                    </a:solidFill>
                  </a:tcPr>
                </a:tc>
                <a:tc>
                  <a:txBody>
                    <a:bodyPr/>
                    <a:lstStyle/>
                    <a:p>
                      <a:r>
                        <a:rPr sz="1800" b="1">
                          <a:solidFill>
                            <a:srgbClr val="4FC3F7"/>
                          </a:solidFill>
                          <a:latin typeface="Helvetica Neue"/>
                        </a:rPr>
                        <a:t>Sensor</a:t>
                      </a:r>
                    </a:p>
                  </a:txBody>
                  <a:tcPr>
                    <a:solidFill>
                      <a:srgbClr val="1A1A1A"/>
                    </a:solidFill>
                  </a:tcPr>
                </a:tc>
                <a:tc>
                  <a:txBody>
                    <a:bodyPr/>
                    <a:lstStyle/>
                    <a:p>
                      <a:r>
                        <a:rPr sz="1800" b="1">
                          <a:solidFill>
                            <a:srgbClr val="4FC3F7"/>
                          </a:solidFill>
                          <a:latin typeface="Helvetica Neue"/>
                        </a:rPr>
                        <a:t>Type</a:t>
                      </a:r>
                    </a:p>
                  </a:txBody>
                  <a:tcPr>
                    <a:solidFill>
                      <a:srgbClr val="1A1A1A"/>
                    </a:solidFill>
                  </a:tcPr>
                </a:tc>
              </a:tr>
              <a:tr h="640080">
                <a:tc>
                  <a:txBody>
                    <a:bodyPr/>
                    <a:lstStyle/>
                    <a:p>
                      <a:r>
                        <a:rPr sz="2000">
                          <a:solidFill>
                            <a:srgbClr val="EEEEEE"/>
                          </a:solidFill>
                          <a:latin typeface="Helvetica Neue"/>
                        </a:rPr>
                        <a:t>A</a:t>
                      </a:r>
                    </a:p>
                  </a:txBody>
                  <a:tcPr>
                    <a:solidFill>
                      <a:srgbClr val="0A0A0A"/>
                    </a:solidFill>
                  </a:tcPr>
                </a:tc>
                <a:tc>
                  <a:txBody>
                    <a:bodyPr/>
                    <a:lstStyle/>
                    <a:p>
                      <a:r>
                        <a:rPr sz="2000">
                          <a:solidFill>
                            <a:srgbClr val="EEEEEE"/>
                          </a:solidFill>
                          <a:latin typeface="Helvetica Neue"/>
                        </a:rPr>
                        <a:t>Sensor 11 (Ps30)</a:t>
                      </a:r>
                    </a:p>
                  </a:txBody>
                  <a:tcPr>
                    <a:solidFill>
                      <a:srgbClr val="0A0A0A"/>
                    </a:solidFill>
                  </a:tcPr>
                </a:tc>
                <a:tc>
                  <a:txBody>
                    <a:bodyPr/>
                    <a:lstStyle/>
                    <a:p>
                      <a:r>
                        <a:rPr sz="2000">
                          <a:solidFill>
                            <a:srgbClr val="EEEEEE"/>
                          </a:solidFill>
                          <a:latin typeface="Helvetica Neue"/>
                        </a:rPr>
                        <a:t>Drift</a:t>
                      </a:r>
                    </a:p>
                  </a:txBody>
                  <a:tcPr>
                    <a:solidFill>
                      <a:srgbClr val="0A0A0A"/>
                    </a:solidFill>
                  </a:tcPr>
                </a:tc>
              </a:tr>
              <a:tr h="640080">
                <a:tc>
                  <a:txBody>
                    <a:bodyPr/>
                    <a:lstStyle/>
                    <a:p>
                      <a:r>
                        <a:rPr sz="2000">
                          <a:solidFill>
                            <a:srgbClr val="EEEEEE"/>
                          </a:solidFill>
                          <a:latin typeface="Helvetica Neue"/>
                        </a:rPr>
                        <a:t>B</a:t>
                      </a:r>
                    </a:p>
                  </a:txBody>
                  <a:tcPr>
                    <a:solidFill>
                      <a:srgbClr val="0A0A0A"/>
                    </a:solidFill>
                  </a:tcPr>
                </a:tc>
                <a:tc>
                  <a:txBody>
                    <a:bodyPr/>
                    <a:lstStyle/>
                    <a:p>
                      <a:r>
                        <a:rPr sz="2000">
                          <a:solidFill>
                            <a:srgbClr val="EEEEEE"/>
                          </a:solidFill>
                          <a:latin typeface="Helvetica Neue"/>
                        </a:rPr>
                        <a:t>Sensor 14 (NRc)</a:t>
                      </a:r>
                    </a:p>
                  </a:txBody>
                  <a:tcPr>
                    <a:solidFill>
                      <a:srgbClr val="0A0A0A"/>
                    </a:solidFill>
                  </a:tcPr>
                </a:tc>
                <a:tc>
                  <a:txBody>
                    <a:bodyPr/>
                    <a:lstStyle/>
                    <a:p>
                      <a:r>
                        <a:rPr sz="2000">
                          <a:solidFill>
                            <a:srgbClr val="EEEEEE"/>
                          </a:solidFill>
                          <a:latin typeface="Helvetica Neue"/>
                        </a:rPr>
                        <a:t>Stuck-at</a:t>
                      </a:r>
                    </a:p>
                  </a:txBody>
                  <a:tcPr>
                    <a:solidFill>
                      <a:srgbClr val="0A0A0A"/>
                    </a:solidFill>
                  </a:tcPr>
                </a:tc>
              </a:tr>
              <a:tr h="640080">
                <a:tc>
                  <a:txBody>
                    <a:bodyPr/>
                    <a:lstStyle/>
                    <a:p>
                      <a:r>
                        <a:rPr sz="2000">
                          <a:solidFill>
                            <a:srgbClr val="EEEEEE"/>
                          </a:solidFill>
                          <a:latin typeface="Helvetica Neue"/>
                        </a:rPr>
                        <a:t>C</a:t>
                      </a:r>
                    </a:p>
                  </a:txBody>
                  <a:tcPr>
                    <a:solidFill>
                      <a:srgbClr val="0A0A0A"/>
                    </a:solidFill>
                  </a:tcPr>
                </a:tc>
                <a:tc>
                  <a:txBody>
                    <a:bodyPr/>
                    <a:lstStyle/>
                    <a:p>
                      <a:r>
                        <a:rPr sz="2000">
                          <a:solidFill>
                            <a:srgbClr val="EEEEEE"/>
                          </a:solidFill>
                          <a:latin typeface="Helvetica Neue"/>
                        </a:rPr>
                        <a:t>Sensor 9 (Nc)</a:t>
                      </a:r>
                    </a:p>
                  </a:txBody>
                  <a:tcPr>
                    <a:solidFill>
                      <a:srgbClr val="0A0A0A"/>
                    </a:solidFill>
                  </a:tcPr>
                </a:tc>
                <a:tc>
                  <a:txBody>
                    <a:bodyPr/>
                    <a:lstStyle/>
                    <a:p>
                      <a:r>
                        <a:rPr sz="2000">
                          <a:solidFill>
                            <a:srgbClr val="EEEEEE"/>
                          </a:solidFill>
                          <a:latin typeface="Helvetica Neue"/>
                        </a:rPr>
                        <a:t>Gaussian noise</a:t>
                      </a:r>
                    </a:p>
                  </a:txBody>
                  <a:tcPr>
                    <a:solidFill>
                      <a:srgbClr val="0A0A0A"/>
                    </a:solidFill>
                  </a:tcPr>
                </a:tc>
              </a:tr>
            </a:tbl>
          </a:graphicData>
        </a:graphic>
      </p:graphicFrame>
      <p:sp>
        <p:nvSpPr>
          <p:cNvPr id="4" name="TextBox 3"/>
          <p:cNvSpPr txBox="1"/>
          <p:nvPr/>
        </p:nvSpPr>
        <p:spPr>
          <a:xfrm>
            <a:off x="548640" y="5120640"/>
            <a:ext cx="10972800" cy="731520"/>
          </a:xfrm>
          <a:prstGeom prst="rect">
            <a:avLst/>
          </a:prstGeom>
          <a:noFill/>
        </p:spPr>
        <p:txBody>
          <a:bodyPr wrap="square" lIns="0" rIns="0" tIns="0" bIns="0" anchor="t">
            <a:spAutoFit/>
          </a:bodyPr>
          <a:lstStyle/>
          <a:p>
            <a:pPr algn="ctr"/>
            <a:r>
              <a:rPr sz="2400" b="1" i="0">
                <a:solidFill>
                  <a:srgbClr val="4FC3F7"/>
                </a:solidFill>
                <a:latin typeface="Helvetica Neue"/>
              </a:rPr>
              <a:t>Which team got all three?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000" b="1" i="0">
                <a:solidFill>
                  <a:srgbClr val="4FC3F7"/>
                </a:solidFill>
                <a:latin typeface="Helvetica Neue"/>
              </a:rPr>
              <a:t>What just happened</a:t>
            </a:r>
          </a:p>
        </p:txBody>
      </p:sp>
      <p:sp>
        <p:nvSpPr>
          <p:cNvPr id="3" name="TextBox 2"/>
          <p:cNvSpPr txBox="1"/>
          <p:nvPr/>
        </p:nvSpPr>
        <p:spPr>
          <a:xfrm>
            <a:off x="914400" y="2011680"/>
            <a:ext cx="10972800" cy="3200400"/>
          </a:xfrm>
          <a:prstGeom prst="rect">
            <a:avLst/>
          </a:prstGeom>
          <a:noFill/>
        </p:spPr>
        <p:txBody>
          <a:bodyPr wrap="square" lIns="0" rIns="0" tIns="0" bIns="0" anchor="t">
            <a:spAutoFit/>
          </a:bodyPr>
          <a:lstStyle/>
          <a:p>
            <a:pPr algn="l">
              <a:lnSpc>
                <a:spcPct val="120000"/>
              </a:lnSpc>
              <a:spcAft>
                <a:spcPts val="1600"/>
              </a:spcAft>
            </a:pPr>
            <a:r>
              <a:rPr sz="1800" b="0" i="0">
                <a:solidFill>
                  <a:srgbClr val="EEEEEE"/>
                </a:solidFill>
                <a:latin typeface="Helvetica Neue"/>
              </a:rPr>
              <a:t>The RandomForest changed its prediction, but could not tell you why.</a:t>
            </a:r>
          </a:p>
          <a:p>
            <a:pPr algn="l">
              <a:lnSpc>
                <a:spcPct val="120000"/>
              </a:lnSpc>
              <a:spcAft>
                <a:spcPts val="1600"/>
              </a:spcAft>
            </a:pPr>
            <a:r>
              <a:rPr sz="1800" b="0" i="0">
                <a:solidFill>
                  <a:srgbClr val="EEEEEE"/>
                </a:solidFill>
                <a:latin typeface="Helvetica Neue"/>
              </a:rPr>
              <a:t>The SoftDecisionTree's split weights shifted in a sensor-specific way.</a:t>
            </a:r>
          </a:p>
          <a:p>
            <a:pPr algn="l">
              <a:lnSpc>
                <a:spcPct val="120000"/>
              </a:lnSpc>
              <a:spcAft>
                <a:spcPts val="1600"/>
              </a:spcAft>
            </a:pPr>
            <a:r>
              <a:rPr sz="1800" b="0" i="0">
                <a:solidFill>
                  <a:srgbClr val="EEEEEE"/>
                </a:solidFill>
                <a:latin typeface="Helvetica Neue"/>
              </a:rPr>
              <a:t>That shift is the explanation. It is a fingerprint of which sensor the model is leaning on.</a:t>
            </a:r>
          </a:p>
        </p:txBody>
      </p:sp>
      <p:sp>
        <p:nvSpPr>
          <p:cNvPr id="4" name="TextBox 3"/>
          <p:cNvSpPr txBox="1"/>
          <p:nvPr/>
        </p:nvSpPr>
        <p:spPr>
          <a:xfrm>
            <a:off x="548640" y="5212080"/>
            <a:ext cx="10972800" cy="548640"/>
          </a:xfrm>
          <a:prstGeom prst="rect">
            <a:avLst/>
          </a:prstGeom>
          <a:noFill/>
        </p:spPr>
        <p:txBody>
          <a:bodyPr wrap="square" lIns="0" rIns="0" tIns="0" bIns="0" anchor="t">
            <a:spAutoFit/>
          </a:bodyPr>
          <a:lstStyle/>
          <a:p>
            <a:pPr algn="ctr"/>
            <a:r>
              <a:rPr sz="2000" b="0" i="0">
                <a:solidFill>
                  <a:srgbClr val="EEEEEE"/>
                </a:solidFill>
                <a:latin typeface="Helvetica Neue"/>
              </a:rPr>
              <a:t>Explainability did not just make the model auditable.</a:t>
            </a:r>
          </a:p>
        </p:txBody>
      </p:sp>
      <p:sp>
        <p:nvSpPr>
          <p:cNvPr id="5" name="TextBox 4"/>
          <p:cNvSpPr txBox="1"/>
          <p:nvPr/>
        </p:nvSpPr>
        <p:spPr>
          <a:xfrm>
            <a:off x="548640" y="5760720"/>
            <a:ext cx="10972800" cy="548640"/>
          </a:xfrm>
          <a:prstGeom prst="rect">
            <a:avLst/>
          </a:prstGeom>
          <a:noFill/>
        </p:spPr>
        <p:txBody>
          <a:bodyPr wrap="square" lIns="0" rIns="0" tIns="0" bIns="0" anchor="t">
            <a:spAutoFit/>
          </a:bodyPr>
          <a:lstStyle/>
          <a:p>
            <a:pPr algn="ctr"/>
            <a:r>
              <a:rPr sz="2200" b="1" i="0">
                <a:solidFill>
                  <a:srgbClr val="4FC3F7"/>
                </a:solidFill>
                <a:latin typeface="Helvetica Neue"/>
              </a:rPr>
              <a:t>It made the model a debugging tool for the system around it.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01A10"/>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81C784"/>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SPRINT · 15 MIN</a:t>
            </a:r>
          </a:p>
        </p:txBody>
      </p:sp>
      <p:sp>
        <p:nvSpPr>
          <p:cNvPr id="3" name="TextBox 2"/>
          <p:cNvSpPr txBox="1"/>
          <p:nvPr/>
        </p:nvSpPr>
        <p:spPr>
          <a:xfrm>
            <a:off x="548640" y="1828800"/>
            <a:ext cx="10972800" cy="1371600"/>
          </a:xfrm>
          <a:prstGeom prst="rect">
            <a:avLst/>
          </a:prstGeom>
          <a:noFill/>
        </p:spPr>
        <p:txBody>
          <a:bodyPr wrap="square" lIns="0" rIns="0" tIns="0" bIns="0" anchor="t">
            <a:spAutoFit/>
          </a:bodyPr>
          <a:lstStyle/>
          <a:p>
            <a:pPr algn="ctr"/>
            <a:r>
              <a:rPr sz="4800" b="1" i="0">
                <a:solidFill>
                  <a:srgbClr val="EEEEEE"/>
                </a:solidFill>
                <a:latin typeface="Helvetica Neue"/>
              </a:rPr>
              <a:t>🔧 GitHub Contribution Sprint</a:t>
            </a:r>
          </a:p>
        </p:txBody>
      </p:sp>
      <p:sp>
        <p:nvSpPr>
          <p:cNvPr id="4" name="TextBox 3"/>
          <p:cNvSpPr txBox="1"/>
          <p:nvPr/>
        </p:nvSpPr>
        <p:spPr>
          <a:xfrm>
            <a:off x="548640" y="3931920"/>
            <a:ext cx="10972800" cy="548640"/>
          </a:xfrm>
          <a:prstGeom prst="rect">
            <a:avLst/>
          </a:prstGeom>
          <a:noFill/>
        </p:spPr>
        <p:txBody>
          <a:bodyPr wrap="square" lIns="0" rIns="0" tIns="0" bIns="0" anchor="t">
            <a:spAutoFit/>
          </a:bodyPr>
          <a:lstStyle/>
          <a:p>
            <a:pPr algn="ctr"/>
            <a:r>
              <a:rPr sz="2200" b="0" i="0">
                <a:solidFill>
                  <a:srgbClr val="4FC3F7"/>
                </a:solidFill>
                <a:latin typeface="Helvetica Neue"/>
              </a:rPr>
              <a:t>Walk out of this room with a real open-source contribution</a:t>
            </a:r>
          </a:p>
        </p:txBody>
      </p:sp>
      <p:sp>
        <p:nvSpPr>
          <p:cNvPr id="5" name="TextBox 4"/>
          <p:cNvSpPr txBox="1"/>
          <p:nvPr/>
        </p:nvSpPr>
        <p:spPr>
          <a:xfrm>
            <a:off x="548640" y="4480560"/>
            <a:ext cx="10972800" cy="548640"/>
          </a:xfrm>
          <a:prstGeom prst="rect">
            <a:avLst/>
          </a:prstGeom>
          <a:noFill/>
        </p:spPr>
        <p:txBody>
          <a:bodyPr wrap="square" lIns="0" rIns="0" tIns="0" bIns="0" anchor="t">
            <a:spAutoFit/>
          </a:bodyPr>
          <a:lstStyle/>
          <a:p>
            <a:pPr algn="ctr"/>
            <a:r>
              <a:rPr sz="2200" b="0" i="0">
                <a:solidFill>
                  <a:srgbClr val="4FC3F7"/>
                </a:solidFill>
                <a:latin typeface="Helvetica Neue"/>
              </a:rPr>
              <a:t>on your GitHub profile.</a:t>
            </a:r>
          </a:p>
        </p:txBody>
      </p:sp>
      <p:sp>
        <p:nvSpPr>
          <p:cNvPr id="6" name="TextBox 5"/>
          <p:cNvSpPr txBox="1"/>
          <p:nvPr/>
        </p:nvSpPr>
        <p:spPr>
          <a:xfrm>
            <a:off x="548640" y="5486400"/>
            <a:ext cx="10972800" cy="457200"/>
          </a:xfrm>
          <a:prstGeom prst="rect">
            <a:avLst/>
          </a:prstGeom>
          <a:noFill/>
        </p:spPr>
        <p:txBody>
          <a:bodyPr wrap="square" lIns="0" rIns="0" tIns="0" bIns="0" anchor="t">
            <a:spAutoFit/>
          </a:bodyPr>
          <a:lstStyle/>
          <a:p>
            <a:pPr algn="ctr"/>
            <a:r>
              <a:rPr sz="1600" b="0" i="1">
                <a:solidFill>
                  <a:srgbClr val="BBBBBB"/>
                </a:solidFill>
                <a:latin typeface="Helvetica Neue"/>
              </a:rPr>
              <a:t>15 minutes. Your name on a published ML library.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000" b="1" i="0">
                <a:solidFill>
                  <a:srgbClr val="4FC3F7"/>
                </a:solidFill>
                <a:latin typeface="Helvetica Neue"/>
              </a:rPr>
              <a:t>How it works</a:t>
            </a:r>
          </a:p>
        </p:txBody>
      </p:sp>
      <p:sp>
        <p:nvSpPr>
          <p:cNvPr id="3" name="TextBox 2"/>
          <p:cNvSpPr txBox="1"/>
          <p:nvPr/>
        </p:nvSpPr>
        <p:spPr>
          <a:xfrm>
            <a:off x="731520" y="1828800"/>
            <a:ext cx="10972800" cy="4572000"/>
          </a:xfrm>
          <a:prstGeom prst="rect">
            <a:avLst/>
          </a:prstGeom>
          <a:noFill/>
        </p:spPr>
        <p:txBody>
          <a:bodyPr wrap="square" lIns="0" rIns="0" tIns="0" bIns="0" anchor="t">
            <a:spAutoFit/>
          </a:bodyPr>
          <a:lstStyle/>
          <a:p>
            <a:pPr algn="l">
              <a:lnSpc>
                <a:spcPct val="120000"/>
              </a:lnSpc>
              <a:spcAft>
                <a:spcPts val="1400"/>
              </a:spcAft>
            </a:pPr>
            <a:r>
              <a:rPr sz="1800" b="0" i="0">
                <a:solidFill>
                  <a:srgbClr val="EEEEEE"/>
                </a:solidFill>
                <a:latin typeface="Helvetica Neue"/>
              </a:rPr>
              <a:t>1. Open github.com/cgrtml/neural-trees → Issues tab</a:t>
            </a:r>
          </a:p>
          <a:p>
            <a:pPr algn="l">
              <a:lnSpc>
                <a:spcPct val="120000"/>
              </a:lnSpc>
              <a:spcAft>
                <a:spcPts val="1400"/>
              </a:spcAft>
            </a:pPr>
            <a:r>
              <a:rPr sz="1800" b="0" i="0">
                <a:solidFill>
                  <a:srgbClr val="EEEEEE"/>
                </a:solidFill>
                <a:latin typeface="Helvetica Neue"/>
              </a:rPr>
              <a:t>2. Filter by label: good first issue. Pick one (10 to 20 min scope)</a:t>
            </a:r>
          </a:p>
          <a:p>
            <a:pPr algn="l">
              <a:lnSpc>
                <a:spcPct val="120000"/>
              </a:lnSpc>
              <a:spcAft>
                <a:spcPts val="1400"/>
              </a:spcAft>
            </a:pPr>
            <a:r>
              <a:rPr sz="1800" b="0" i="0">
                <a:solidFill>
                  <a:srgbClr val="EEEEEE"/>
                </a:solidFill>
                <a:latin typeface="Helvetica Neue"/>
              </a:rPr>
              <a:t>3. Comment "I am taking this" so no duplicates</a:t>
            </a:r>
          </a:p>
          <a:p>
            <a:pPr algn="l">
              <a:lnSpc>
                <a:spcPct val="120000"/>
              </a:lnSpc>
              <a:spcAft>
                <a:spcPts val="1400"/>
              </a:spcAft>
            </a:pPr>
            <a:r>
              <a:rPr sz="1800" b="0" i="0">
                <a:solidFill>
                  <a:srgbClr val="EEEEEE"/>
                </a:solidFill>
                <a:latin typeface="Helvetica Neue"/>
              </a:rPr>
              <a:t>4. Fork the repo, edit, open a PR</a:t>
            </a:r>
          </a:p>
          <a:p>
            <a:pPr algn="l">
              <a:lnSpc>
                <a:spcPct val="120000"/>
              </a:lnSpc>
              <a:spcAft>
                <a:spcPts val="1400"/>
              </a:spcAft>
            </a:pPr>
            <a:r>
              <a:rPr sz="1800" b="0" i="0">
                <a:solidFill>
                  <a:srgbClr val="81C784"/>
                </a:solidFill>
                <a:latin typeface="Helvetica Neue"/>
              </a:rPr>
              <a:t>5. I will review live. Simple PRs get merged on the spot.</a:t>
            </a:r>
          </a:p>
        </p:txBody>
      </p:sp>
      <p:sp>
        <p:nvSpPr>
          <p:cNvPr id="4" name="TextBox 3"/>
          <p:cNvSpPr txBox="1"/>
          <p:nvPr/>
        </p:nvSpPr>
        <p:spPr>
          <a:xfrm>
            <a:off x="548640" y="6126480"/>
            <a:ext cx="10972800" cy="365760"/>
          </a:xfrm>
          <a:prstGeom prst="rect">
            <a:avLst/>
          </a:prstGeom>
          <a:noFill/>
        </p:spPr>
        <p:txBody>
          <a:bodyPr wrap="square" lIns="0" rIns="0" tIns="0" bIns="0" anchor="t">
            <a:spAutoFit/>
          </a:bodyPr>
          <a:lstStyle/>
          <a:p>
            <a:pPr algn="ctr"/>
            <a:r>
              <a:rPr sz="1400" b="0" i="1">
                <a:solidFill>
                  <a:srgbClr val="4FC3F7"/>
                </a:solidFill>
                <a:latin typeface="Helvetica Neue"/>
              </a:rPr>
              <a:t>~20 issues waiting · pick what fits your level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3400" b="1" i="0">
                <a:solidFill>
                  <a:srgbClr val="4FC3F7"/>
                </a:solidFill>
                <a:latin typeface="Helvetica Neue"/>
              </a:rPr>
              <a:t>Why this is worth your 15 minutes</a:t>
            </a:r>
          </a:p>
        </p:txBody>
      </p:sp>
      <p:sp>
        <p:nvSpPr>
          <p:cNvPr id="3" name="TextBox 2"/>
          <p:cNvSpPr txBox="1"/>
          <p:nvPr/>
        </p:nvSpPr>
        <p:spPr>
          <a:xfrm>
            <a:off x="731520" y="1828800"/>
            <a:ext cx="10972800" cy="4114800"/>
          </a:xfrm>
          <a:prstGeom prst="rect">
            <a:avLst/>
          </a:prstGeom>
          <a:noFill/>
        </p:spPr>
        <p:txBody>
          <a:bodyPr wrap="square" lIns="0" rIns="0" tIns="0" bIns="0" anchor="t">
            <a:spAutoFit/>
          </a:bodyPr>
          <a:lstStyle/>
          <a:p>
            <a:pPr algn="l">
              <a:lnSpc>
                <a:spcPct val="120000"/>
              </a:lnSpc>
              <a:spcAft>
                <a:spcPts val="1400"/>
              </a:spcAft>
            </a:pPr>
            <a:r>
              <a:rPr sz="1700" b="0" i="0">
                <a:solidFill>
                  <a:srgbClr val="EEEEEE"/>
                </a:solidFill>
                <a:latin typeface="Helvetica Neue"/>
              </a:rPr>
              <a:t>A concrete open-source contribution on your profile, visible to recruiters, internships, and grad-school admissions.</a:t>
            </a:r>
          </a:p>
          <a:p>
            <a:pPr algn="l">
              <a:lnSpc>
                <a:spcPct val="120000"/>
              </a:lnSpc>
              <a:spcAft>
                <a:spcPts val="1400"/>
              </a:spcAft>
            </a:pPr>
            <a:r>
              <a:rPr sz="1700" b="0" i="0">
                <a:solidFill>
                  <a:srgbClr val="EEEEEE"/>
                </a:solidFill>
                <a:latin typeface="Helvetica Neue"/>
              </a:rPr>
              <a:t>You become part of a published Python ML library (PyPI: neural-trees).</a:t>
            </a:r>
          </a:p>
          <a:p>
            <a:pPr algn="l">
              <a:lnSpc>
                <a:spcPct val="120000"/>
              </a:lnSpc>
              <a:spcAft>
                <a:spcPts val="1400"/>
              </a:spcAft>
            </a:pPr>
            <a:r>
              <a:rPr sz="1700" b="0" i="0">
                <a:solidFill>
                  <a:srgbClr val="EEEEEE"/>
                </a:solidFill>
                <a:latin typeface="Helvetica Neue"/>
              </a:rPr>
              <a:t>Your name goes in the README. I will add a "WSU Workshop Contributors" section listing every merged PR.</a:t>
            </a:r>
          </a:p>
          <a:p>
            <a:pPr algn="l">
              <a:lnSpc>
                <a:spcPct val="120000"/>
              </a:lnSpc>
              <a:spcAft>
                <a:spcPts val="1400"/>
              </a:spcAft>
            </a:pPr>
            <a:r>
              <a:rPr sz="1700" b="0" i="0">
                <a:solidFill>
                  <a:srgbClr val="EEEEEE"/>
                </a:solidFill>
                <a:latin typeface="Helvetica Neue"/>
              </a:rPr>
              <a:t>It is real proof that you can collaborate on a codebase, not just clone tutorials.</a:t>
            </a:r>
          </a:p>
        </p:txBody>
      </p:sp>
      <p:sp>
        <p:nvSpPr>
          <p:cNvPr id="4" name="TextBox 3"/>
          <p:cNvSpPr txBox="1"/>
          <p:nvPr/>
        </p:nvSpPr>
        <p:spPr>
          <a:xfrm>
            <a:off x="548640" y="5852160"/>
            <a:ext cx="10972800" cy="548640"/>
          </a:xfrm>
          <a:prstGeom prst="rect">
            <a:avLst/>
          </a:prstGeom>
          <a:noFill/>
        </p:spPr>
        <p:txBody>
          <a:bodyPr wrap="square" lIns="0" rIns="0" tIns="0" bIns="0" anchor="t">
            <a:spAutoFit/>
          </a:bodyPr>
          <a:lstStyle/>
          <a:p>
            <a:pPr algn="ctr"/>
            <a:r>
              <a:rPr sz="2400" b="1" i="0">
                <a:solidFill>
                  <a:srgbClr val="4FC3F7"/>
                </a:solidFill>
                <a:latin typeface="Helvetica Neue"/>
              </a:rPr>
              <a:t>Open the repo. Pick an issue. Go.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FFB74D"/>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REGULATORY CONTEXT</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4200" b="1" i="0">
                <a:solidFill>
                  <a:srgbClr val="4FC3F7"/>
                </a:solidFill>
                <a:latin typeface="Helvetica Neue"/>
              </a:rPr>
              <a:t>The EU AI Act</a:t>
            </a:r>
          </a:p>
        </p:txBody>
      </p:sp>
      <p:sp>
        <p:nvSpPr>
          <p:cNvPr id="4" name="TextBox 3"/>
          <p:cNvSpPr txBox="1"/>
          <p:nvPr/>
        </p:nvSpPr>
        <p:spPr>
          <a:xfrm>
            <a:off x="548640" y="2286000"/>
            <a:ext cx="10972800" cy="548640"/>
          </a:xfrm>
          <a:prstGeom prst="rect">
            <a:avLst/>
          </a:prstGeom>
          <a:noFill/>
        </p:spPr>
        <p:txBody>
          <a:bodyPr wrap="square" lIns="0" rIns="0" tIns="0" bIns="0" anchor="t">
            <a:spAutoFit/>
          </a:bodyPr>
          <a:lstStyle/>
          <a:p>
            <a:pPr algn="l"/>
            <a:r>
              <a:rPr sz="1800" b="0" i="0">
                <a:solidFill>
                  <a:srgbClr val="EEEEEE"/>
                </a:solidFill>
                <a:latin typeface="Helvetica Neue"/>
              </a:rPr>
              <a:t>Took effect in 2025. Applies to any AI system serving EU customers.</a:t>
            </a:r>
          </a:p>
        </p:txBody>
      </p:sp>
      <p:sp>
        <p:nvSpPr>
          <p:cNvPr id="5" name="TextBox 4"/>
          <p:cNvSpPr txBox="1"/>
          <p:nvPr/>
        </p:nvSpPr>
        <p:spPr>
          <a:xfrm>
            <a:off x="548640" y="3108960"/>
            <a:ext cx="10972800" cy="548640"/>
          </a:xfrm>
          <a:prstGeom prst="rect">
            <a:avLst/>
          </a:prstGeom>
          <a:noFill/>
        </p:spPr>
        <p:txBody>
          <a:bodyPr wrap="square" lIns="0" rIns="0" tIns="0" bIns="0" anchor="t">
            <a:spAutoFit/>
          </a:bodyPr>
          <a:lstStyle/>
          <a:p>
            <a:pPr algn="l"/>
            <a:r>
              <a:rPr sz="1800" b="0" i="0">
                <a:solidFill>
                  <a:srgbClr val="EEEEEE"/>
                </a:solidFill>
                <a:latin typeface="Helvetica Neue"/>
              </a:rPr>
              <a:t>For "high-risk" systems (predictive maintenance for aviation qualifies):</a:t>
            </a:r>
          </a:p>
        </p:txBody>
      </p:sp>
      <p:sp>
        <p:nvSpPr>
          <p:cNvPr id="6" name="TextBox 5"/>
          <p:cNvSpPr txBox="1"/>
          <p:nvPr/>
        </p:nvSpPr>
        <p:spPr>
          <a:xfrm>
            <a:off x="914400" y="4023360"/>
            <a:ext cx="10972800" cy="1828800"/>
          </a:xfrm>
          <a:prstGeom prst="rect">
            <a:avLst/>
          </a:prstGeom>
          <a:noFill/>
        </p:spPr>
        <p:txBody>
          <a:bodyPr wrap="square" lIns="0" rIns="0" tIns="0" bIns="0" anchor="t">
            <a:spAutoFit/>
          </a:bodyPr>
          <a:lstStyle/>
          <a:p>
            <a:pPr algn="l">
              <a:lnSpc>
                <a:spcPct val="120000"/>
              </a:lnSpc>
              <a:spcAft>
                <a:spcPts val="800"/>
              </a:spcAft>
            </a:pPr>
            <a:r>
              <a:rPr sz="1700" b="1" i="0">
                <a:solidFill>
                  <a:srgbClr val="EEEEEE"/>
                </a:solidFill>
                <a:latin typeface="Helvetica Neue"/>
              </a:rPr>
              <a:t>Article 13: Transparency &amp; explanation requirements</a:t>
            </a:r>
          </a:p>
          <a:p>
            <a:pPr algn="l">
              <a:lnSpc>
                <a:spcPct val="120000"/>
              </a:lnSpc>
              <a:spcAft>
                <a:spcPts val="800"/>
              </a:spcAft>
            </a:pPr>
            <a:r>
              <a:rPr sz="1700" b="1" i="0">
                <a:solidFill>
                  <a:srgbClr val="EEEEEE"/>
                </a:solidFill>
                <a:latin typeface="Helvetica Neue"/>
              </a:rPr>
              <a:t>Article 14: Human oversight with meaningful interpretation</a:t>
            </a:r>
          </a:p>
          <a:p>
            <a:pPr algn="l">
              <a:lnSpc>
                <a:spcPct val="120000"/>
              </a:lnSpc>
              <a:spcAft>
                <a:spcPts val="800"/>
              </a:spcAft>
            </a:pPr>
            <a:r>
              <a:rPr sz="1700" b="1" i="0">
                <a:solidFill>
                  <a:srgbClr val="EEEEEE"/>
                </a:solidFill>
                <a:latin typeface="Helvetica Neue"/>
              </a:rPr>
              <a:t>Article 15: Robustness against adversarial inputs and faults</a:t>
            </a:r>
          </a:p>
        </p:txBody>
      </p:sp>
      <p:sp>
        <p:nvSpPr>
          <p:cNvPr id="7" name="TextBox 6"/>
          <p:cNvSpPr txBox="1"/>
          <p:nvPr/>
        </p:nvSpPr>
        <p:spPr>
          <a:xfrm>
            <a:off x="548640" y="6035040"/>
            <a:ext cx="10972800" cy="365760"/>
          </a:xfrm>
          <a:prstGeom prst="rect">
            <a:avLst/>
          </a:prstGeom>
          <a:noFill/>
        </p:spPr>
        <p:txBody>
          <a:bodyPr wrap="square" lIns="0" rIns="0" tIns="0" bIns="0" anchor="t">
            <a:spAutoFit/>
          </a:bodyPr>
          <a:lstStyle/>
          <a:p>
            <a:pPr algn="ctr"/>
            <a:r>
              <a:rPr sz="1400" b="0" i="1">
                <a:solidFill>
                  <a:srgbClr val="888888"/>
                </a:solidFill>
                <a:latin typeface="Helvetica Neue"/>
              </a:rPr>
              <a:t>Same direction in the US: SR 11-7 (banking), FDA SaMD, FAA AC 25-1309.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01A10"/>
        </a:solidFill>
        <a:effectLst/>
      </p:bgPr>
    </p:bg>
    <p:spTree>
      <p:nvGrpSpPr>
        <p:cNvPr id="1" name=""/>
        <p:cNvGrpSpPr/>
        <p:nvPr/>
      </p:nvGrpSpPr>
      <p:grpSpPr/>
      <p:sp>
        <p:nvSpPr>
          <p:cNvPr id="2" name="Rounded Rectangle 1"/>
          <p:cNvSpPr/>
          <p:nvPr/>
        </p:nvSpPr>
        <p:spPr>
          <a:xfrm>
            <a:off x="548640" y="548640"/>
            <a:ext cx="2194560" cy="384048"/>
          </a:xfrm>
          <a:prstGeom prst="roundRect">
            <a:avLst>
              <a:gd name="adj" fmla="val 50000"/>
            </a:avLst>
          </a:prstGeom>
          <a:solidFill>
            <a:srgbClr val="81C784"/>
          </a:solidFill>
          <a:ln>
            <a:noFill/>
          </a:ln>
        </p:spPr>
        <p:style>
          <a:lnRef idx="1">
            <a:schemeClr val="accent1"/>
          </a:lnRef>
          <a:fillRef idx="3">
            <a:schemeClr val="accent1"/>
          </a:fillRef>
          <a:effectRef idx="2">
            <a:schemeClr val="accent1"/>
          </a:effectRef>
          <a:fontRef idx="minor">
            <a:schemeClr val="lt1"/>
          </a:fontRef>
        </p:style>
        <p:txBody>
          <a:bodyPr rtlCol="0" anchor="ctr" lIns="101600" rIns="101600" tIns="25400" bIns="25400"/>
          <a:lstStyle/>
          <a:p>
            <a:pPr algn="ctr"/>
            <a:r>
              <a:rPr sz="1100" b="1">
                <a:solidFill>
                  <a:srgbClr val="000000"/>
                </a:solidFill>
                <a:latin typeface="Helvetica Neue"/>
              </a:rPr>
              <a:t>WRAP-UP · 5 MIN</a:t>
            </a:r>
          </a:p>
        </p:txBody>
      </p:sp>
      <p:sp>
        <p:nvSpPr>
          <p:cNvPr id="3" name="TextBox 2"/>
          <p:cNvSpPr txBox="1"/>
          <p:nvPr/>
        </p:nvSpPr>
        <p:spPr>
          <a:xfrm>
            <a:off x="548640" y="1188720"/>
            <a:ext cx="10972800" cy="914400"/>
          </a:xfrm>
          <a:prstGeom prst="rect">
            <a:avLst/>
          </a:prstGeom>
          <a:noFill/>
        </p:spPr>
        <p:txBody>
          <a:bodyPr wrap="square" lIns="0" rIns="0" tIns="0" bIns="0" anchor="t">
            <a:spAutoFit/>
          </a:bodyPr>
          <a:lstStyle/>
          <a:p>
            <a:pPr algn="l"/>
            <a:r>
              <a:rPr sz="3800" b="1" i="0">
                <a:solidFill>
                  <a:srgbClr val="EEEEEE"/>
                </a:solidFill>
                <a:latin typeface="Helvetica Neue"/>
              </a:rPr>
              <a:t>What you walk out with</a:t>
            </a:r>
          </a:p>
        </p:txBody>
      </p:sp>
      <p:sp>
        <p:nvSpPr>
          <p:cNvPr id="4" name="TextBox 3"/>
          <p:cNvSpPr txBox="1"/>
          <p:nvPr/>
        </p:nvSpPr>
        <p:spPr>
          <a:xfrm>
            <a:off x="914400" y="2286000"/>
            <a:ext cx="10972800" cy="4114800"/>
          </a:xfrm>
          <a:prstGeom prst="rect">
            <a:avLst/>
          </a:prstGeom>
          <a:noFill/>
        </p:spPr>
        <p:txBody>
          <a:bodyPr wrap="square" lIns="0" rIns="0" tIns="0" bIns="0" anchor="t">
            <a:spAutoFit/>
          </a:bodyPr>
          <a:lstStyle/>
          <a:p>
            <a:pPr algn="l">
              <a:lnSpc>
                <a:spcPct val="120000"/>
              </a:lnSpc>
              <a:spcAft>
                <a:spcPts val="400"/>
              </a:spcAft>
            </a:pPr>
            <a:r>
              <a:rPr sz="2000" b="1" i="0">
                <a:solidFill>
                  <a:srgbClr val="4FC3F7"/>
                </a:solidFill>
                <a:latin typeface="Helvetica Neue"/>
              </a:rPr>
              <a:t>1. Explainability is mandatory in safety-critical AI.</a:t>
            </a:r>
          </a:p>
          <a:p>
            <a:pPr algn="l">
              <a:lnSpc>
                <a:spcPct val="120000"/>
              </a:lnSpc>
              <a:spcAft>
                <a:spcPts val="1800"/>
              </a:spcAft>
            </a:pPr>
            <a:r>
              <a:rPr sz="1400" b="0" i="1">
                <a:solidFill>
                  <a:srgbClr val="BBBBBB"/>
                </a:solidFill>
                <a:latin typeface="Helvetica Neue"/>
              </a:rPr>
              <a:t>Required by EU AI Act, FDA, FAA, OCC for high-risk systems.</a:t>
            </a:r>
          </a:p>
          <a:p>
            <a:pPr algn="l">
              <a:lnSpc>
                <a:spcPct val="120000"/>
              </a:lnSpc>
              <a:spcAft>
                <a:spcPts val="400"/>
              </a:spcAft>
            </a:pPr>
            <a:r>
              <a:rPr sz="2000" b="1" i="0">
                <a:solidFill>
                  <a:srgbClr val="4FC3F7"/>
                </a:solidFill>
                <a:latin typeface="Helvetica Neue"/>
              </a:rPr>
              <a:t>2. Soft Decision Trees give you both worlds.</a:t>
            </a:r>
          </a:p>
          <a:p>
            <a:pPr algn="l">
              <a:lnSpc>
                <a:spcPct val="120000"/>
              </a:lnSpc>
              <a:spcAft>
                <a:spcPts val="1800"/>
              </a:spcAft>
            </a:pPr>
            <a:r>
              <a:rPr sz="1400" b="0" i="1">
                <a:solidFill>
                  <a:srgbClr val="BBBBBB"/>
                </a:solidFill>
                <a:latin typeface="Helvetica Neue"/>
              </a:rPr>
              <a:t>Neural-network accuracy with tree-level interpretability.</a:t>
            </a:r>
          </a:p>
          <a:p>
            <a:pPr algn="l">
              <a:lnSpc>
                <a:spcPct val="120000"/>
              </a:lnSpc>
              <a:spcAft>
                <a:spcPts val="400"/>
              </a:spcAft>
            </a:pPr>
            <a:r>
              <a:rPr sz="2000" b="1" i="0">
                <a:solidFill>
                  <a:srgbClr val="4FC3F7"/>
                </a:solidFill>
                <a:latin typeface="Helvetica Neue"/>
              </a:rPr>
              <a:t>3. You ran this yourself, on real NASA data.</a:t>
            </a:r>
          </a:p>
          <a:p>
            <a:pPr algn="l">
              <a:lnSpc>
                <a:spcPct val="120000"/>
              </a:lnSpc>
            </a:pPr>
            <a:r>
              <a:rPr sz="1400" b="0" i="1">
                <a:solidFill>
                  <a:srgbClr val="BBBBBB"/>
                </a:solidFill>
                <a:latin typeface="Helvetica Neue"/>
              </a:rPr>
              <a:t>Trained a model · localized a sensor fault · maybe shipped an OSS contribution.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l"/>
            <a:r>
              <a:rPr sz="4000" b="1" i="0">
                <a:solidFill>
                  <a:srgbClr val="4FC3F7"/>
                </a:solidFill>
                <a:latin typeface="Helvetica Neue"/>
              </a:rPr>
              <a:t>Where this is going</a:t>
            </a:r>
          </a:p>
        </p:txBody>
      </p:sp>
      <p:sp>
        <p:nvSpPr>
          <p:cNvPr id="3" name="TextBox 2"/>
          <p:cNvSpPr txBox="1"/>
          <p:nvPr/>
        </p:nvSpPr>
        <p:spPr>
          <a:xfrm>
            <a:off x="548640" y="1828800"/>
            <a:ext cx="10972800" cy="640080"/>
          </a:xfrm>
          <a:prstGeom prst="rect">
            <a:avLst/>
          </a:prstGeom>
          <a:noFill/>
        </p:spPr>
        <p:txBody>
          <a:bodyPr wrap="square" lIns="0" rIns="0" tIns="0" bIns="0" anchor="t">
            <a:spAutoFit/>
          </a:bodyPr>
          <a:lstStyle/>
          <a:p>
            <a:pPr algn="l"/>
            <a:r>
              <a:rPr sz="2000" b="0" i="0">
                <a:solidFill>
                  <a:srgbClr val="EEEEEE"/>
                </a:solidFill>
                <a:latin typeface="Helvetica Neue"/>
              </a:rPr>
              <a:t>Banks (Model Risk Management), insurers, healthcare, aerospace.</a:t>
            </a:r>
          </a:p>
        </p:txBody>
      </p:sp>
      <p:sp>
        <p:nvSpPr>
          <p:cNvPr id="4" name="TextBox 3"/>
          <p:cNvSpPr txBox="1"/>
          <p:nvPr/>
        </p:nvSpPr>
        <p:spPr>
          <a:xfrm>
            <a:off x="548640" y="2560320"/>
            <a:ext cx="10972800" cy="640080"/>
          </a:xfrm>
          <a:prstGeom prst="rect">
            <a:avLst/>
          </a:prstGeom>
          <a:noFill/>
        </p:spPr>
        <p:txBody>
          <a:bodyPr wrap="square" lIns="0" rIns="0" tIns="0" bIns="0" anchor="t">
            <a:spAutoFit/>
          </a:bodyPr>
          <a:lstStyle/>
          <a:p>
            <a:pPr algn="l"/>
            <a:r>
              <a:rPr sz="2000" b="0" i="0">
                <a:solidFill>
                  <a:srgbClr val="EEEEEE"/>
                </a:solidFill>
                <a:latin typeface="Helvetica Neue"/>
              </a:rPr>
              <a:t>Every regulated industry needs explainable AI.</a:t>
            </a:r>
          </a:p>
        </p:txBody>
      </p:sp>
      <p:sp>
        <p:nvSpPr>
          <p:cNvPr id="5" name="TextBox 4"/>
          <p:cNvSpPr txBox="1"/>
          <p:nvPr/>
        </p:nvSpPr>
        <p:spPr>
          <a:xfrm>
            <a:off x="548640" y="3657600"/>
            <a:ext cx="10972800" cy="1371600"/>
          </a:xfrm>
          <a:prstGeom prst="rect">
            <a:avLst/>
          </a:prstGeom>
          <a:noFill/>
        </p:spPr>
        <p:txBody>
          <a:bodyPr wrap="square" lIns="0" rIns="0" tIns="0" bIns="0" anchor="t">
            <a:spAutoFit/>
          </a:bodyPr>
          <a:lstStyle/>
          <a:p>
            <a:pPr algn="ctr"/>
            <a:r>
              <a:rPr sz="1800" b="0" i="0">
                <a:solidFill>
                  <a:srgbClr val="EEEEEE"/>
                </a:solidFill>
                <a:latin typeface="Helvetica Neue"/>
              </a:rPr>
              <a:t>My company Hezarfen builds compliance-ready AI for US mid-market banks under SR 11-7 and the EU AI Act.</a:t>
            </a:r>
          </a:p>
        </p:txBody>
      </p:sp>
      <p:sp>
        <p:nvSpPr>
          <p:cNvPr id="6" name="TextBox 5"/>
          <p:cNvSpPr txBox="1"/>
          <p:nvPr/>
        </p:nvSpPr>
        <p:spPr>
          <a:xfrm>
            <a:off x="548640" y="5303520"/>
            <a:ext cx="10972800" cy="731520"/>
          </a:xfrm>
          <a:prstGeom prst="rect">
            <a:avLst/>
          </a:prstGeom>
          <a:noFill/>
        </p:spPr>
        <p:txBody>
          <a:bodyPr wrap="square" lIns="0" rIns="0" tIns="0" bIns="0" anchor="t">
            <a:spAutoFit/>
          </a:bodyPr>
          <a:lstStyle/>
          <a:p>
            <a:pPr algn="ctr"/>
            <a:r>
              <a:rPr sz="1600" b="0" i="1">
                <a:solidFill>
                  <a:srgbClr val="BBBBBB"/>
                </a:solidFill>
                <a:latin typeface="Helvetica Neue"/>
              </a:rPr>
              <a:t>If any of this interested you, whether as a thesis topic, an open-source contribution, or just a conversation:</a:t>
            </a:r>
          </a:p>
        </p:txBody>
      </p:sp>
      <p:sp>
        <p:nvSpPr>
          <p:cNvPr id="7" name="TextBox 6"/>
          <p:cNvSpPr txBox="1"/>
          <p:nvPr/>
        </p:nvSpPr>
        <p:spPr>
          <a:xfrm>
            <a:off x="548640" y="6035040"/>
            <a:ext cx="10972800" cy="548640"/>
          </a:xfrm>
          <a:prstGeom prst="rect">
            <a:avLst/>
          </a:prstGeom>
          <a:noFill/>
        </p:spPr>
        <p:txBody>
          <a:bodyPr wrap="square" lIns="0" rIns="0" tIns="0" bIns="0" anchor="t">
            <a:spAutoFit/>
          </a:bodyPr>
          <a:lstStyle/>
          <a:p>
            <a:pPr algn="ctr"/>
            <a:r>
              <a:rPr sz="2800" b="1" i="0">
                <a:solidFill>
                  <a:srgbClr val="4FC3F7"/>
                </a:solidFill>
                <a:latin typeface="Helvetica Neue"/>
              </a:rPr>
              <a:t>reach out.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640080"/>
            <a:ext cx="10972800" cy="914400"/>
          </a:xfrm>
          <a:prstGeom prst="rect">
            <a:avLst/>
          </a:prstGeom>
          <a:noFill/>
        </p:spPr>
        <p:txBody>
          <a:bodyPr wrap="square" lIns="0" rIns="0" tIns="0" bIns="0" anchor="t">
            <a:spAutoFit/>
          </a:bodyPr>
          <a:lstStyle/>
          <a:p>
            <a:pPr algn="ctr"/>
            <a:r>
              <a:rPr sz="4000" b="1" i="0">
                <a:solidFill>
                  <a:srgbClr val="4FC3F7"/>
                </a:solidFill>
                <a:latin typeface="Helvetica Neue"/>
              </a:rPr>
              <a:t>Stay in touch</a:t>
            </a:r>
          </a:p>
        </p:txBody>
      </p:sp>
      <p:sp>
        <p:nvSpPr>
          <p:cNvPr id="3" name="TextBox 2"/>
          <p:cNvSpPr txBox="1"/>
          <p:nvPr/>
        </p:nvSpPr>
        <p:spPr>
          <a:xfrm>
            <a:off x="548640" y="2194560"/>
            <a:ext cx="10972800" cy="731520"/>
          </a:xfrm>
          <a:prstGeom prst="rect">
            <a:avLst/>
          </a:prstGeom>
          <a:noFill/>
        </p:spPr>
        <p:txBody>
          <a:bodyPr wrap="square" lIns="0" rIns="0" tIns="0" bIns="0" anchor="t">
            <a:spAutoFit/>
          </a:bodyPr>
          <a:lstStyle/>
          <a:p>
            <a:pPr algn="ctr"/>
            <a:r>
              <a:rPr sz="3200" b="1" i="0">
                <a:solidFill>
                  <a:srgbClr val="EEEEEE"/>
                </a:solidFill>
                <a:latin typeface="Helvetica Neue"/>
              </a:rPr>
              <a:t>Cagri Temel</a:t>
            </a:r>
          </a:p>
        </p:txBody>
      </p:sp>
      <p:sp>
        <p:nvSpPr>
          <p:cNvPr id="4" name="TextBox 3"/>
          <p:cNvSpPr txBox="1"/>
          <p:nvPr/>
        </p:nvSpPr>
        <p:spPr>
          <a:xfrm>
            <a:off x="548640" y="2926080"/>
            <a:ext cx="10972800" cy="457200"/>
          </a:xfrm>
          <a:prstGeom prst="rect">
            <a:avLst/>
          </a:prstGeom>
          <a:noFill/>
        </p:spPr>
        <p:txBody>
          <a:bodyPr wrap="square" lIns="0" rIns="0" tIns="0" bIns="0" anchor="t">
            <a:spAutoFit/>
          </a:bodyPr>
          <a:lstStyle/>
          <a:p>
            <a:pPr algn="ctr"/>
            <a:r>
              <a:rPr sz="1600" b="0" i="0">
                <a:solidFill>
                  <a:srgbClr val="BBBBBB"/>
                </a:solidFill>
                <a:latin typeface="Helvetica Neue"/>
              </a:rPr>
              <a:t>Hezarfen LLC · IEEE Senior Member</a:t>
            </a:r>
          </a:p>
        </p:txBody>
      </p:sp>
      <p:sp>
        <p:nvSpPr>
          <p:cNvPr id="5" name="TextBox 4"/>
          <p:cNvSpPr txBox="1"/>
          <p:nvPr/>
        </p:nvSpPr>
        <p:spPr>
          <a:xfrm>
            <a:off x="548640" y="3931920"/>
            <a:ext cx="10972800" cy="548640"/>
          </a:xfrm>
          <a:prstGeom prst="rect">
            <a:avLst/>
          </a:prstGeom>
          <a:noFill/>
        </p:spPr>
        <p:txBody>
          <a:bodyPr wrap="square" lIns="0" rIns="0" tIns="0" bIns="0" anchor="t">
            <a:spAutoFit/>
          </a:bodyPr>
          <a:lstStyle/>
          <a:p>
            <a:pPr algn="ctr"/>
            <a:r>
              <a:rPr sz="2200" b="0" i="0">
                <a:solidFill>
                  <a:srgbClr val="4FC3F7"/>
                </a:solidFill>
                <a:latin typeface="Helvetica Neue"/>
              </a:rPr>
              <a:t>github.com/cgrtml/neural-trees</a:t>
            </a:r>
          </a:p>
        </p:txBody>
      </p:sp>
      <p:sp>
        <p:nvSpPr>
          <p:cNvPr id="6" name="TextBox 5"/>
          <p:cNvSpPr txBox="1"/>
          <p:nvPr/>
        </p:nvSpPr>
        <p:spPr>
          <a:xfrm>
            <a:off x="548640" y="4663440"/>
            <a:ext cx="10972800" cy="548640"/>
          </a:xfrm>
          <a:prstGeom prst="rect">
            <a:avLst/>
          </a:prstGeom>
          <a:noFill/>
        </p:spPr>
        <p:txBody>
          <a:bodyPr wrap="square" lIns="0" rIns="0" tIns="0" bIns="0" anchor="t">
            <a:spAutoFit/>
          </a:bodyPr>
          <a:lstStyle/>
          <a:p>
            <a:pPr algn="ctr"/>
            <a:r>
              <a:rPr sz="2200" b="0" i="0">
                <a:solidFill>
                  <a:srgbClr val="4FC3F7"/>
                </a:solidFill>
                <a:latin typeface="Helvetica Neue"/>
              </a:rPr>
              <a:t>linkedin.com/in/cagritemel</a:t>
            </a:r>
          </a:p>
        </p:txBody>
      </p:sp>
      <p:sp>
        <p:nvSpPr>
          <p:cNvPr id="7" name="TextBox 6"/>
          <p:cNvSpPr txBox="1"/>
          <p:nvPr/>
        </p:nvSpPr>
        <p:spPr>
          <a:xfrm>
            <a:off x="548640" y="6035040"/>
            <a:ext cx="10972800" cy="365760"/>
          </a:xfrm>
          <a:prstGeom prst="rect">
            <a:avLst/>
          </a:prstGeom>
          <a:noFill/>
        </p:spPr>
        <p:txBody>
          <a:bodyPr wrap="square" lIns="0" rIns="0" tIns="0" bIns="0" anchor="t">
            <a:spAutoFit/>
          </a:bodyPr>
          <a:lstStyle/>
          <a:p>
            <a:pPr algn="ctr"/>
            <a:r>
              <a:rPr sz="1300" b="0" i="1">
                <a:solidFill>
                  <a:srgbClr val="888888"/>
                </a:solidFill>
                <a:latin typeface="Helvetica Neue"/>
              </a:rPr>
              <a:t>Workshop materials: github.com/cgrtml/wsu-workshop-may15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TextBox 1"/>
          <p:cNvSpPr txBox="1"/>
          <p:nvPr/>
        </p:nvSpPr>
        <p:spPr>
          <a:xfrm>
            <a:off x="548640" y="1828800"/>
            <a:ext cx="10972800" cy="1463040"/>
          </a:xfrm>
          <a:prstGeom prst="rect">
            <a:avLst/>
          </a:prstGeom>
          <a:noFill/>
        </p:spPr>
        <p:txBody>
          <a:bodyPr wrap="square" lIns="0" rIns="0" tIns="0" bIns="0" anchor="t">
            <a:spAutoFit/>
          </a:bodyPr>
          <a:lstStyle/>
          <a:p>
            <a:pPr algn="ctr"/>
            <a:r>
              <a:rPr sz="8000" b="1" i="0">
                <a:solidFill>
                  <a:srgbClr val="EEEEEE"/>
                </a:solidFill>
                <a:latin typeface="Helvetica Neue"/>
              </a:rPr>
              <a:t>Thank you</a:t>
            </a:r>
          </a:p>
        </p:txBody>
      </p:sp>
      <p:sp>
        <p:nvSpPr>
          <p:cNvPr id="3" name="TextBox 2"/>
          <p:cNvSpPr txBox="1"/>
          <p:nvPr/>
        </p:nvSpPr>
        <p:spPr>
          <a:xfrm>
            <a:off x="548640" y="4023360"/>
            <a:ext cx="10972800" cy="548640"/>
          </a:xfrm>
          <a:prstGeom prst="rect">
            <a:avLst/>
          </a:prstGeom>
          <a:noFill/>
        </p:spPr>
        <p:txBody>
          <a:bodyPr wrap="square" lIns="0" rIns="0" tIns="0" bIns="0" anchor="t">
            <a:spAutoFit/>
          </a:bodyPr>
          <a:lstStyle/>
          <a:p>
            <a:pPr algn="ctr"/>
            <a:r>
              <a:rPr sz="2200" b="0" i="1">
                <a:solidFill>
                  <a:srgbClr val="4FC3F7"/>
                </a:solidFill>
                <a:latin typeface="Helvetica Neue"/>
              </a:rPr>
              <a:t>To Dr. Sergey Lapin and Jeremy for the invitation.</a:t>
            </a:r>
          </a:p>
        </p:txBody>
      </p:sp>
      <p:sp>
        <p:nvSpPr>
          <p:cNvPr id="4" name="TextBox 3"/>
          <p:cNvSpPr txBox="1"/>
          <p:nvPr/>
        </p:nvSpPr>
        <p:spPr>
          <a:xfrm>
            <a:off x="548640" y="5486400"/>
            <a:ext cx="10972800" cy="457200"/>
          </a:xfrm>
          <a:prstGeom prst="rect">
            <a:avLst/>
          </a:prstGeom>
          <a:noFill/>
        </p:spPr>
        <p:txBody>
          <a:bodyPr wrap="square" lIns="0" rIns="0" tIns="0" bIns="0" anchor="t">
            <a:spAutoFit/>
          </a:bodyPr>
          <a:lstStyle/>
          <a:p>
            <a:pPr algn="ctr"/>
            <a:r>
              <a:rPr sz="1600" b="0" i="1">
                <a:solidFill>
                  <a:srgbClr val="BBBBBB"/>
                </a:solidFill>
                <a:latin typeface="Helvetica Neue"/>
              </a:rPr>
              <a:t>Questions? I will stay 5 minutes after.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