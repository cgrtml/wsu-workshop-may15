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I'm Cagri Temel, CTO at Hezarfen LLC. For the next two hours and forty-five minutes you're going to do something most people don't get to do until they're in industry: you're going to train a real machine learning model on real NASA data, you're going to break it on purpose, and then you're going to explain exactly how it makes its decisions. By the end of the session you'll have a working model on your laptop, you'll know which sensor failed on an aircraft engine, and many of you will have your first open-source contribution on GitHub. Let's get started.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about me. I'm CTO of a company called Hezarfen, where we build explainable AI for industries that have to answer to regulators: banks, insurers, healthcare, aviation. I'm an IEEE Senior Member. I also maintain a Python package called neural-trees, and that's what we'll use today. Don't memorize any of this. The only thing I want you to take away from this slide is the bottom line: in two hours and forty-five minutes, you build, you break, and you explain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next few hours we're going to look at one specific question. How do we make data-driven systems trustworthy in places where getting them wrong is expensive? Our case study today is a turbofan engine, the kind that powers passenger jets, that has to predict its own failure before it happens. By the end of the session you'll understand why this is harder than it looks, and why being accurate is not enough.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A turbofan engine. The question is, when will it fail? Think about it for a moment. If you knew with certainty, exactly when this engine would fail, what would you do differently than what airlines do today? I'm not going to call on anybody. Just hold that question in your head as we go.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why this is hard. There are three ways to be wrong, and all three are expensive. One: you predict too late. The engine fails in flight. You lose lives. Two: you predict too early. You pull a perfectly good engine out of service. Each engine is about a hundred million dollars. Three, and this is the one engineers forget: you predict accurately, but you can't explain how. In that case, the FAA refuses to certify your system. You can have the best model in the world; if you can't defend it, it doesn't fly. That's the whole point. Accuracy by itself is not enough. You also need to defend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dataset we'll use is called NASA CMAPSS. It's open, it's free, and it's been the standard benchmark in predictive maintenance for about fifteen years. A hundred turbofan engines, each one simulated all the way to failure. Twenty-one sensors per timestep: temperatures, pressures, fan speeds, fuel flow. Each engine logs hundreds of flight cycles before it dies. You'll be working with this data on your own laptop in twenty minutes.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thing we're going to predict is called RUL, Remaining Useful Life. It's the number of flight cycles left before the engine fails. So if an engine fails at cycle 192, at cycle 100 its RUL is 92. At cycle 190 it's 2. At failure it's zero. We cap RUL at 125 because predicting further than that ahead isn't useful. Past 125 cycles, you're just guessing about the future.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every cycle, we get 21 sensor readings. Don't try to memorize them. But three of them I want you to notice now, because they'll come back later. Sensor 7, high-pressure compressor outlet pressure. Sensor 11, static pressure. Sensor 14, corrected core speed. These three are the model's favorites. Remember those names. They show up again in Activity 2 when one of them gets attacked.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modern approach. We throw an LSTM at it. A two-layer recurrent neural network. After training, the LSTM gets an RMSE of 15.49 cycles, R-squared 0.855. That's pretty good. About fifteen cycles off, on average. So... we ship it to the FAA, right?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Regulators don't ask, how accurate is your model. They ask, why did your model say that? And if you can't answer that question in a way a non-engineer can follow, your model doesn't ship. FAA for aviation. FDA for medical devices. OCC for banking. EU AI Act for anything that touches a European customer. This isn't theory. This is what actually blocks AI systems from being deployed in regulated industries.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you're stuck between two worlds. On one side, black-box models like LSTMs and transformers. High accuracy, but you can't explain why. On the other side, glass-box models like classic decision trees or linear regression. Fully explainable, but lower accuracy. Regulators love glass boxes. Engineers prefer black boxes. So the question today is: can we have both?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You've all seen a decision tree before. Beautiful structure. Sensor 11 is above the threshold, go left; below, go right. It's the most explainable model that exists. But classic decision trees often have worse accuracy than neural networks. Why? Because the splits are hard. A 0.01 difference in a sensor value flips the entire path. That brittleness is what limits accuracy.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code for a hard split. You are NOT typing this. It's here for illustration. If x is bigger than the threshold, return right. Otherwise, return left. The output is a string. Discrete. No gradient. And no gradient means no backpropagation. You build the tree node by node, greedily. You cannot train it end to end like a neural network.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look at this. Same function. One substitution. The if-else becomes a sigmoid. Now the output is a probability, somewhere between zero and one. Continuous. And because it's continuous, gradient flows through it. That single change is what makes everything we do today possible. A tree you can train with backpropagation, just like a neural network.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the whole tree looks like. Every internal node is a sigmoid split. Every leaf has a class distribution: Critical, Caution, Healthy probabilities. The final prediction is a weighted sum of all the leaves, weighted by the probability of reaching each leaf. Mathematically, it's smooth. Fully differentiable end to 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win. From the tree side, you keep path traceability, per-feature thresholds, human-readable rules. From the network side, you get end-to-end training and the accuracy that comes with it. You get both. That's why soft decision trees matter for regulated industries.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properties make this approach work for safety-critical AI. One, explainability. Every prediction comes with the path that produced it. Two, noise robustness. Soft splits don't break when a sensor wobbles a little. Three, sensor failure tolerance. When you train with channel-level dropout, the model learns to operate even when some sensors are missing. You'll see all three in the next ninety minutes. Not on a slide. On your own laptop.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numbers from my paper. On clean CMAPSS data, an LSTM gets RMSE 15.49 cycles. The Temporal Neural Tree, the variant we use, gets 15.78. Essentially equal. Now look at the next column. When thirty percent of the sensors are missing — which happens in real aircraft, sensors break — the LSTM degrades by eighty-nine percent. The Temporal Neural Tree degrades by only seventeen percent. Five times more robust. And it's fully explainable. That's the headline result.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tool you'll use is called neural-trees. I wrote it. It's on PyPI, MIT licensed, open source. The API follows scikit-learn, so if you've used scikit-learn before you already know how to use this: fit, predict, predict_proba, score. The backend is PyTorch. You don't need a GPU; CPU is fine for everything we do today. And at the end of the workshop, you'll get a chance to contribute back to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Okay. We're moving from lecture to hands-on now. The next fifty-five minutes are yours. You're going to train your own neural tree on the NASA data we just talked about. I'm going to walk around. If you get stuck, raise a hand, I'll come help. There are eleven steps. Each step is on a slide. You paste the code, run it, and check that the output matches mine. Ready? Let's go.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 out your phones and scan this QR code. It opens our workshop landing page. Tap Activity 1. That opens a Google Colab notebook on your laptop. Sign in with your Gmail, then click Copy to Drive so you have your own editable copy. Run the first cell to make sure everything works. I'll give you two minutes. Raise your hand if you get stuck.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overview of the next fifty-five minutes. Six main stages. We load CMAPSS and look at it. Bin the labels into three classes. Train the Soft Decision Tree, which takes about a minute. Evaluate it with a confusion matrix. And then — this is the step that matters most — we traverse one prediction. We literally read out the rule the model used. If you remember one thing from this entire workshop, it should be that step. Let's start.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step, imports. Paste this code into a fresh cell. Hit Shift+Enter. You should see All set. If you get an IndentationError, that means one of your lines has a stray space at the beginning. Copy-paste does that sometimes. Click into the cell, hit Command-A to select everything, then Shift+Tab to clear indentation, and run again.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load the data. CMAPSS comes as a plain text file with no headers, so we tell pandas what to call the columns. After this runs, you should see two things. The shape, twenty thousand six hundred and thirty-one rows by twenty-six columns. And the number of engines, one hundred. The first five rows show you engine 1 at cycle 1 through cycle 5. Those numbers — temperatures, pressures, fan speeds — those are exactly what a real flight data recorder logs.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computes the label we're going to predict. For each row, RUL equals the engine's max cycle minus the current cycle. We cap it at 125. After this runs, you'll see five rows of engine 1. All five show RUL equal to 125, because at the start of the engine's life, the real RUL is way above 125, but we capped it. That's expected.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visualize. We're going to plot four sensors for engine 1 across its entire one hundred and ninety-two cycle life. After this runs, you should see a two-by-two plot. Look at it closely. Sensor 2 — temperature — goes up over time. Sensor 11 — pressure — goes up. Sensor 14 — corrected core speed — goes up. But sensor 7 — pressure at the HPC outlet — goes down. That's the engine wearing out. Temperatures rising, compressor pressure dropping. The data is telling us the story of failure. Now we have to teach a model to see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going to turn this into a classification problem. RUL is a number, but in real aviation operations, no one says 'this engine has forty-seven cycles left.' They say 'this engine is healthy,' or 'caution,' or 'critical.' So we bin RUL into three classes. Below 30 is Critical. Thirty to eighty is Caution. Above eighty is Healthy. When you run this, you should see roughly fourteen percent Critical, twenty-four percent Caution, sixty-one percent Healthy. The classes are imbalanced. That's reality. Most of the time the engine is fine.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drop the six sensors that are constant. They carry no information. That leaves fifteen informative sensors. Then we standardize. Every column gets zero mean and unit variance. Soft decision trees don't strictly require standardization, but the sigmoid splits behave much better when the input is on a consistent scale. After this runs, you should see X shape twenty thousand by fifteen, y shape twenty thousand.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train-test split. Eighty percent training, twenty percent test. Two things matter. Stratify equals y, which preserves the class ratio in both sets. And random state equals forty-two, so everyone in this room gets the exact same numbers. If yours don't match, you typed something wrong. After this you should see sixteen thousand five hundred and four rows for train, four thousand one hundred and twenty-seven for test.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Okay, this is the slow one. About thirty to sixty seconds on CPU. While we wait, let me tell you what's happening. PyTorch is doing backpropagation on sixteen thousand rows for thirty epochs. Every epoch, the loss should come down a little. When it finishes, you should see test accuracy around 0.84. If yours lands anywhere between 0.82 and 0.86, that's normal — randomness in training varies a little across machines. While we wait — quick question. What do you think an LSTM would get on the same problem? Right. About the same. The point is not accuracy. The point is what we can do with the model next.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look at where the model is right and where it's wrong. You should see a confusion matrix, three by three, color-coded. Look at the bottom-left cell. It should say zero. That means: out of every Healthy engine in the test set, the model wrongly flagged zero of them as Critical. We never raised a false alarm. Now look at the top row. Out of six hundred Critical engines, we caught about four hundred and ninety. We missed some, but only five of those misses went all the way to Healthy. In aviation language: we don't miss many dangerous engines, and we don't waste healthy ones. That's a useful model.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peek inside the model. Soft decision trees have fifteen internal nodes — one root, then it branches out. For each internal node, we ask: which sensor does this node lean on the most? When you run this, you'll see fifteen nodes and their dominant sensors. Notice some sensors show up multiple times. Sensor 14 and sensor 6, in particular. Those are the pillars of the model. If those sensors go bad, the model is in trouble. Remember sensor 14. It comes back in Activity 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step that matters most. We pick one specific test sample, sample 17, and we ask the model: what did you predict, with what confidence, and which sensor did you look at first? When you run this, you should see four lines. Read them out loud to yourself. The model predicted Healthy with eighty-five percent confidence. Zero percent Critical. The root node leaned on sensor 7, HPC outlet pressure. Now imagine you have to explain this prediction to a regulator. With this output, you can say: 'My model classified this engine as Healthy because the static pressure at the high-pressure compressor outlet was above its decision threshold.' An LSTM cannot give you this answer. That's why we did all of this.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Okay. Take a breath. By now you should have three things on your screen: a trained Soft Decision Tree, test accuracy above eighty percent, and a printed decision path for engine 17. If you're missing one of those, find me during the break and we'll catch up. Ten minutes break. Get coffee, stretch. When you come back at ten thirty-five, we run the team competition.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Okay, we're back. Activity 2 is different. This is a competition. You'll work in teams. The first team to identify all three attacks correctly gets bragging rights for the day. Here's the setup. One of engine 17's sensors is reporting bad data. You don't know which sensor. You don't know what kind of attack. Your job is to find both.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Imagine you're the data science team at an airline. Maintenance ops just sent you a message. Something is wrong with engine 17. The pattern looks like a sensor drift, a frozen sensor, or noise spikes, but we can't tell which channel is at fault. Localize the faulty sensor before the next flight. You have two tools. Your Soft Decision Tree from Activity 1, which is explainable. And we'll add a RandomForest baseline, which is more accurate but opaque. Use both. See which one is actually useful.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Okay. Form groups of three to four people. Pick the people next to you. Thirty seconds. Use one notebook per team. One person types, the others think and argue. Once we start the clock you have seventeen minutes for analysis. First team to identify all three correctly — sensor and attack type for each file — wins.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files. Attack A is a drift: a sensor with a constant offset added. Attack B is stuck-at: a sensor frozen at a single value. Attack C is Gaussian noise: a sensor with random noise injected. All three files are copies of clean engine 17 data, but in each one, exactly one sensor channel has been manipulated. Find which one.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we add a RandomForest baseline. Same data, same labels. When you run this, you should see two accuracies: SoftTree around 0.841, RandomForest around 0.843. Essentially identical on clean data. The whole point of this activity is showing what happens when we move OFF clean data.</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load the clean engine 17 file. This is the reference — the un-attacked version. We run both models on it and store the predictions. After this you should see two hundred and seventy-six cycles, and the two models agree on ninety-five percent of them. That's our baseline. When reality is normal, the two models say the same thing.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run both models on each of the three attack files and compare against the clean baseline. Read your output carefully. Attack A: tree changed eighteen cycles, RandomForest changed fourteen. Attack B: tree changed thirty-three, RandomForest changed eight. Attack C — and this is the one — tree changed eight, RandomForest changed only one. The RandomForest barely noticed Attack C. It says 'everything looks fine' when in reality a sensor is broken. The Soft Tree caught eight cycles. The explainable model is also the more sensitive one to subtle manipulations. That's not a coincidence.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visualize Attack A. We plot each sensor twice. Clean in blue, attack in orange. Fourteen of the fifteen panels will show only one line, because the blue and orange overlap exactly. But ONE panel will show two separate lines. That's your manipulated sensor. Look carefully. Which sensor is it? If you see two parallel lines — same shape, but shifted — that's drift. A constant offset. The answer is sensor 11.</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plot, same logic, for Attack B. Look for the sensor where blue and orange diverge. This time the orange line will be completely flat. Frozen at one value, while the blue line keeps evolving. That's stuck-at. Which sensor? Sensor 14. Now think about this. Sensor 14 was a pillar of our model in Activity 1, Step 10. Whoever attacked engine 17 went after exactly what the model relies on the most. That's not a coincidence. That's how adversarial attacks work.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Attack C is the subtlest one. Look at all fifteen panels. In one of them, the orange line follows the same trend as blue, but it's noticeably more jagged. More wobbly. Same average, much higher variance. That's Gaussian noise. Which sensor? Sensor 9. This one is the hardest to catch visually because the overall trend is preserved. Only the noise level changes. That's why the RandomForest missed it. The trend was right, so it kept saying 'fine.'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step. Let's quantify what we just saw with our eyes. For each attack file, we compute the mean absolute difference between clean and attack for every sensor. Then we print the top three sensors that differ. After this runs, you should see: Attack A, sensor 11 first, the rest zero. Attack B, sensor 14 first with a huge number, nineteen point eight nine, the rest zero. Attack C, sensor 9 first, six point four two, the rest zero. Notice that for each attack, only ONE sensor differs at all. The other fourteen are perfectly identical. Attackers don't manipulate everything. They go after one sensor and try to stay hidden. Our model caught them anyway.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Okay, seventeen minutes on the clock starting now. Open activity 2 student notebook on your laptop. Discuss with your team. I'm walking around. If you have questions, raise a hand. I'll give hints, but I won't give you the answer. Go.</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Okay, time's up. Here are the answers. Attack A is sensor 11, drift. Attack B is sensor 14, stuck-at. Attack C is sensor 9, Gaussian noise. Show of hands — which team got all three? Round of applause for them.</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we just demonstrated. The RandomForest changed its prediction under attack, but it couldn't tell you which sensor caused the change. The Soft Decision Tree's split weights shifted in a sensor-specific way. That shift IS the explanation. It's a fingerprint of which sensor the model is leaning on. And here's the lesson. Explainability isn't just for regulatory compliance. It's also a debugging tool. The same property that lets you defend a model to the FAA also helps your maintenance engineers find the broken hardware. That's the takeaway.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Okay, last fifteen minutes. This part is different from everything else. You're going to make a real open-source contribution to a real Python library that's on PyPI. Not a workshop exercise. A real pull request that I will review and merge live, in front of you, right now. Your name on it. Forever.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it works. Open github.com/cgrtml/neural-trees. Go to the Issues tab. Filter by good first issue. Pick one — they're all ten to twenty minute scope. Comment 'I'm taking this' so two people don't pick the same one. Fork the repo, make the change in your fork, open a pull request. I'll review it from my laptop right here on stage. If it's correct, I merge it on the spot. There are about twenty issues waiting. Pick what fits your level.</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 this worth fifteen minutes of your day? Three reasons. One. Your contribution shows up on your GitHub profile. That's visible to recruiters, internship coordinators, grad school admissions. It's a credential that's much harder to fake than a tutorial certificate. Two. You become part of a Python package that other people install with pip. Your code runs on their machines. Three. Every merged PR will be credited in the neural-trees README under a section called WSU Workshop Contributors. That section will exist after today, with your names on it. Open the repo. Pick an issue. Go.</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context for why all of this matters in the real world. The EU AI Act took effect in 2025. If your AI system serves any European customer, three articles apply. Article 13: transparency. Article 14: human oversight. Article 15: robustness against adversarial inputs and faults. The exact things we did today. And the US is moving in the same direction. SR 11-7 for banking. FDA for medical devices. FAA for aviation. The era of just-ship-the-LSTM is ending. The era of show-your-work is starting.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to take with you. One: in safety-critical AI, explainability is not optional. It's a regulatory requirement. Two: Soft Decision Trees give you both worlds. Neural-network-level accuracy with tree-level interpretability. Three: you actually did this. Not me. Not a video. You. You trained a model, you localized a sensor fault, and many of you just shipped your first open-source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does this work go next? Banks, insurers, healthcare, aerospace. Every regulated industry needs explainable AI right now. My company Hezarfen builds compliance-ready AI for US mid-market banks under SR 11-7 and the EU AI Act. If anything you saw today interests you — a thesis topic, an open-source contribution, internship questions, or just a conversation about where to go after graduation — reach out. My email and LinkedIn are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three things worth bookmarking. My GitHub, where neural-trees lives. My LinkedIn — happy to connect with any of you. And the workshop repo on GitHub. Everything we did today is there: the data, the notebooks, the slides. Take a photo of this slide if you want.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Special thanks to Dr. Sergey Lapin and to Jeremy for the invitation. Without them this wouldn't have happened. I'll stay for five minutes after the official close. If you have questions, come up to the stage. If you want to follow up later, you have my email.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WSU · MAY 15, 2026</a:t>
            </a:r>
          </a:p>
        </p:txBody>
      </p:sp>
      <p:sp>
        <p:nvSpPr>
          <p:cNvPr id="3" name="TextBox 2"/>
          <p:cNvSpPr txBox="1"/>
          <p:nvPr/>
        </p:nvSpPr>
        <p:spPr>
          <a:xfrm>
            <a:off x="548640" y="1371600"/>
            <a:ext cx="10972800" cy="1280160"/>
          </a:xfrm>
          <a:prstGeom prst="rect">
            <a:avLst/>
          </a:prstGeom>
          <a:noFill/>
        </p:spPr>
        <p:txBody>
          <a:bodyPr wrap="square" lIns="0" rIns="0" tIns="0" bIns="0" anchor="t">
            <a:spAutoFit/>
          </a:bodyPr>
          <a:lstStyle/>
          <a:p>
            <a:pPr algn="l"/>
            <a:r>
              <a:rPr sz="5400" b="1" i="0">
                <a:solidFill>
                  <a:srgbClr val="EEEEEE"/>
                </a:solidFill>
                <a:latin typeface="Helvetica Neue"/>
              </a:rPr>
              <a:t>From Black Boxes to Glass Boxes</a:t>
            </a:r>
          </a:p>
        </p:txBody>
      </p:sp>
      <p:sp>
        <p:nvSpPr>
          <p:cNvPr id="4" name="TextBox 3"/>
          <p:cNvSpPr txBox="1"/>
          <p:nvPr/>
        </p:nvSpPr>
        <p:spPr>
          <a:xfrm>
            <a:off x="548640" y="2743200"/>
            <a:ext cx="10972800" cy="731520"/>
          </a:xfrm>
          <a:prstGeom prst="rect">
            <a:avLst/>
          </a:prstGeom>
          <a:noFill/>
        </p:spPr>
        <p:txBody>
          <a:bodyPr wrap="square" lIns="0" rIns="0" tIns="0" bIns="0" anchor="t">
            <a:spAutoFit/>
          </a:bodyPr>
          <a:lstStyle/>
          <a:p>
            <a:pPr algn="l"/>
            <a:r>
              <a:rPr sz="2400" b="0" i="0">
                <a:solidFill>
                  <a:srgbClr val="4FC3F7"/>
                </a:solidFill>
                <a:latin typeface="Helvetica Neue"/>
              </a:rPr>
              <a:t>Building Explainable Neural Trees for Safety-Critical Decisions</a:t>
            </a:r>
          </a:p>
        </p:txBody>
      </p:sp>
      <p:sp>
        <p:nvSpPr>
          <p:cNvPr id="5" name="TextBox 4"/>
          <p:cNvSpPr txBox="1"/>
          <p:nvPr/>
        </p:nvSpPr>
        <p:spPr>
          <a:xfrm>
            <a:off x="548640" y="4937760"/>
            <a:ext cx="10972800" cy="457200"/>
          </a:xfrm>
          <a:prstGeom prst="rect">
            <a:avLst/>
          </a:prstGeom>
          <a:noFill/>
        </p:spPr>
        <p:txBody>
          <a:bodyPr wrap="square" lIns="0" rIns="0" tIns="0" bIns="0" anchor="t">
            <a:spAutoFit/>
          </a:bodyPr>
          <a:lstStyle/>
          <a:p>
            <a:pPr algn="l"/>
            <a:r>
              <a:rPr sz="1600" b="1" i="0">
                <a:solidFill>
                  <a:srgbClr val="BBBBBB"/>
                </a:solidFill>
                <a:latin typeface="Helvetica Neue"/>
              </a:rPr>
              <a:t>Cagri Temel — CTO, Hezarfen LLC · IEEE Senior Member</a:t>
            </a:r>
          </a:p>
        </p:txBody>
      </p:sp>
      <p:sp>
        <p:nvSpPr>
          <p:cNvPr id="6" name="TextBox 5"/>
          <p:cNvSpPr txBox="1"/>
          <p:nvPr/>
        </p:nvSpPr>
        <p:spPr>
          <a:xfrm>
            <a:off x="548640" y="5486400"/>
            <a:ext cx="10972800" cy="365760"/>
          </a:xfrm>
          <a:prstGeom prst="rect">
            <a:avLst/>
          </a:prstGeom>
          <a:noFill/>
        </p:spPr>
        <p:txBody>
          <a:bodyPr wrap="square" lIns="0" rIns="0" tIns="0" bIns="0" anchor="t">
            <a:spAutoFit/>
          </a:bodyPr>
          <a:lstStyle/>
          <a:p>
            <a:pPr algn="l"/>
            <a:r>
              <a:rPr sz="1200" b="0" i="0">
                <a:solidFill>
                  <a:srgbClr val="888888"/>
                </a:solidFill>
                <a:latin typeface="Helvetica Neue"/>
              </a:rPr>
              <a:t>Washington State University · Data &amp; Analytics Breakout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WHO IS RUNNING THIS</a:t>
            </a:r>
          </a:p>
        </p:txBody>
      </p:sp>
      <p:sp>
        <p:nvSpPr>
          <p:cNvPr id="3" name="TextBox 2"/>
          <p:cNvSpPr txBox="1"/>
          <p:nvPr/>
        </p:nvSpPr>
        <p:spPr>
          <a:xfrm>
            <a:off x="548640" y="1188720"/>
            <a:ext cx="9144000" cy="822960"/>
          </a:xfrm>
          <a:prstGeom prst="rect">
            <a:avLst/>
          </a:prstGeom>
          <a:noFill/>
        </p:spPr>
        <p:txBody>
          <a:bodyPr wrap="square" lIns="0" rIns="0" tIns="0" bIns="0" anchor="t">
            <a:spAutoFit/>
          </a:bodyPr>
          <a:lstStyle/>
          <a:p>
            <a:pPr algn="l"/>
            <a:r>
              <a:rPr sz="4400" b="1" i="0">
                <a:solidFill>
                  <a:srgbClr val="4FC3F7"/>
                </a:solidFill>
                <a:latin typeface="Helvetica Neue"/>
              </a:rPr>
              <a:t>Cagri Temel</a:t>
            </a:r>
          </a:p>
        </p:txBody>
      </p:sp>
      <p:sp>
        <p:nvSpPr>
          <p:cNvPr id="4" name="TextBox 3"/>
          <p:cNvSpPr txBox="1"/>
          <p:nvPr/>
        </p:nvSpPr>
        <p:spPr>
          <a:xfrm>
            <a:off x="731520" y="2286000"/>
            <a:ext cx="10972800" cy="3657600"/>
          </a:xfrm>
          <a:prstGeom prst="rect">
            <a:avLst/>
          </a:prstGeom>
          <a:noFill/>
        </p:spPr>
        <p:txBody>
          <a:bodyPr wrap="square" lIns="0" rIns="0" tIns="0" bIns="0" anchor="t">
            <a:spAutoFit/>
          </a:bodyPr>
          <a:lstStyle/>
          <a:p>
            <a:pPr algn="l">
              <a:lnSpc>
                <a:spcPct val="150000"/>
              </a:lnSpc>
            </a:pPr>
            <a:r>
              <a:rPr sz="1800" b="0" i="0">
                <a:solidFill>
                  <a:srgbClr val="EEEEEE"/>
                </a:solidFill>
                <a:latin typeface="Helvetica Neue"/>
              </a:rPr>
              <a:t>CTO of Hezarfen LLC, building explainable AI for regulated industries</a:t>
            </a:r>
          </a:p>
          <a:p>
            <a:pPr algn="l">
              <a:lnSpc>
                <a:spcPct val="150000"/>
              </a:lnSpc>
            </a:pPr>
            <a:r>
              <a:rPr sz="1800" b="0" i="0">
                <a:solidFill>
                  <a:srgbClr val="EEEEEE"/>
                </a:solidFill>
                <a:latin typeface="Helvetica Neue"/>
              </a:rPr>
              <a:t>IEEE Senior Member · open-source maintainer</a:t>
            </a:r>
          </a:p>
          <a:p>
            <a:pPr algn="l">
              <a:lnSpc>
                <a:spcPct val="150000"/>
              </a:lnSpc>
            </a:pPr>
            <a:r>
              <a:rPr sz="1800" b="0" i="0">
                <a:solidFill>
                  <a:srgbClr val="EEEEEE"/>
                </a:solidFill>
                <a:latin typeface="Helvetica Neue"/>
              </a:rPr>
              <a:t>Author of neural-trees (PyPI, MIT), the package you will use today</a:t>
            </a:r>
          </a:p>
          <a:p>
            <a:pPr algn="l">
              <a:lnSpc>
                <a:spcPct val="150000"/>
              </a:lnSpc>
            </a:pPr>
            <a:r>
              <a:rPr sz="1600" b="0" i="1">
                <a:solidFill>
                  <a:srgbClr val="BBBBBB"/>
                </a:solidFill>
                <a:latin typeface="Helvetica Neue"/>
              </a:rPr>
              <a:t>Workshop paper: Robust and Uncertainty-Aware RUL Prediction with Temporal Neural Trees</a:t>
            </a:r>
          </a:p>
          <a:p>
            <a:pPr algn="l">
              <a:lnSpc>
                <a:spcPct val="150000"/>
              </a:lnSpc>
            </a:pPr>
            <a:r>
              <a:rPr sz="1800" b="1" i="0">
                <a:solidFill>
                  <a:srgbClr val="4FC3F7"/>
                </a:solidFill>
                <a:latin typeface="Helvetica Neue"/>
              </a:rPr>
              <a:t>Today: in 2 hours and 45 minutes you will build, break, and explain a real model</a:t>
            </a:r>
          </a:p>
        </p:txBody>
      </p:sp>
      <p:sp>
        <p:nvSpPr>
          <p:cNvPr id="5" name="TextBox 4"/>
          <p:cNvSpPr txBox="1"/>
          <p:nvPr/>
        </p:nvSpPr>
        <p:spPr>
          <a:xfrm>
            <a:off x="548640" y="6126480"/>
            <a:ext cx="10972800" cy="365760"/>
          </a:xfrm>
          <a:prstGeom prst="rect">
            <a:avLst/>
          </a:prstGeom>
          <a:noFill/>
        </p:spPr>
        <p:txBody>
          <a:bodyPr wrap="square" lIns="0" rIns="0" tIns="0" bIns="0" anchor="t">
            <a:spAutoFit/>
          </a:bodyPr>
          <a:lstStyle/>
          <a:p>
            <a:pPr algn="l"/>
            <a:r>
              <a:rPr sz="1100" b="0" i="0">
                <a:solidFill>
                  <a:srgbClr val="888888"/>
                </a:solidFill>
                <a:latin typeface="Helvetica Neue"/>
              </a:rPr>
              <a:t>github.com/cgrtml/neural-trees · linkedin.com/in/cagritemel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TODAY'S MISSION</a:t>
            </a:r>
          </a:p>
        </p:txBody>
      </p:sp>
      <p:sp>
        <p:nvSpPr>
          <p:cNvPr id="3" name="TextBox 2"/>
          <p:cNvSpPr txBox="1"/>
          <p:nvPr/>
        </p:nvSpPr>
        <p:spPr>
          <a:xfrm>
            <a:off x="548640" y="1188720"/>
            <a:ext cx="10972800" cy="1463040"/>
          </a:xfrm>
          <a:prstGeom prst="rect">
            <a:avLst/>
          </a:prstGeom>
          <a:noFill/>
        </p:spPr>
        <p:txBody>
          <a:bodyPr wrap="square" lIns="0" rIns="0" tIns="0" bIns="0" anchor="t">
            <a:spAutoFit/>
          </a:bodyPr>
          <a:lstStyle/>
          <a:p>
            <a:pPr algn="l"/>
            <a:r>
              <a:rPr sz="3400" b="1" i="0">
                <a:solidFill>
                  <a:srgbClr val="4FC3F7"/>
                </a:solidFill>
                <a:latin typeface="Helvetica Neue"/>
              </a:rPr>
              <a:t>Data-driven decisions, when the cost of being wrong is high</a:t>
            </a:r>
          </a:p>
        </p:txBody>
      </p:sp>
      <p:sp>
        <p:nvSpPr>
          <p:cNvPr id="4" name="TextBox 3"/>
          <p:cNvSpPr txBox="1"/>
          <p:nvPr/>
        </p:nvSpPr>
        <p:spPr>
          <a:xfrm>
            <a:off x="548640" y="3108960"/>
            <a:ext cx="10972800" cy="1371600"/>
          </a:xfrm>
          <a:prstGeom prst="rect">
            <a:avLst/>
          </a:prstGeom>
          <a:noFill/>
        </p:spPr>
        <p:txBody>
          <a:bodyPr wrap="square" lIns="0" rIns="0" tIns="0" bIns="0" anchor="t">
            <a:spAutoFit/>
          </a:bodyPr>
          <a:lstStyle/>
          <a:p>
            <a:pPr algn="l"/>
            <a:r>
              <a:rPr sz="2000" b="0" i="0">
                <a:solidFill>
                  <a:srgbClr val="EEEEEE"/>
                </a:solidFill>
                <a:latin typeface="Helvetica Neue"/>
              </a:rPr>
              <a:t>For the next few hours we will look at how data-driven systems make decisions, and at how we make those decisions trustworthy in safety-critical settings.</a:t>
            </a:r>
          </a:p>
        </p:txBody>
      </p:sp>
      <p:sp>
        <p:nvSpPr>
          <p:cNvPr id="5" name="TextBox 4"/>
          <p:cNvSpPr txBox="1"/>
          <p:nvPr/>
        </p:nvSpPr>
        <p:spPr>
          <a:xfrm>
            <a:off x="548640" y="4937760"/>
            <a:ext cx="10972800" cy="914400"/>
          </a:xfrm>
          <a:prstGeom prst="rect">
            <a:avLst/>
          </a:prstGeom>
          <a:noFill/>
        </p:spPr>
        <p:txBody>
          <a:bodyPr wrap="square" lIns="0" rIns="0" tIns="0" bIns="0" anchor="t">
            <a:spAutoFit/>
          </a:bodyPr>
          <a:lstStyle/>
          <a:p>
            <a:pPr algn="ctr"/>
            <a:r>
              <a:rPr sz="2200" b="1" i="0">
                <a:solidFill>
                  <a:srgbClr val="4FC3F7"/>
                </a:solidFill>
                <a:latin typeface="Helvetica Neue"/>
              </a:rPr>
              <a:t>Today's case: a turbofan engine that needs to predict its own failure.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2194560"/>
            <a:ext cx="10972800" cy="1097280"/>
          </a:xfrm>
          <a:prstGeom prst="rect">
            <a:avLst/>
          </a:prstGeom>
          <a:noFill/>
        </p:spPr>
        <p:txBody>
          <a:bodyPr wrap="square" lIns="0" rIns="0" tIns="0" bIns="0" anchor="t">
            <a:spAutoFit/>
          </a:bodyPr>
          <a:lstStyle/>
          <a:p>
            <a:pPr algn="ctr"/>
            <a:r>
              <a:rPr sz="5600" b="1" i="0">
                <a:solidFill>
                  <a:srgbClr val="EEEEEE"/>
                </a:solidFill>
                <a:latin typeface="Helvetica Neue"/>
              </a:rPr>
              <a:t>A turbofan engine.</a:t>
            </a:r>
          </a:p>
        </p:txBody>
      </p:sp>
      <p:sp>
        <p:nvSpPr>
          <p:cNvPr id="3" name="TextBox 2"/>
          <p:cNvSpPr txBox="1"/>
          <p:nvPr/>
        </p:nvSpPr>
        <p:spPr>
          <a:xfrm>
            <a:off x="548640" y="3474720"/>
            <a:ext cx="10972800" cy="914400"/>
          </a:xfrm>
          <a:prstGeom prst="rect">
            <a:avLst/>
          </a:prstGeom>
          <a:noFill/>
        </p:spPr>
        <p:txBody>
          <a:bodyPr wrap="square" lIns="0" rIns="0" tIns="0" bIns="0" anchor="t">
            <a:spAutoFit/>
          </a:bodyPr>
          <a:lstStyle/>
          <a:p>
            <a:pPr algn="ctr"/>
            <a:r>
              <a:rPr sz="4200" b="1" i="0">
                <a:solidFill>
                  <a:srgbClr val="4FC3F7"/>
                </a:solidFill>
                <a:latin typeface="Helvetica Neue"/>
              </a:rPr>
              <a:t>When will it fail?</a:t>
            </a:r>
          </a:p>
        </p:txBody>
      </p:sp>
      <p:sp>
        <p:nvSpPr>
          <p:cNvPr id="4" name="TextBox 3"/>
          <p:cNvSpPr txBox="1"/>
          <p:nvPr/>
        </p:nvSpPr>
        <p:spPr>
          <a:xfrm>
            <a:off x="548640" y="4937760"/>
            <a:ext cx="10972800" cy="548640"/>
          </a:xfrm>
          <a:prstGeom prst="rect">
            <a:avLst/>
          </a:prstGeom>
          <a:noFill/>
        </p:spPr>
        <p:txBody>
          <a:bodyPr wrap="square" lIns="0" rIns="0" tIns="0" bIns="0" anchor="t">
            <a:spAutoFit/>
          </a:bodyPr>
          <a:lstStyle/>
          <a:p>
            <a:pPr algn="ctr"/>
            <a:r>
              <a:rPr sz="1800" b="0" i="1">
                <a:solidFill>
                  <a:srgbClr val="BBBBBB"/>
                </a:solidFill>
                <a:latin typeface="Helvetica Neue"/>
              </a:rPr>
              <a:t>If you knew with certainty, what would you do differently?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STAKES</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3600" b="1" i="0">
                <a:solidFill>
                  <a:srgbClr val="EEEEEE"/>
                </a:solidFill>
                <a:latin typeface="Helvetica Neue"/>
              </a:rPr>
              <a:t>Getting this wrong is expensive</a:t>
            </a:r>
          </a:p>
        </p:txBody>
      </p:sp>
      <p:sp>
        <p:nvSpPr>
          <p:cNvPr id="4" name="TextBox 3"/>
          <p:cNvSpPr txBox="1"/>
          <p:nvPr/>
        </p:nvSpPr>
        <p:spPr>
          <a:xfrm>
            <a:off x="731520" y="2377440"/>
            <a:ext cx="10972800" cy="548640"/>
          </a:xfrm>
          <a:prstGeom prst="rect">
            <a:avLst/>
          </a:prstGeom>
          <a:noFill/>
        </p:spPr>
        <p:txBody>
          <a:bodyPr wrap="square" tIns="0" bIns="0">
            <a:spAutoFit/>
          </a:bodyPr>
          <a:lstStyle/>
          <a:p>
            <a:r>
              <a:rPr sz="2000" b="1">
                <a:solidFill>
                  <a:srgbClr val="FFB74D"/>
                </a:solidFill>
                <a:latin typeface="Helvetica Neue"/>
              </a:rPr>
              <a:t>Predict too late. </a:t>
            </a:r>
            <a:r>
              <a:rPr sz="2000">
                <a:solidFill>
                  <a:srgbClr val="EEEEEE"/>
                </a:solidFill>
                <a:latin typeface="Helvetica Neue"/>
              </a:rPr>
              <a:t>Engine fails mid-flight. Lives lost.</a:t>
            </a:r>
          </a:p>
        </p:txBody>
      </p:sp>
      <p:sp>
        <p:nvSpPr>
          <p:cNvPr id="5" name="TextBox 4"/>
          <p:cNvSpPr txBox="1"/>
          <p:nvPr/>
        </p:nvSpPr>
        <p:spPr>
          <a:xfrm>
            <a:off x="731520" y="3063240"/>
            <a:ext cx="10972800" cy="548640"/>
          </a:xfrm>
          <a:prstGeom prst="rect">
            <a:avLst/>
          </a:prstGeom>
          <a:noFill/>
        </p:spPr>
        <p:txBody>
          <a:bodyPr wrap="square" tIns="0" bIns="0">
            <a:spAutoFit/>
          </a:bodyPr>
          <a:lstStyle/>
          <a:p>
            <a:r>
              <a:rPr sz="2000" b="1">
                <a:solidFill>
                  <a:srgbClr val="FFB74D"/>
                </a:solidFill>
                <a:latin typeface="Helvetica Neue"/>
              </a:rPr>
              <a:t>Predict too early. </a:t>
            </a:r>
            <a:r>
              <a:rPr sz="2000">
                <a:solidFill>
                  <a:srgbClr val="EEEEEE"/>
                </a:solidFill>
                <a:latin typeface="Helvetica Neue"/>
              </a:rPr>
              <a:t>Healthy engines replaced. $100M wasted.</a:t>
            </a:r>
          </a:p>
        </p:txBody>
      </p:sp>
      <p:sp>
        <p:nvSpPr>
          <p:cNvPr id="6" name="TextBox 5"/>
          <p:cNvSpPr txBox="1"/>
          <p:nvPr/>
        </p:nvSpPr>
        <p:spPr>
          <a:xfrm>
            <a:off x="731520" y="3749040"/>
            <a:ext cx="10972800" cy="548640"/>
          </a:xfrm>
          <a:prstGeom prst="rect">
            <a:avLst/>
          </a:prstGeom>
          <a:noFill/>
        </p:spPr>
        <p:txBody>
          <a:bodyPr wrap="square" tIns="0" bIns="0">
            <a:spAutoFit/>
          </a:bodyPr>
          <a:lstStyle/>
          <a:p>
            <a:r>
              <a:rPr sz="2000" b="1">
                <a:solidFill>
                  <a:srgbClr val="FFB74D"/>
                </a:solidFill>
                <a:latin typeface="Helvetica Neue"/>
              </a:rPr>
              <a:t>Predict accurately but cannot explain. </a:t>
            </a:r>
            <a:r>
              <a:rPr sz="2000">
                <a:solidFill>
                  <a:srgbClr val="EEEEEE"/>
                </a:solidFill>
                <a:latin typeface="Helvetica Neue"/>
              </a:rPr>
              <a:t>FAA refuses to certify your system.</a:t>
            </a:r>
          </a:p>
        </p:txBody>
      </p:sp>
      <p:sp>
        <p:nvSpPr>
          <p:cNvPr id="7" name="TextBox 6"/>
          <p:cNvSpPr txBox="1"/>
          <p:nvPr/>
        </p:nvSpPr>
        <p:spPr>
          <a:xfrm>
            <a:off x="548640" y="5303520"/>
            <a:ext cx="10972800" cy="914400"/>
          </a:xfrm>
          <a:prstGeom prst="rect">
            <a:avLst/>
          </a:prstGeom>
          <a:noFill/>
        </p:spPr>
        <p:txBody>
          <a:bodyPr wrap="square" lIns="0" rIns="0" tIns="0" bIns="0" anchor="t">
            <a:spAutoFit/>
          </a:bodyPr>
          <a:lstStyle/>
          <a:p>
            <a:pPr algn="ctr"/>
            <a:r>
              <a:rPr sz="2200" b="1" i="0">
                <a:solidFill>
                  <a:srgbClr val="4FC3F7"/>
                </a:solidFill>
                <a:latin typeface="Helvetica Neue"/>
              </a:rPr>
              <a:t>Accuracy alone is not enough. You also need to defend the prediction.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DATASET</a:t>
            </a:r>
          </a:p>
        </p:txBody>
      </p:sp>
      <p:sp>
        <p:nvSpPr>
          <p:cNvPr id="3" name="TextBox 2"/>
          <p:cNvSpPr txBox="1"/>
          <p:nvPr/>
        </p:nvSpPr>
        <p:spPr>
          <a:xfrm>
            <a:off x="548640" y="1188720"/>
            <a:ext cx="9144000" cy="914400"/>
          </a:xfrm>
          <a:prstGeom prst="rect">
            <a:avLst/>
          </a:prstGeom>
          <a:noFill/>
        </p:spPr>
        <p:txBody>
          <a:bodyPr wrap="square" lIns="0" rIns="0" tIns="0" bIns="0" anchor="t">
            <a:spAutoFit/>
          </a:bodyPr>
          <a:lstStyle/>
          <a:p>
            <a:pPr algn="l"/>
            <a:r>
              <a:rPr sz="4400" b="1" i="0">
                <a:solidFill>
                  <a:srgbClr val="4FC3F7"/>
                </a:solidFill>
                <a:latin typeface="Helvetica Neue"/>
              </a:rPr>
              <a:t>NASA CMAPSS</a:t>
            </a:r>
          </a:p>
        </p:txBody>
      </p:sp>
      <p:sp>
        <p:nvSpPr>
          <p:cNvPr id="4" name="TextBox 3"/>
          <p:cNvSpPr txBox="1"/>
          <p:nvPr/>
        </p:nvSpPr>
        <p:spPr>
          <a:xfrm>
            <a:off x="548640" y="2103120"/>
            <a:ext cx="10972800" cy="457200"/>
          </a:xfrm>
          <a:prstGeom prst="rect">
            <a:avLst/>
          </a:prstGeom>
          <a:noFill/>
        </p:spPr>
        <p:txBody>
          <a:bodyPr wrap="square" lIns="0" rIns="0" tIns="0" bIns="0" anchor="t">
            <a:spAutoFit/>
          </a:bodyPr>
          <a:lstStyle/>
          <a:p>
            <a:pPr algn="l"/>
            <a:r>
              <a:rPr sz="1600" b="0" i="1">
                <a:solidFill>
                  <a:srgbClr val="BBBBBB"/>
                </a:solidFill>
                <a:latin typeface="Helvetica Neue"/>
              </a:rPr>
              <a:t>Commercial Modular Aero-Propulsion System Simulation</a:t>
            </a:r>
          </a:p>
        </p:txBody>
      </p:sp>
      <p:sp>
        <p:nvSpPr>
          <p:cNvPr id="5" name="TextBox 4"/>
          <p:cNvSpPr txBox="1"/>
          <p:nvPr/>
        </p:nvSpPr>
        <p:spPr>
          <a:xfrm>
            <a:off x="731520" y="2926080"/>
            <a:ext cx="10972800" cy="2743200"/>
          </a:xfrm>
          <a:prstGeom prst="rect">
            <a:avLst/>
          </a:prstGeom>
          <a:noFill/>
        </p:spPr>
        <p:txBody>
          <a:bodyPr wrap="square" lIns="0" rIns="0" tIns="0" bIns="0" anchor="t">
            <a:spAutoFit/>
          </a:bodyPr>
          <a:lstStyle/>
          <a:p>
            <a:pPr algn="l">
              <a:lnSpc>
                <a:spcPct val="140000"/>
              </a:lnSpc>
              <a:spcAft>
                <a:spcPts val="800"/>
              </a:spcAft>
            </a:pPr>
            <a:r>
              <a:rPr sz="1800" b="0" i="0">
                <a:solidFill>
                  <a:srgbClr val="EEEEEE"/>
                </a:solidFill>
                <a:latin typeface="Helvetica Neue"/>
              </a:rPr>
              <a:t>100 turbofan engines, simulated to failure</a:t>
            </a:r>
          </a:p>
          <a:p>
            <a:pPr algn="l">
              <a:lnSpc>
                <a:spcPct val="140000"/>
              </a:lnSpc>
              <a:spcAft>
                <a:spcPts val="800"/>
              </a:spcAft>
            </a:pPr>
            <a:r>
              <a:rPr sz="1800" b="0" i="0">
                <a:solidFill>
                  <a:srgbClr val="EEEEEE"/>
                </a:solidFill>
                <a:latin typeface="Helvetica Neue"/>
              </a:rPr>
              <a:t>21 sensors per timestep: temperatures, pressures, fan speeds, fuel flow</a:t>
            </a:r>
          </a:p>
          <a:p>
            <a:pPr algn="l">
              <a:lnSpc>
                <a:spcPct val="140000"/>
              </a:lnSpc>
              <a:spcAft>
                <a:spcPts val="800"/>
              </a:spcAft>
            </a:pPr>
            <a:r>
              <a:rPr sz="1800" b="0" i="0">
                <a:solidFill>
                  <a:srgbClr val="EEEEEE"/>
                </a:solidFill>
                <a:latin typeface="Helvetica Neue"/>
              </a:rPr>
              <a:t>Each engine logs hundreds of flight cycles before failing</a:t>
            </a:r>
          </a:p>
          <a:p>
            <a:pPr algn="l">
              <a:lnSpc>
                <a:spcPct val="140000"/>
              </a:lnSpc>
              <a:spcAft>
                <a:spcPts val="800"/>
              </a:spcAft>
            </a:pPr>
            <a:r>
              <a:rPr sz="1800" b="0" i="0">
                <a:solidFill>
                  <a:srgbClr val="EEEEEE"/>
                </a:solidFill>
                <a:latin typeface="Helvetica Neue"/>
              </a:rPr>
              <a:t>Public, open data, cited in 1,000+ academic papers</a:t>
            </a:r>
          </a:p>
        </p:txBody>
      </p:sp>
      <p:sp>
        <p:nvSpPr>
          <p:cNvPr id="6" name="TextBox 5"/>
          <p:cNvSpPr txBox="1"/>
          <p:nvPr/>
        </p:nvSpPr>
        <p:spPr>
          <a:xfrm>
            <a:off x="548640" y="6126480"/>
            <a:ext cx="10972800" cy="365760"/>
          </a:xfrm>
          <a:prstGeom prst="rect">
            <a:avLst/>
          </a:prstGeom>
          <a:noFill/>
        </p:spPr>
        <p:txBody>
          <a:bodyPr wrap="square" lIns="0" rIns="0" tIns="0" bIns="0" anchor="t">
            <a:spAutoFit/>
          </a:bodyPr>
          <a:lstStyle/>
          <a:p>
            <a:pPr algn="l"/>
            <a:r>
              <a:rPr sz="1100" b="0" i="0">
                <a:solidFill>
                  <a:srgbClr val="888888"/>
                </a:solidFill>
                <a:latin typeface="Helvetica Neue"/>
              </a:rPr>
              <a:t>Source: NASA Prognostics Center of Excellence · ti.arc.nasa.gov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THE TARGET</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3800" b="1" i="0">
                <a:solidFill>
                  <a:srgbClr val="4FC3F7"/>
                </a:solidFill>
                <a:latin typeface="Helvetica Neue"/>
              </a:rPr>
              <a:t>Remaining Useful Life (RUL)</a:t>
            </a:r>
          </a:p>
        </p:txBody>
      </p:sp>
      <p:sp>
        <p:nvSpPr>
          <p:cNvPr id="4" name="TextBox 3"/>
          <p:cNvSpPr txBox="1"/>
          <p:nvPr/>
        </p:nvSpPr>
        <p:spPr>
          <a:xfrm>
            <a:off x="548640" y="2377440"/>
            <a:ext cx="10972800" cy="548640"/>
          </a:xfrm>
          <a:prstGeom prst="rect">
            <a:avLst/>
          </a:prstGeom>
          <a:noFill/>
        </p:spPr>
        <p:txBody>
          <a:bodyPr wrap="square" lIns="0" rIns="0" tIns="0" bIns="0" anchor="t">
            <a:spAutoFit/>
          </a:bodyPr>
          <a:lstStyle/>
          <a:p>
            <a:pPr algn="l"/>
            <a:r>
              <a:rPr sz="2000" b="0" i="0">
                <a:solidFill>
                  <a:srgbClr val="EEEEEE"/>
                </a:solidFill>
                <a:latin typeface="Helvetica Neue"/>
              </a:rPr>
              <a:t>The number of flight cycles left before this engine fails.</a:t>
            </a:r>
          </a:p>
        </p:txBody>
      </p:sp>
      <p:sp>
        <p:nvSpPr>
          <p:cNvPr id="5" name="Rectangle 4"/>
          <p:cNvSpPr/>
          <p:nvPr/>
        </p:nvSpPr>
        <p:spPr>
          <a:xfrm>
            <a:off x="914400" y="3291840"/>
            <a:ext cx="10332720" cy="146304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400">
                <a:solidFill>
                  <a:srgbClr val="EEEEEE"/>
                </a:solidFill>
                <a:latin typeface="Menlo"/>
              </a:rPr>
              <a:t>cycle 0  →  cycle 50  →  cycle 100  →  cycle 150  →  cycle 192 (failure)</a:t>
            </a:r>
          </a:p>
          <a:p>
            <a:pPr algn="l">
              <a:lnSpc>
                <a:spcPct val="120000"/>
              </a:lnSpc>
            </a:pPr>
            <a:r>
              <a:rPr sz="1400">
                <a:solidFill>
                  <a:srgbClr val="EEEEEE"/>
                </a:solidFill>
                <a:latin typeface="Menlo"/>
              </a:rPr>
              <a:t>RUL=192     RUL=142      RUL=92        RUL=42         RUL=0 💥</a:t>
            </a:r>
          </a:p>
        </p:txBody>
      </p:sp>
      <p:sp>
        <p:nvSpPr>
          <p:cNvPr id="6" name="TextBox 5"/>
          <p:cNvSpPr txBox="1"/>
          <p:nvPr/>
        </p:nvSpPr>
        <p:spPr>
          <a:xfrm>
            <a:off x="548640" y="5120640"/>
            <a:ext cx="10972800" cy="914400"/>
          </a:xfrm>
          <a:prstGeom prst="rect">
            <a:avLst/>
          </a:prstGeom>
          <a:noFill/>
        </p:spPr>
        <p:txBody>
          <a:bodyPr wrap="square" lIns="0" rIns="0" tIns="0" bIns="0" anchor="t">
            <a:spAutoFit/>
          </a:bodyPr>
          <a:lstStyle/>
          <a:p>
            <a:pPr algn="l"/>
            <a:r>
              <a:rPr sz="1500" b="0" i="1">
                <a:solidFill>
                  <a:srgbClr val="BBBBBB"/>
                </a:solidFill>
                <a:latin typeface="Helvetica Neue"/>
              </a:rPr>
              <a:t>Train: complete trajectories. Test: partial trajectories, where you predict RUL from what you can see.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WHAT YOU GET PER CYCLE</a:t>
            </a:r>
          </a:p>
        </p:txBody>
      </p:sp>
      <p:sp>
        <p:nvSpPr>
          <p:cNvPr id="3" name="TextBox 2"/>
          <p:cNvSpPr txBox="1"/>
          <p:nvPr/>
        </p:nvSpPr>
        <p:spPr>
          <a:xfrm>
            <a:off x="548640" y="1188720"/>
            <a:ext cx="10972800" cy="822960"/>
          </a:xfrm>
          <a:prstGeom prst="rect">
            <a:avLst/>
          </a:prstGeom>
          <a:noFill/>
        </p:spPr>
        <p:txBody>
          <a:bodyPr wrap="square" lIns="0" rIns="0" tIns="0" bIns="0" anchor="t">
            <a:spAutoFit/>
          </a:bodyPr>
          <a:lstStyle/>
          <a:p>
            <a:pPr algn="l"/>
            <a:r>
              <a:rPr sz="3600" b="1" i="0">
                <a:solidFill>
                  <a:srgbClr val="4FC3F7"/>
                </a:solidFill>
                <a:latin typeface="Helvetica Neue"/>
              </a:rPr>
              <a:t>21 sensor channels</a:t>
            </a:r>
          </a:p>
        </p:txBody>
      </p:sp>
      <p:sp>
        <p:nvSpPr>
          <p:cNvPr id="4" name="TextBox 3"/>
          <p:cNvSpPr txBox="1"/>
          <p:nvPr/>
        </p:nvSpPr>
        <p:spPr>
          <a:xfrm>
            <a:off x="1828800" y="2194560"/>
            <a:ext cx="2743200" cy="292608"/>
          </a:xfrm>
          <a:prstGeom prst="rect">
            <a:avLst/>
          </a:prstGeom>
          <a:noFill/>
        </p:spPr>
        <p:txBody>
          <a:bodyPr wrap="square" lIns="0" rIns="0" tIns="0" bIns="0" anchor="t">
            <a:spAutoFit/>
          </a:bodyPr>
          <a:lstStyle/>
          <a:p>
            <a:pPr algn="l"/>
            <a:r>
              <a:rPr sz="1400" b="0" i="0">
                <a:solidFill>
                  <a:srgbClr val="EEEEEE"/>
                </a:solidFill>
                <a:latin typeface="Menlo"/>
              </a:rPr>
              <a:t>s2  · T24</a:t>
            </a:r>
          </a:p>
        </p:txBody>
      </p:sp>
      <p:sp>
        <p:nvSpPr>
          <p:cNvPr id="5" name="TextBox 4"/>
          <p:cNvSpPr txBox="1"/>
          <p:nvPr/>
        </p:nvSpPr>
        <p:spPr>
          <a:xfrm>
            <a:off x="5029200" y="2194560"/>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LPC outlet temperature</a:t>
            </a:r>
          </a:p>
        </p:txBody>
      </p:sp>
      <p:sp>
        <p:nvSpPr>
          <p:cNvPr id="6" name="TextBox 5"/>
          <p:cNvSpPr txBox="1"/>
          <p:nvPr/>
        </p:nvSpPr>
        <p:spPr>
          <a:xfrm>
            <a:off x="1828800" y="2487168"/>
            <a:ext cx="2743200" cy="292608"/>
          </a:xfrm>
          <a:prstGeom prst="rect">
            <a:avLst/>
          </a:prstGeom>
          <a:noFill/>
        </p:spPr>
        <p:txBody>
          <a:bodyPr wrap="square" lIns="0" rIns="0" tIns="0" bIns="0" anchor="t">
            <a:spAutoFit/>
          </a:bodyPr>
          <a:lstStyle/>
          <a:p>
            <a:pPr algn="l"/>
            <a:r>
              <a:rPr sz="1400" b="0" i="0">
                <a:solidFill>
                  <a:srgbClr val="EEEEEE"/>
                </a:solidFill>
                <a:latin typeface="Menlo"/>
              </a:rPr>
              <a:t>s3  · T30</a:t>
            </a:r>
          </a:p>
        </p:txBody>
      </p:sp>
      <p:sp>
        <p:nvSpPr>
          <p:cNvPr id="7" name="TextBox 6"/>
          <p:cNvSpPr txBox="1"/>
          <p:nvPr/>
        </p:nvSpPr>
        <p:spPr>
          <a:xfrm>
            <a:off x="5029200" y="2487168"/>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HPC outlet temperature</a:t>
            </a:r>
          </a:p>
        </p:txBody>
      </p:sp>
      <p:sp>
        <p:nvSpPr>
          <p:cNvPr id="8" name="TextBox 7"/>
          <p:cNvSpPr txBox="1"/>
          <p:nvPr/>
        </p:nvSpPr>
        <p:spPr>
          <a:xfrm>
            <a:off x="1828800" y="2779776"/>
            <a:ext cx="2743200" cy="292608"/>
          </a:xfrm>
          <a:prstGeom prst="rect">
            <a:avLst/>
          </a:prstGeom>
          <a:noFill/>
        </p:spPr>
        <p:txBody>
          <a:bodyPr wrap="square" lIns="0" rIns="0" tIns="0" bIns="0" anchor="t">
            <a:spAutoFit/>
          </a:bodyPr>
          <a:lstStyle/>
          <a:p>
            <a:pPr algn="l"/>
            <a:r>
              <a:rPr sz="1400" b="0" i="0">
                <a:solidFill>
                  <a:srgbClr val="EEEEEE"/>
                </a:solidFill>
                <a:latin typeface="Menlo"/>
              </a:rPr>
              <a:t>s4  · T50</a:t>
            </a:r>
          </a:p>
        </p:txBody>
      </p:sp>
      <p:sp>
        <p:nvSpPr>
          <p:cNvPr id="9" name="TextBox 8"/>
          <p:cNvSpPr txBox="1"/>
          <p:nvPr/>
        </p:nvSpPr>
        <p:spPr>
          <a:xfrm>
            <a:off x="5029200" y="2779776"/>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LPT outlet temperature</a:t>
            </a:r>
          </a:p>
        </p:txBody>
      </p:sp>
      <p:sp>
        <p:nvSpPr>
          <p:cNvPr id="10" name="TextBox 9"/>
          <p:cNvSpPr txBox="1"/>
          <p:nvPr/>
        </p:nvSpPr>
        <p:spPr>
          <a:xfrm>
            <a:off x="1828800" y="3072384"/>
            <a:ext cx="2743200" cy="292608"/>
          </a:xfrm>
          <a:prstGeom prst="rect">
            <a:avLst/>
          </a:prstGeom>
          <a:noFill/>
        </p:spPr>
        <p:txBody>
          <a:bodyPr wrap="square" lIns="0" rIns="0" tIns="0" bIns="0" anchor="t">
            <a:spAutoFit/>
          </a:bodyPr>
          <a:lstStyle/>
          <a:p>
            <a:pPr algn="l"/>
            <a:r>
              <a:rPr sz="1400" b="1" i="0">
                <a:solidFill>
                  <a:srgbClr val="4FC3F7"/>
                </a:solidFill>
                <a:latin typeface="Menlo"/>
              </a:rPr>
              <a:t>s7  · P30</a:t>
            </a:r>
          </a:p>
        </p:txBody>
      </p:sp>
      <p:sp>
        <p:nvSpPr>
          <p:cNvPr id="11" name="TextBox 10"/>
          <p:cNvSpPr txBox="1"/>
          <p:nvPr/>
        </p:nvSpPr>
        <p:spPr>
          <a:xfrm>
            <a:off x="5029200" y="3072384"/>
            <a:ext cx="6400800" cy="292608"/>
          </a:xfrm>
          <a:prstGeom prst="rect">
            <a:avLst/>
          </a:prstGeom>
          <a:noFill/>
        </p:spPr>
        <p:txBody>
          <a:bodyPr wrap="square" lIns="0" rIns="0" tIns="0" bIns="0" anchor="t">
            <a:spAutoFit/>
          </a:bodyPr>
          <a:lstStyle/>
          <a:p>
            <a:pPr algn="l"/>
            <a:r>
              <a:rPr sz="1400" b="0" i="0">
                <a:solidFill>
                  <a:srgbClr val="4FC3F7"/>
                </a:solidFill>
                <a:latin typeface="Helvetica Neue"/>
              </a:rPr>
              <a:t>HPC outlet pressure</a:t>
            </a:r>
          </a:p>
        </p:txBody>
      </p:sp>
      <p:sp>
        <p:nvSpPr>
          <p:cNvPr id="12" name="TextBox 11"/>
          <p:cNvSpPr txBox="1"/>
          <p:nvPr/>
        </p:nvSpPr>
        <p:spPr>
          <a:xfrm>
            <a:off x="1828800" y="3364992"/>
            <a:ext cx="2743200" cy="292608"/>
          </a:xfrm>
          <a:prstGeom prst="rect">
            <a:avLst/>
          </a:prstGeom>
          <a:noFill/>
        </p:spPr>
        <p:txBody>
          <a:bodyPr wrap="square" lIns="0" rIns="0" tIns="0" bIns="0" anchor="t">
            <a:spAutoFit/>
          </a:bodyPr>
          <a:lstStyle/>
          <a:p>
            <a:pPr algn="l"/>
            <a:r>
              <a:rPr sz="1400" b="0" i="0">
                <a:solidFill>
                  <a:srgbClr val="EEEEEE"/>
                </a:solidFill>
                <a:latin typeface="Menlo"/>
              </a:rPr>
              <a:t>s8  · Nf</a:t>
            </a:r>
          </a:p>
        </p:txBody>
      </p:sp>
      <p:sp>
        <p:nvSpPr>
          <p:cNvPr id="13" name="TextBox 12"/>
          <p:cNvSpPr txBox="1"/>
          <p:nvPr/>
        </p:nvSpPr>
        <p:spPr>
          <a:xfrm>
            <a:off x="5029200" y="3364992"/>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Physical fan speed</a:t>
            </a:r>
          </a:p>
        </p:txBody>
      </p:sp>
      <p:sp>
        <p:nvSpPr>
          <p:cNvPr id="14" name="TextBox 13"/>
          <p:cNvSpPr txBox="1"/>
          <p:nvPr/>
        </p:nvSpPr>
        <p:spPr>
          <a:xfrm>
            <a:off x="1828800" y="3657600"/>
            <a:ext cx="2743200" cy="292608"/>
          </a:xfrm>
          <a:prstGeom prst="rect">
            <a:avLst/>
          </a:prstGeom>
          <a:noFill/>
        </p:spPr>
        <p:txBody>
          <a:bodyPr wrap="square" lIns="0" rIns="0" tIns="0" bIns="0" anchor="t">
            <a:spAutoFit/>
          </a:bodyPr>
          <a:lstStyle/>
          <a:p>
            <a:pPr algn="l"/>
            <a:r>
              <a:rPr sz="1400" b="0" i="0">
                <a:solidFill>
                  <a:srgbClr val="EEEEEE"/>
                </a:solidFill>
                <a:latin typeface="Menlo"/>
              </a:rPr>
              <a:t>s9  · Nc</a:t>
            </a:r>
          </a:p>
        </p:txBody>
      </p:sp>
      <p:sp>
        <p:nvSpPr>
          <p:cNvPr id="15" name="TextBox 14"/>
          <p:cNvSpPr txBox="1"/>
          <p:nvPr/>
        </p:nvSpPr>
        <p:spPr>
          <a:xfrm>
            <a:off x="5029200" y="3657600"/>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Physical core speed</a:t>
            </a:r>
          </a:p>
        </p:txBody>
      </p:sp>
      <p:sp>
        <p:nvSpPr>
          <p:cNvPr id="16" name="TextBox 15"/>
          <p:cNvSpPr txBox="1"/>
          <p:nvPr/>
        </p:nvSpPr>
        <p:spPr>
          <a:xfrm>
            <a:off x="1828800" y="3950208"/>
            <a:ext cx="2743200" cy="292608"/>
          </a:xfrm>
          <a:prstGeom prst="rect">
            <a:avLst/>
          </a:prstGeom>
          <a:noFill/>
        </p:spPr>
        <p:txBody>
          <a:bodyPr wrap="square" lIns="0" rIns="0" tIns="0" bIns="0" anchor="t">
            <a:spAutoFit/>
          </a:bodyPr>
          <a:lstStyle/>
          <a:p>
            <a:pPr algn="l"/>
            <a:r>
              <a:rPr sz="1400" b="1" i="0">
                <a:solidFill>
                  <a:srgbClr val="4FC3F7"/>
                </a:solidFill>
                <a:latin typeface="Menlo"/>
              </a:rPr>
              <a:t>s11 · Ps30</a:t>
            </a:r>
          </a:p>
        </p:txBody>
      </p:sp>
      <p:sp>
        <p:nvSpPr>
          <p:cNvPr id="17" name="TextBox 16"/>
          <p:cNvSpPr txBox="1"/>
          <p:nvPr/>
        </p:nvSpPr>
        <p:spPr>
          <a:xfrm>
            <a:off x="5029200" y="3950208"/>
            <a:ext cx="6400800" cy="292608"/>
          </a:xfrm>
          <a:prstGeom prst="rect">
            <a:avLst/>
          </a:prstGeom>
          <a:noFill/>
        </p:spPr>
        <p:txBody>
          <a:bodyPr wrap="square" lIns="0" rIns="0" tIns="0" bIns="0" anchor="t">
            <a:spAutoFit/>
          </a:bodyPr>
          <a:lstStyle/>
          <a:p>
            <a:pPr algn="l"/>
            <a:r>
              <a:rPr sz="1400" b="0" i="0">
                <a:solidFill>
                  <a:srgbClr val="4FC3F7"/>
                </a:solidFill>
                <a:latin typeface="Helvetica Neue"/>
              </a:rPr>
              <a:t>Static pressure HPC outlet</a:t>
            </a:r>
          </a:p>
        </p:txBody>
      </p:sp>
      <p:sp>
        <p:nvSpPr>
          <p:cNvPr id="18" name="TextBox 17"/>
          <p:cNvSpPr txBox="1"/>
          <p:nvPr/>
        </p:nvSpPr>
        <p:spPr>
          <a:xfrm>
            <a:off x="1828800" y="4242816"/>
            <a:ext cx="2743200" cy="292608"/>
          </a:xfrm>
          <a:prstGeom prst="rect">
            <a:avLst/>
          </a:prstGeom>
          <a:noFill/>
        </p:spPr>
        <p:txBody>
          <a:bodyPr wrap="square" lIns="0" rIns="0" tIns="0" bIns="0" anchor="t">
            <a:spAutoFit/>
          </a:bodyPr>
          <a:lstStyle/>
          <a:p>
            <a:pPr algn="l"/>
            <a:r>
              <a:rPr sz="1400" b="0" i="0">
                <a:solidFill>
                  <a:srgbClr val="EEEEEE"/>
                </a:solidFill>
                <a:latin typeface="Menlo"/>
              </a:rPr>
              <a:t>s12 · phi</a:t>
            </a:r>
          </a:p>
        </p:txBody>
      </p:sp>
      <p:sp>
        <p:nvSpPr>
          <p:cNvPr id="19" name="TextBox 18"/>
          <p:cNvSpPr txBox="1"/>
          <p:nvPr/>
        </p:nvSpPr>
        <p:spPr>
          <a:xfrm>
            <a:off x="5029200" y="4242816"/>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Ratio of fuel flow to Ps30</a:t>
            </a:r>
          </a:p>
        </p:txBody>
      </p:sp>
      <p:sp>
        <p:nvSpPr>
          <p:cNvPr id="20" name="TextBox 19"/>
          <p:cNvSpPr txBox="1"/>
          <p:nvPr/>
        </p:nvSpPr>
        <p:spPr>
          <a:xfrm>
            <a:off x="1828800" y="4535424"/>
            <a:ext cx="2743200" cy="292608"/>
          </a:xfrm>
          <a:prstGeom prst="rect">
            <a:avLst/>
          </a:prstGeom>
          <a:noFill/>
        </p:spPr>
        <p:txBody>
          <a:bodyPr wrap="square" lIns="0" rIns="0" tIns="0" bIns="0" anchor="t">
            <a:spAutoFit/>
          </a:bodyPr>
          <a:lstStyle/>
          <a:p>
            <a:pPr algn="l"/>
            <a:r>
              <a:rPr sz="1400" b="1" i="0">
                <a:solidFill>
                  <a:srgbClr val="4FC3F7"/>
                </a:solidFill>
                <a:latin typeface="Menlo"/>
              </a:rPr>
              <a:t>s14 · NRc</a:t>
            </a:r>
          </a:p>
        </p:txBody>
      </p:sp>
      <p:sp>
        <p:nvSpPr>
          <p:cNvPr id="21" name="TextBox 20"/>
          <p:cNvSpPr txBox="1"/>
          <p:nvPr/>
        </p:nvSpPr>
        <p:spPr>
          <a:xfrm>
            <a:off x="5029200" y="4535424"/>
            <a:ext cx="6400800" cy="292608"/>
          </a:xfrm>
          <a:prstGeom prst="rect">
            <a:avLst/>
          </a:prstGeom>
          <a:noFill/>
        </p:spPr>
        <p:txBody>
          <a:bodyPr wrap="square" lIns="0" rIns="0" tIns="0" bIns="0" anchor="t">
            <a:spAutoFit/>
          </a:bodyPr>
          <a:lstStyle/>
          <a:p>
            <a:pPr algn="l"/>
            <a:r>
              <a:rPr sz="1400" b="0" i="0">
                <a:solidFill>
                  <a:srgbClr val="4FC3F7"/>
                </a:solidFill>
                <a:latin typeface="Helvetica Neue"/>
              </a:rPr>
              <a:t>Corrected core speed</a:t>
            </a:r>
          </a:p>
        </p:txBody>
      </p:sp>
      <p:sp>
        <p:nvSpPr>
          <p:cNvPr id="22" name="TextBox 21"/>
          <p:cNvSpPr txBox="1"/>
          <p:nvPr/>
        </p:nvSpPr>
        <p:spPr>
          <a:xfrm>
            <a:off x="1828800" y="4828032"/>
            <a:ext cx="2743200" cy="292608"/>
          </a:xfrm>
          <a:prstGeom prst="rect">
            <a:avLst/>
          </a:prstGeom>
          <a:noFill/>
        </p:spPr>
        <p:txBody>
          <a:bodyPr wrap="square" lIns="0" rIns="0" tIns="0" bIns="0" anchor="t">
            <a:spAutoFit/>
          </a:bodyPr>
          <a:lstStyle/>
          <a:p>
            <a:pPr algn="l"/>
            <a:r>
              <a:rPr sz="1400" b="0" i="0">
                <a:solidFill>
                  <a:srgbClr val="EEEEEE"/>
                </a:solidFill>
                <a:latin typeface="Menlo"/>
              </a:rPr>
              <a:t>s15 · BPR</a:t>
            </a:r>
          </a:p>
        </p:txBody>
      </p:sp>
      <p:sp>
        <p:nvSpPr>
          <p:cNvPr id="23" name="TextBox 22"/>
          <p:cNvSpPr txBox="1"/>
          <p:nvPr/>
        </p:nvSpPr>
        <p:spPr>
          <a:xfrm>
            <a:off x="5029200" y="4828032"/>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Bypass ratio</a:t>
            </a:r>
          </a:p>
        </p:txBody>
      </p:sp>
      <p:sp>
        <p:nvSpPr>
          <p:cNvPr id="24" name="TextBox 23"/>
          <p:cNvSpPr txBox="1"/>
          <p:nvPr/>
        </p:nvSpPr>
        <p:spPr>
          <a:xfrm>
            <a:off x="1828800" y="5120640"/>
            <a:ext cx="2743200" cy="292608"/>
          </a:xfrm>
          <a:prstGeom prst="rect">
            <a:avLst/>
          </a:prstGeom>
          <a:noFill/>
        </p:spPr>
        <p:txBody>
          <a:bodyPr wrap="square" lIns="0" rIns="0" tIns="0" bIns="0" anchor="t">
            <a:spAutoFit/>
          </a:bodyPr>
          <a:lstStyle/>
          <a:p>
            <a:pPr algn="l"/>
            <a:r>
              <a:rPr sz="1400" b="0" i="0">
                <a:solidFill>
                  <a:srgbClr val="EEEEEE"/>
                </a:solidFill>
                <a:latin typeface="Menlo"/>
              </a:rPr>
              <a:t>s17 · htBleed</a:t>
            </a:r>
          </a:p>
        </p:txBody>
      </p:sp>
      <p:sp>
        <p:nvSpPr>
          <p:cNvPr id="25" name="TextBox 24"/>
          <p:cNvSpPr txBox="1"/>
          <p:nvPr/>
        </p:nvSpPr>
        <p:spPr>
          <a:xfrm>
            <a:off x="5029200" y="5120640"/>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Bleed enthalpy</a:t>
            </a:r>
          </a:p>
        </p:txBody>
      </p:sp>
      <p:sp>
        <p:nvSpPr>
          <p:cNvPr id="26" name="TextBox 25"/>
          <p:cNvSpPr txBox="1"/>
          <p:nvPr/>
        </p:nvSpPr>
        <p:spPr>
          <a:xfrm>
            <a:off x="1828800" y="5413248"/>
            <a:ext cx="2743200" cy="292608"/>
          </a:xfrm>
          <a:prstGeom prst="rect">
            <a:avLst/>
          </a:prstGeom>
          <a:noFill/>
        </p:spPr>
        <p:txBody>
          <a:bodyPr wrap="square" lIns="0" rIns="0" tIns="0" bIns="0" anchor="t">
            <a:spAutoFit/>
          </a:bodyPr>
          <a:lstStyle/>
          <a:p>
            <a:pPr algn="l"/>
            <a:r>
              <a:rPr sz="1400" b="0" i="0">
                <a:solidFill>
                  <a:srgbClr val="EEEEEE"/>
                </a:solidFill>
                <a:latin typeface="Menlo"/>
              </a:rPr>
              <a:t>s20 · W31</a:t>
            </a:r>
          </a:p>
        </p:txBody>
      </p:sp>
      <p:sp>
        <p:nvSpPr>
          <p:cNvPr id="27" name="TextBox 26"/>
          <p:cNvSpPr txBox="1"/>
          <p:nvPr/>
        </p:nvSpPr>
        <p:spPr>
          <a:xfrm>
            <a:off x="5029200" y="5413248"/>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HPT coolant bleed</a:t>
            </a:r>
          </a:p>
        </p:txBody>
      </p:sp>
      <p:sp>
        <p:nvSpPr>
          <p:cNvPr id="28" name="TextBox 27"/>
          <p:cNvSpPr txBox="1"/>
          <p:nvPr/>
        </p:nvSpPr>
        <p:spPr>
          <a:xfrm>
            <a:off x="548640" y="6035040"/>
            <a:ext cx="10972800" cy="365760"/>
          </a:xfrm>
          <a:prstGeom prst="rect">
            <a:avLst/>
          </a:prstGeom>
          <a:noFill/>
        </p:spPr>
        <p:txBody>
          <a:bodyPr wrap="square" lIns="0" rIns="0" tIns="0" bIns="0" anchor="t">
            <a:spAutoFit/>
          </a:bodyPr>
          <a:lstStyle/>
          <a:p>
            <a:pPr algn="l"/>
            <a:r>
              <a:rPr sz="1200" b="0" i="1">
                <a:solidFill>
                  <a:srgbClr val="888888"/>
                </a:solidFill>
                <a:latin typeface="Helvetica Neue"/>
              </a:rPr>
              <a:t>Highlighted rows are the most predictive after feature selection.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A MODERN APPROACH</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3800" b="1" i="0">
                <a:solidFill>
                  <a:srgbClr val="4FC3F7"/>
                </a:solidFill>
                <a:latin typeface="Helvetica Neue"/>
              </a:rPr>
              <a:t>Deep learning gets us close</a:t>
            </a:r>
          </a:p>
        </p:txBody>
      </p:sp>
      <p:sp>
        <p:nvSpPr>
          <p:cNvPr id="4" name="Rectangle 3"/>
          <p:cNvSpPr/>
          <p:nvPr/>
        </p:nvSpPr>
        <p:spPr>
          <a:xfrm>
            <a:off x="1828800" y="2743200"/>
            <a:ext cx="8503920" cy="1828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400">
                <a:solidFill>
                  <a:srgbClr val="EEEEEE"/>
                </a:solidFill>
                <a:latin typeface="Menlo"/>
              </a:rPr>
              <a:t>model = nn.LSTM(input_size=17, hidden_size=64, num_layers=2)</a:t>
            </a:r>
          </a:p>
          <a:p>
            <a:pPr algn="l">
              <a:lnSpc>
                <a:spcPct val="120000"/>
              </a:lnSpc>
            </a:pPr>
            <a:r>
              <a:rPr sz="1400">
                <a:solidFill>
                  <a:srgbClr val="EEEEEE"/>
                </a:solidFill>
                <a:latin typeface="Menlo"/>
              </a:rPr>
              <a:t># … training …</a:t>
            </a:r>
          </a:p>
          <a:p>
            <a:pPr algn="l">
              <a:lnSpc>
                <a:spcPct val="120000"/>
              </a:lnSpc>
            </a:pPr>
            <a:r>
              <a:rPr sz="1400">
                <a:solidFill>
                  <a:srgbClr val="EEEEEE"/>
                </a:solidFill>
                <a:latin typeface="Menlo"/>
              </a:rPr>
              <a:t>RMSE on test set: 15.49 cycles</a:t>
            </a:r>
          </a:p>
          <a:p>
            <a:pPr algn="l">
              <a:lnSpc>
                <a:spcPct val="120000"/>
              </a:lnSpc>
            </a:pPr>
            <a:r>
              <a:rPr sz="1400">
                <a:solidFill>
                  <a:srgbClr val="EEEEEE"/>
                </a:solidFill>
                <a:latin typeface="Menlo"/>
              </a:rPr>
              <a:t>R²: 0.855</a:t>
            </a:r>
          </a:p>
        </p:txBody>
      </p:sp>
      <p:sp>
        <p:nvSpPr>
          <p:cNvPr id="5" name="TextBox 4"/>
          <p:cNvSpPr txBox="1"/>
          <p:nvPr/>
        </p:nvSpPr>
        <p:spPr>
          <a:xfrm>
            <a:off x="548640" y="5120640"/>
            <a:ext cx="10972800" cy="914400"/>
          </a:xfrm>
          <a:prstGeom prst="rect">
            <a:avLst/>
          </a:prstGeom>
          <a:noFill/>
        </p:spPr>
        <p:txBody>
          <a:bodyPr wrap="square" lIns="0" rIns="0" tIns="0" bIns="0" anchor="t">
            <a:spAutoFit/>
          </a:bodyPr>
          <a:lstStyle/>
          <a:p>
            <a:pPr algn="ctr"/>
            <a:r>
              <a:rPr sz="2000" b="1" i="0">
                <a:solidFill>
                  <a:srgbClr val="4FC3F7"/>
                </a:solidFill>
                <a:latin typeface="Helvetica Neue"/>
              </a:rPr>
              <a:t>That's pretty good. About 15 cycles off, on average. So we ship it to the FAA, right?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0A0A"/>
        </a:solidFill>
        <a:effectLst/>
      </p:bgPr>
    </p:bg>
    <p:spTree>
      <p:nvGrpSpPr>
        <p:cNvPr id="1" name=""/>
        <p:cNvGrpSpPr/>
        <p:nvPr/>
      </p:nvGrpSpPr>
      <p:grpSpPr/>
      <p:sp>
        <p:nvSpPr>
          <p:cNvPr id="2" name="TextBox 1"/>
          <p:cNvSpPr txBox="1"/>
          <p:nvPr/>
        </p:nvSpPr>
        <p:spPr>
          <a:xfrm>
            <a:off x="548640" y="548640"/>
            <a:ext cx="10972800" cy="1463040"/>
          </a:xfrm>
          <a:prstGeom prst="rect">
            <a:avLst/>
          </a:prstGeom>
          <a:noFill/>
        </p:spPr>
        <p:txBody>
          <a:bodyPr wrap="square" lIns="0" rIns="0" tIns="0" bIns="0" anchor="t">
            <a:spAutoFit/>
          </a:bodyPr>
          <a:lstStyle/>
          <a:p>
            <a:pPr algn="ctr"/>
            <a:r>
              <a:rPr sz="12000" b="1" i="0">
                <a:solidFill>
                  <a:srgbClr val="EF5350"/>
                </a:solidFill>
                <a:latin typeface="Helvetica Neue"/>
              </a:rPr>
              <a:t>No.</a:t>
            </a:r>
          </a:p>
        </p:txBody>
      </p:sp>
      <p:sp>
        <p:nvSpPr>
          <p:cNvPr id="3" name="TextBox 2"/>
          <p:cNvSpPr txBox="1"/>
          <p:nvPr/>
        </p:nvSpPr>
        <p:spPr>
          <a:xfrm>
            <a:off x="548640" y="2743200"/>
            <a:ext cx="10972800" cy="731520"/>
          </a:xfrm>
          <a:prstGeom prst="rect">
            <a:avLst/>
          </a:prstGeom>
          <a:noFill/>
        </p:spPr>
        <p:txBody>
          <a:bodyPr wrap="square" lIns="0" rIns="0" tIns="0" bIns="0" anchor="t">
            <a:spAutoFit/>
          </a:bodyPr>
          <a:lstStyle/>
          <a:p>
            <a:pPr algn="ctr"/>
            <a:r>
              <a:rPr sz="2400" b="0" i="0">
                <a:solidFill>
                  <a:srgbClr val="EEEEEE"/>
                </a:solidFill>
                <a:latin typeface="Helvetica Neue"/>
              </a:rPr>
              <a:t>Regulators do not ask 'how accurate is your model?'</a:t>
            </a:r>
          </a:p>
        </p:txBody>
      </p:sp>
      <p:sp>
        <p:nvSpPr>
          <p:cNvPr id="4" name="TextBox 3"/>
          <p:cNvSpPr txBox="1"/>
          <p:nvPr/>
        </p:nvSpPr>
        <p:spPr>
          <a:xfrm>
            <a:off x="548640" y="3566160"/>
            <a:ext cx="10972800" cy="731520"/>
          </a:xfrm>
          <a:prstGeom prst="rect">
            <a:avLst/>
          </a:prstGeom>
          <a:noFill/>
        </p:spPr>
        <p:txBody>
          <a:bodyPr wrap="square" lIns="0" rIns="0" tIns="0" bIns="0" anchor="t">
            <a:spAutoFit/>
          </a:bodyPr>
          <a:lstStyle/>
          <a:p>
            <a:pPr algn="ctr"/>
            <a:r>
              <a:rPr sz="2800" b="1" i="0">
                <a:solidFill>
                  <a:srgbClr val="4FC3F7"/>
                </a:solidFill>
                <a:latin typeface="Helvetica Neue"/>
              </a:rPr>
              <a:t>They ask 'why did your model say that?'</a:t>
            </a:r>
          </a:p>
        </p:txBody>
      </p:sp>
      <p:sp>
        <p:nvSpPr>
          <p:cNvPr id="5" name="TextBox 4"/>
          <p:cNvSpPr txBox="1"/>
          <p:nvPr/>
        </p:nvSpPr>
        <p:spPr>
          <a:xfrm>
            <a:off x="548640" y="4937760"/>
            <a:ext cx="10972800" cy="457200"/>
          </a:xfrm>
          <a:prstGeom prst="rect">
            <a:avLst/>
          </a:prstGeom>
          <a:noFill/>
        </p:spPr>
        <p:txBody>
          <a:bodyPr wrap="square" lIns="0" rIns="0" tIns="0" bIns="0" anchor="t">
            <a:spAutoFit/>
          </a:bodyPr>
          <a:lstStyle/>
          <a:p>
            <a:pPr algn="ctr"/>
            <a:r>
              <a:rPr sz="1800" b="0" i="0">
                <a:solidFill>
                  <a:srgbClr val="BBBBBB"/>
                </a:solidFill>
                <a:latin typeface="Helvetica Neue"/>
              </a:rPr>
              <a:t>FAA · FDA · OCC (banking) · EU AI Act</a:t>
            </a:r>
          </a:p>
        </p:txBody>
      </p:sp>
      <p:sp>
        <p:nvSpPr>
          <p:cNvPr id="6" name="TextBox 5"/>
          <p:cNvSpPr txBox="1"/>
          <p:nvPr/>
        </p:nvSpPr>
        <p:spPr>
          <a:xfrm>
            <a:off x="548640" y="5486400"/>
            <a:ext cx="10972800" cy="457200"/>
          </a:xfrm>
          <a:prstGeom prst="rect">
            <a:avLst/>
          </a:prstGeom>
          <a:noFill/>
        </p:spPr>
        <p:txBody>
          <a:bodyPr wrap="square" lIns="0" rIns="0" tIns="0" bIns="0" anchor="t">
            <a:spAutoFit/>
          </a:bodyPr>
          <a:lstStyle/>
          <a:p>
            <a:pPr algn="ctr"/>
            <a:r>
              <a:rPr sz="1400" b="0" i="1">
                <a:solidFill>
                  <a:srgbClr val="888888"/>
                </a:solidFill>
                <a:latin typeface="Helvetica Neue"/>
              </a:rPr>
              <a:t>All require traceable, explainable decisions for high-risk systems.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548640"/>
            <a:ext cx="10972800" cy="914400"/>
          </a:xfrm>
          <a:prstGeom prst="rect">
            <a:avLst/>
          </a:prstGeom>
          <a:noFill/>
        </p:spPr>
        <p:txBody>
          <a:bodyPr wrap="square" lIns="0" rIns="0" tIns="0" bIns="0" anchor="t">
            <a:spAutoFit/>
          </a:bodyPr>
          <a:lstStyle/>
          <a:p>
            <a:pPr algn="ctr"/>
            <a:r>
              <a:rPr sz="3600" b="1" i="0">
                <a:solidFill>
                  <a:srgbClr val="EEEEEE"/>
                </a:solidFill>
                <a:latin typeface="Helvetica Neue"/>
              </a:rPr>
              <a:t>Black Box vs. Glass Box</a:t>
            </a:r>
          </a:p>
        </p:txBody>
      </p:sp>
      <p:sp>
        <p:nvSpPr>
          <p:cNvPr id="3" name="Rectangle 2"/>
          <p:cNvSpPr/>
          <p:nvPr/>
        </p:nvSpPr>
        <p:spPr>
          <a:xfrm>
            <a:off x="914400" y="1828800"/>
            <a:ext cx="5029200" cy="3291840"/>
          </a:xfrm>
          <a:prstGeom prst="rect">
            <a:avLst/>
          </a:prstGeom>
          <a:solidFill>
            <a:srgbClr val="2A1212"/>
          </a:solidFill>
          <a:ln w="25400">
            <a:solidFill>
              <a:srgbClr val="EF5350"/>
            </a:solidFill>
          </a:ln>
        </p:spPr>
        <p:style>
          <a:lnRef idx="1">
            <a:schemeClr val="accent1"/>
          </a:lnRef>
          <a:fillRef idx="3">
            <a:schemeClr val="accent1"/>
          </a:fillRef>
          <a:effectRef idx="2">
            <a:schemeClr val="accent1"/>
          </a:effectRef>
          <a:fontRef idx="minor">
            <a:schemeClr val="lt1"/>
          </a:fontRef>
        </p:style>
        <p:txBody>
          <a:bodyPr rtlCol="0" anchor="ctr" lIns="254000" tIns="203200"/>
          <a:lstStyle/>
          <a:p>
            <a:pPr algn="ctr">
              <a:spcAft>
                <a:spcPts val="1000"/>
              </a:spcAft>
            </a:pPr>
            <a:r>
              <a:rPr sz="2400" b="1">
                <a:solidFill>
                  <a:srgbClr val="EF5350"/>
                </a:solidFill>
                <a:latin typeface="Helvetica Neue"/>
              </a:rPr>
              <a:t>Black Box</a:t>
            </a:r>
          </a:p>
          <a:p>
            <a:pPr>
              <a:spcAft>
                <a:spcPts val="400"/>
              </a:spcAft>
            </a:pPr>
            <a:r>
              <a:rPr sz="1400" b="0">
                <a:solidFill>
                  <a:srgbClr val="BBBBBB"/>
                </a:solidFill>
                <a:latin typeface="Helvetica Neue"/>
              </a:rPr>
              <a:t>LSTM, deep CNN, transformer</a:t>
            </a:r>
          </a:p>
          <a:p>
            <a:pPr>
              <a:spcAft>
                <a:spcPts val="400"/>
              </a:spcAft>
            </a:pPr>
            <a:r>
              <a:rPr sz="1400" b="0">
                <a:solidFill>
                  <a:srgbClr val="81C784"/>
                </a:solidFill>
                <a:latin typeface="Helvetica Neue"/>
              </a:rPr>
              <a:t>✓ High accuracy</a:t>
            </a:r>
          </a:p>
          <a:p>
            <a:pPr>
              <a:spcAft>
                <a:spcPts val="400"/>
              </a:spcAft>
            </a:pPr>
            <a:r>
              <a:rPr sz="1400" b="0">
                <a:solidFill>
                  <a:srgbClr val="FFB74D"/>
                </a:solidFill>
                <a:latin typeface="Helvetica Neue"/>
              </a:rPr>
              <a:t>✗ Why? — no answer</a:t>
            </a:r>
          </a:p>
          <a:p>
            <a:pPr>
              <a:spcAft>
                <a:spcPts val="400"/>
              </a:spcAft>
            </a:pPr>
            <a:r>
              <a:rPr sz="1400" b="0">
                <a:solidFill>
                  <a:srgbClr val="FFB74D"/>
                </a:solidFill>
                <a:latin typeface="Helvetica Neue"/>
              </a:rPr>
              <a:t>✗ FAA / FDA / OCC: rejected</a:t>
            </a:r>
          </a:p>
        </p:txBody>
      </p:sp>
      <p:sp>
        <p:nvSpPr>
          <p:cNvPr id="4" name="Rectangle 3"/>
          <p:cNvSpPr/>
          <p:nvPr/>
        </p:nvSpPr>
        <p:spPr>
          <a:xfrm>
            <a:off x="6217920" y="1828800"/>
            <a:ext cx="5029200" cy="3291840"/>
          </a:xfrm>
          <a:prstGeom prst="rect">
            <a:avLst/>
          </a:prstGeom>
          <a:solidFill>
            <a:srgbClr val="122A12"/>
          </a:solidFill>
          <a:ln w="2540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lIns="254000" tIns="203200"/>
          <a:lstStyle/>
          <a:p>
            <a:pPr algn="ctr">
              <a:spcAft>
                <a:spcPts val="1000"/>
              </a:spcAft>
            </a:pPr>
            <a:r>
              <a:rPr sz="2400" b="1">
                <a:solidFill>
                  <a:srgbClr val="81C784"/>
                </a:solidFill>
                <a:latin typeface="Helvetica Neue"/>
              </a:rPr>
              <a:t>Glass Box</a:t>
            </a:r>
          </a:p>
          <a:p>
            <a:pPr>
              <a:spcAft>
                <a:spcPts val="400"/>
              </a:spcAft>
            </a:pPr>
            <a:r>
              <a:rPr sz="1400" b="0">
                <a:solidFill>
                  <a:srgbClr val="BBBBBB"/>
                </a:solidFill>
                <a:latin typeface="Helvetica Neue"/>
              </a:rPr>
              <a:t>Decision tree, linear regression</a:t>
            </a:r>
          </a:p>
          <a:p>
            <a:pPr>
              <a:spcAft>
                <a:spcPts val="400"/>
              </a:spcAft>
            </a:pPr>
            <a:r>
              <a:rPr sz="1400" b="0">
                <a:solidFill>
                  <a:srgbClr val="81C784"/>
                </a:solidFill>
                <a:latin typeface="Helvetica Neue"/>
              </a:rPr>
              <a:t>✓ Fully traceable</a:t>
            </a:r>
          </a:p>
          <a:p>
            <a:pPr>
              <a:spcAft>
                <a:spcPts val="400"/>
              </a:spcAft>
            </a:pPr>
            <a:r>
              <a:rPr sz="1400" b="0">
                <a:solidFill>
                  <a:srgbClr val="FFB74D"/>
                </a:solidFill>
                <a:latin typeface="Helvetica Neue"/>
              </a:rPr>
              <a:t>✗ Lower accuracy</a:t>
            </a:r>
          </a:p>
          <a:p>
            <a:pPr>
              <a:spcAft>
                <a:spcPts val="400"/>
              </a:spcAft>
            </a:pPr>
            <a:r>
              <a:rPr sz="1400" b="0">
                <a:solidFill>
                  <a:srgbClr val="81C784"/>
                </a:solidFill>
                <a:latin typeface="Helvetica Neue"/>
              </a:rPr>
              <a:t>✓ Regulators: approved</a:t>
            </a:r>
          </a:p>
        </p:txBody>
      </p:sp>
      <p:sp>
        <p:nvSpPr>
          <p:cNvPr id="5" name="TextBox 4"/>
          <p:cNvSpPr txBox="1"/>
          <p:nvPr/>
        </p:nvSpPr>
        <p:spPr>
          <a:xfrm>
            <a:off x="548640" y="5669280"/>
            <a:ext cx="10972800" cy="640080"/>
          </a:xfrm>
          <a:prstGeom prst="rect">
            <a:avLst/>
          </a:prstGeom>
          <a:noFill/>
        </p:spPr>
        <p:txBody>
          <a:bodyPr wrap="square" lIns="0" rIns="0" tIns="0" bIns="0" anchor="t">
            <a:spAutoFit/>
          </a:bodyPr>
          <a:lstStyle/>
          <a:p>
            <a:pPr algn="ctr"/>
            <a:r>
              <a:rPr sz="2200" b="1" i="0">
                <a:solidFill>
                  <a:srgbClr val="4FC3F7"/>
                </a:solidFill>
                <a:latin typeface="Helvetica Neue"/>
              </a:rPr>
              <a:t>Today's question: can we have both?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SECTION 2 · CONCEPT</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3600" b="1" i="0">
                <a:solidFill>
                  <a:srgbClr val="4FC3F7"/>
                </a:solidFill>
                <a:latin typeface="Helvetica Neue"/>
              </a:rPr>
              <a:t>Classic Decision Tree</a:t>
            </a:r>
          </a:p>
        </p:txBody>
      </p:sp>
      <p:sp>
        <p:nvSpPr>
          <p:cNvPr id="4" name="Rectangle 3"/>
          <p:cNvSpPr/>
          <p:nvPr/>
        </p:nvSpPr>
        <p:spPr>
          <a:xfrm>
            <a:off x="1371600" y="2286000"/>
            <a:ext cx="9418320" cy="310896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400">
                <a:solidFill>
                  <a:srgbClr val="EEEEEE"/>
                </a:solidFill>
                <a:latin typeface="Menlo"/>
              </a:rPr>
              <a:t>             [ Sensor 11 (Ps30) &gt; 47.5 ? ]</a:t>
            </a:r>
          </a:p>
          <a:p>
            <a:pPr algn="l">
              <a:lnSpc>
                <a:spcPct val="120000"/>
              </a:lnSpc>
            </a:pPr>
            <a:r>
              <a:rPr sz="1400">
                <a:solidFill>
                  <a:srgbClr val="EEEEEE"/>
                </a:solidFill>
                <a:latin typeface="Menlo"/>
              </a:rPr>
              <a:t>                  /                  \</a:t>
            </a:r>
          </a:p>
          <a:p>
            <a:pPr algn="l">
              <a:lnSpc>
                <a:spcPct val="120000"/>
              </a:lnSpc>
            </a:pPr>
            <a:r>
              <a:rPr sz="1400">
                <a:solidFill>
                  <a:srgbClr val="EEEEEE"/>
                </a:solidFill>
                <a:latin typeface="Menlo"/>
              </a:rPr>
              <a:t>                 yes                  no</a:t>
            </a:r>
          </a:p>
          <a:p>
            <a:pPr algn="l">
              <a:lnSpc>
                <a:spcPct val="120000"/>
              </a:lnSpc>
            </a:pPr>
            <a:r>
              <a:rPr sz="1400">
                <a:solidFill>
                  <a:srgbClr val="EEEEEE"/>
                </a:solidFill>
                <a:latin typeface="Menlo"/>
              </a:rPr>
              <a:t>      [ Sensor 14 (NRc) &gt; 8138 ? ]  [ HEALTHY ]</a:t>
            </a:r>
          </a:p>
          <a:p>
            <a:pPr algn="l">
              <a:lnSpc>
                <a:spcPct val="120000"/>
              </a:lnSpc>
            </a:pPr>
            <a:r>
              <a:rPr sz="1400">
                <a:solidFill>
                  <a:srgbClr val="EEEEEE"/>
                </a:solidFill>
                <a:latin typeface="Menlo"/>
              </a:rPr>
              <a:t>          /              \</a:t>
            </a:r>
          </a:p>
          <a:p>
            <a:pPr algn="l">
              <a:lnSpc>
                <a:spcPct val="120000"/>
              </a:lnSpc>
            </a:pPr>
            <a:r>
              <a:rPr sz="1400">
                <a:solidFill>
                  <a:srgbClr val="EEEEEE"/>
                </a:solidFill>
                <a:latin typeface="Menlo"/>
              </a:rPr>
              <a:t>        yes               no</a:t>
            </a:r>
          </a:p>
          <a:p>
            <a:pPr algn="l">
              <a:lnSpc>
                <a:spcPct val="120000"/>
              </a:lnSpc>
            </a:pPr>
            <a:r>
              <a:rPr sz="1400">
                <a:solidFill>
                  <a:srgbClr val="EEEEEE"/>
                </a:solidFill>
                <a:latin typeface="Menlo"/>
              </a:rPr>
              <a:t>       /                   \</a:t>
            </a:r>
          </a:p>
          <a:p>
            <a:pPr algn="l">
              <a:lnSpc>
                <a:spcPct val="120000"/>
              </a:lnSpc>
            </a:pPr>
            <a:r>
              <a:rPr sz="1400">
                <a:solidFill>
                  <a:srgbClr val="EEEEEE"/>
                </a:solidFill>
                <a:latin typeface="Menlo"/>
              </a:rPr>
              <a:t> [ CRITICAL ]         [ CAUTION ]</a:t>
            </a:r>
          </a:p>
        </p:txBody>
      </p:sp>
      <p:sp>
        <p:nvSpPr>
          <p:cNvPr id="5" name="TextBox 4"/>
          <p:cNvSpPr txBox="1"/>
          <p:nvPr/>
        </p:nvSpPr>
        <p:spPr>
          <a:xfrm>
            <a:off x="548640" y="5577840"/>
            <a:ext cx="10972800" cy="457200"/>
          </a:xfrm>
          <a:prstGeom prst="rect">
            <a:avLst/>
          </a:prstGeom>
          <a:noFill/>
        </p:spPr>
        <p:txBody>
          <a:bodyPr wrap="square" lIns="0" rIns="0" tIns="0" bIns="0" anchor="t">
            <a:spAutoFit/>
          </a:bodyPr>
          <a:lstStyle/>
          <a:p>
            <a:pPr algn="ctr"/>
            <a:r>
              <a:rPr sz="1800" b="0" i="0">
                <a:solidFill>
                  <a:srgbClr val="EEEEEE"/>
                </a:solidFill>
                <a:latin typeface="Helvetica Neue"/>
              </a:rPr>
              <a:t>Beautifully explainable. Often poor accuracy.</a:t>
            </a:r>
          </a:p>
        </p:txBody>
      </p:sp>
      <p:sp>
        <p:nvSpPr>
          <p:cNvPr id="6" name="TextBox 5"/>
          <p:cNvSpPr txBox="1"/>
          <p:nvPr/>
        </p:nvSpPr>
        <p:spPr>
          <a:xfrm>
            <a:off x="548640" y="6126480"/>
            <a:ext cx="10972800" cy="365760"/>
          </a:xfrm>
          <a:prstGeom prst="rect">
            <a:avLst/>
          </a:prstGeom>
          <a:noFill/>
        </p:spPr>
        <p:txBody>
          <a:bodyPr wrap="square" lIns="0" rIns="0" tIns="0" bIns="0" anchor="t">
            <a:spAutoFit/>
          </a:bodyPr>
          <a:lstStyle/>
          <a:p>
            <a:pPr algn="ctr"/>
            <a:r>
              <a:rPr sz="1400" b="0" i="1">
                <a:solidFill>
                  <a:srgbClr val="FFB74D"/>
                </a:solidFill>
                <a:latin typeface="Helvetica Neue"/>
              </a:rPr>
              <a:t>Hard splits: a 0.01 difference in a sensor flips the entire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731520"/>
            <a:ext cx="10972800" cy="914400"/>
          </a:xfrm>
          <a:prstGeom prst="rect">
            <a:avLst/>
          </a:prstGeom>
          <a:noFill/>
        </p:spPr>
        <p:txBody>
          <a:bodyPr wrap="square" lIns="0" rIns="0" tIns="0" bIns="0" anchor="t">
            <a:spAutoFit/>
          </a:bodyPr>
          <a:lstStyle/>
          <a:p>
            <a:pPr algn="l"/>
            <a:r>
              <a:rPr sz="4400" b="1" i="0">
                <a:solidFill>
                  <a:srgbClr val="4FC3F7"/>
                </a:solidFill>
                <a:latin typeface="Helvetica Neue"/>
              </a:rPr>
              <a:t>Hard split</a:t>
            </a:r>
          </a:p>
        </p:txBody>
      </p:sp>
      <p:sp>
        <p:nvSpPr>
          <p:cNvPr id="3" name="Rectangle 2"/>
          <p:cNvSpPr/>
          <p:nvPr/>
        </p:nvSpPr>
        <p:spPr>
          <a:xfrm>
            <a:off x="1828800" y="2103120"/>
            <a:ext cx="8503920" cy="219456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600">
                <a:solidFill>
                  <a:srgbClr val="EEEEEE"/>
                </a:solidFill>
                <a:latin typeface="Menlo"/>
              </a:rPr>
              <a:t>def hard_split(x, threshold):</a:t>
            </a:r>
          </a:p>
          <a:p>
            <a:pPr algn="l">
              <a:lnSpc>
                <a:spcPct val="120000"/>
              </a:lnSpc>
            </a:pPr>
            <a:r>
              <a:rPr sz="1600">
                <a:solidFill>
                  <a:srgbClr val="EEEEEE"/>
                </a:solidFill>
                <a:latin typeface="Menlo"/>
              </a:rPr>
              <a:t>    if x &gt; threshold:</a:t>
            </a:r>
          </a:p>
          <a:p>
            <a:pPr algn="l">
              <a:lnSpc>
                <a:spcPct val="120000"/>
              </a:lnSpc>
            </a:pPr>
            <a:r>
              <a:rPr sz="1600">
                <a:solidFill>
                  <a:srgbClr val="EEEEEE"/>
                </a:solidFill>
                <a:latin typeface="Menlo"/>
              </a:rPr>
              <a:t>        return 'right'</a:t>
            </a:r>
          </a:p>
          <a:p>
            <a:pPr algn="l">
              <a:lnSpc>
                <a:spcPct val="120000"/>
              </a:lnSpc>
            </a:pPr>
            <a:r>
              <a:rPr sz="1600">
                <a:solidFill>
                  <a:srgbClr val="EEEEEE"/>
                </a:solidFill>
                <a:latin typeface="Menlo"/>
              </a:rPr>
              <a:t>    else:</a:t>
            </a:r>
          </a:p>
          <a:p>
            <a:pPr algn="l">
              <a:lnSpc>
                <a:spcPct val="120000"/>
              </a:lnSpc>
            </a:pPr>
            <a:r>
              <a:rPr sz="1600">
                <a:solidFill>
                  <a:srgbClr val="EEEEEE"/>
                </a:solidFill>
                <a:latin typeface="Menlo"/>
              </a:rPr>
              <a:t>        return 'left'</a:t>
            </a:r>
          </a:p>
        </p:txBody>
      </p:sp>
      <p:sp>
        <p:nvSpPr>
          <p:cNvPr id="4" name="TextBox 3"/>
          <p:cNvSpPr txBox="1"/>
          <p:nvPr/>
        </p:nvSpPr>
        <p:spPr>
          <a:xfrm>
            <a:off x="548640" y="4754880"/>
            <a:ext cx="10972800" cy="548640"/>
          </a:xfrm>
          <a:prstGeom prst="rect">
            <a:avLst/>
          </a:prstGeom>
          <a:noFill/>
        </p:spPr>
        <p:txBody>
          <a:bodyPr wrap="square" lIns="0" rIns="0" tIns="0" bIns="0" anchor="t">
            <a:spAutoFit/>
          </a:bodyPr>
          <a:lstStyle/>
          <a:p>
            <a:pPr algn="ctr"/>
            <a:r>
              <a:rPr sz="1800" b="0" i="0">
                <a:solidFill>
                  <a:srgbClr val="EEEEEE"/>
                </a:solidFill>
                <a:latin typeface="Helvetica Neue"/>
              </a:rPr>
              <a:t>Output: 'left' or 'right'. Discrete. No gradient.</a:t>
            </a:r>
          </a:p>
        </p:txBody>
      </p:sp>
      <p:sp>
        <p:nvSpPr>
          <p:cNvPr id="5" name="TextBox 4"/>
          <p:cNvSpPr txBox="1"/>
          <p:nvPr/>
        </p:nvSpPr>
        <p:spPr>
          <a:xfrm>
            <a:off x="548640" y="5394960"/>
            <a:ext cx="10972800" cy="548640"/>
          </a:xfrm>
          <a:prstGeom prst="rect">
            <a:avLst/>
          </a:prstGeom>
          <a:noFill/>
        </p:spPr>
        <p:txBody>
          <a:bodyPr wrap="square" lIns="0" rIns="0" tIns="0" bIns="0" anchor="t">
            <a:spAutoFit/>
          </a:bodyPr>
          <a:lstStyle/>
          <a:p>
            <a:pPr algn="ctr"/>
            <a:r>
              <a:rPr sz="1500" b="0" i="1">
                <a:solidFill>
                  <a:srgbClr val="BBBBBB"/>
                </a:solidFill>
                <a:latin typeface="Helvetica Neue"/>
              </a:rPr>
              <a:t>Cannot train with backpropagation. Tree built greedily, one node at a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731520"/>
            <a:ext cx="10972800" cy="914400"/>
          </a:xfrm>
          <a:prstGeom prst="rect">
            <a:avLst/>
          </a:prstGeom>
          <a:noFill/>
        </p:spPr>
        <p:txBody>
          <a:bodyPr wrap="square" lIns="0" rIns="0" tIns="0" bIns="0" anchor="t">
            <a:spAutoFit/>
          </a:bodyPr>
          <a:lstStyle/>
          <a:p>
            <a:pPr algn="l"/>
            <a:r>
              <a:rPr sz="4400" b="1" i="0">
                <a:solidFill>
                  <a:srgbClr val="4FC3F7"/>
                </a:solidFill>
                <a:latin typeface="Helvetica Neue"/>
              </a:rPr>
              <a:t>Soft split</a:t>
            </a:r>
          </a:p>
        </p:txBody>
      </p:sp>
      <p:sp>
        <p:nvSpPr>
          <p:cNvPr id="3" name="Rectangle 2"/>
          <p:cNvSpPr/>
          <p:nvPr/>
        </p:nvSpPr>
        <p:spPr>
          <a:xfrm>
            <a:off x="1828800" y="2103120"/>
            <a:ext cx="8503920" cy="219456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600">
                <a:solidFill>
                  <a:srgbClr val="EEEEEE"/>
                </a:solidFill>
                <a:latin typeface="Menlo"/>
              </a:rPr>
              <a:t>def soft_split(x, w, b):</a:t>
            </a:r>
          </a:p>
          <a:p>
            <a:pPr algn="l">
              <a:lnSpc>
                <a:spcPct val="120000"/>
              </a:lnSpc>
            </a:pPr>
            <a:r>
              <a:rPr sz="1600">
                <a:solidFill>
                  <a:srgbClr val="EEEEEE"/>
                </a:solidFill>
                <a:latin typeface="Menlo"/>
              </a:rPr>
              <a:t>    # sigmoid: σ(z) = 1 / (1 + exp(-z))</a:t>
            </a:r>
          </a:p>
          <a:p>
            <a:pPr algn="l">
              <a:lnSpc>
                <a:spcPct val="120000"/>
              </a:lnSpc>
            </a:pPr>
            <a:r>
              <a:rPr sz="1600">
                <a:solidFill>
                  <a:srgbClr val="EEEEEE"/>
                </a:solidFill>
                <a:latin typeface="Menlo"/>
              </a:rPr>
              <a:t>    p_right = sigmoid(w @ x - b)</a:t>
            </a:r>
          </a:p>
          <a:p>
            <a:pPr algn="l">
              <a:lnSpc>
                <a:spcPct val="120000"/>
              </a:lnSpc>
            </a:pPr>
            <a:r>
              <a:rPr sz="1600">
                <a:solidFill>
                  <a:srgbClr val="EEEEEE"/>
                </a:solidFill>
                <a:latin typeface="Menlo"/>
              </a:rPr>
              <a:t>    return p_right       # ∈ [0, 1]</a:t>
            </a:r>
          </a:p>
        </p:txBody>
      </p:sp>
      <p:sp>
        <p:nvSpPr>
          <p:cNvPr id="4" name="TextBox 3"/>
          <p:cNvSpPr txBox="1"/>
          <p:nvPr/>
        </p:nvSpPr>
        <p:spPr>
          <a:xfrm>
            <a:off x="548640" y="4754880"/>
            <a:ext cx="10972800" cy="548640"/>
          </a:xfrm>
          <a:prstGeom prst="rect">
            <a:avLst/>
          </a:prstGeom>
          <a:noFill/>
        </p:spPr>
        <p:txBody>
          <a:bodyPr wrap="square" lIns="0" rIns="0" tIns="0" bIns="0" anchor="t">
            <a:spAutoFit/>
          </a:bodyPr>
          <a:lstStyle/>
          <a:p>
            <a:pPr algn="ctr"/>
            <a:r>
              <a:rPr sz="1800" b="0" i="0">
                <a:solidFill>
                  <a:srgbClr val="EEEEEE"/>
                </a:solidFill>
                <a:latin typeface="Helvetica Neue"/>
              </a:rPr>
              <a:t>Output: a probability of going right. Continuous. Gradient flows.</a:t>
            </a:r>
          </a:p>
        </p:txBody>
      </p:sp>
      <p:sp>
        <p:nvSpPr>
          <p:cNvPr id="5" name="TextBox 4"/>
          <p:cNvSpPr txBox="1"/>
          <p:nvPr/>
        </p:nvSpPr>
        <p:spPr>
          <a:xfrm>
            <a:off x="548640" y="5394960"/>
            <a:ext cx="10972800" cy="548640"/>
          </a:xfrm>
          <a:prstGeom prst="rect">
            <a:avLst/>
          </a:prstGeom>
          <a:noFill/>
        </p:spPr>
        <p:txBody>
          <a:bodyPr wrap="square" lIns="0" rIns="0" tIns="0" bIns="0" anchor="t">
            <a:spAutoFit/>
          </a:bodyPr>
          <a:lstStyle/>
          <a:p>
            <a:pPr algn="ctr"/>
            <a:r>
              <a:rPr sz="1500" b="0" i="1">
                <a:solidFill>
                  <a:srgbClr val="81C784"/>
                </a:solidFill>
                <a:latin typeface="Helvetica Neue"/>
              </a:rPr>
              <a:t>Train the entire tree end-to-end with backprop, like a small neural network.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731520"/>
            <a:ext cx="10972800" cy="914400"/>
          </a:xfrm>
          <a:prstGeom prst="rect">
            <a:avLst/>
          </a:prstGeom>
          <a:noFill/>
        </p:spPr>
        <p:txBody>
          <a:bodyPr wrap="square" lIns="0" rIns="0" tIns="0" bIns="0" anchor="t">
            <a:spAutoFit/>
          </a:bodyPr>
          <a:lstStyle/>
          <a:p>
            <a:pPr algn="l"/>
            <a:r>
              <a:rPr sz="4200" b="1" i="0">
                <a:solidFill>
                  <a:srgbClr val="4FC3F7"/>
                </a:solidFill>
                <a:latin typeface="Helvetica Neue"/>
              </a:rPr>
              <a:t>Soft Decision Tree</a:t>
            </a:r>
          </a:p>
        </p:txBody>
      </p:sp>
      <p:sp>
        <p:nvSpPr>
          <p:cNvPr id="3" name="Rectangle 2"/>
          <p:cNvSpPr/>
          <p:nvPr/>
        </p:nvSpPr>
        <p:spPr>
          <a:xfrm>
            <a:off x="1371600" y="2103120"/>
            <a:ext cx="9418320" cy="329184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400">
                <a:solidFill>
                  <a:srgbClr val="EEEEEE"/>
                </a:solidFill>
                <a:latin typeface="Menlo"/>
              </a:rPr>
              <a:t>             [ σ(w·x − b) → 0.82 right ]</a:t>
            </a:r>
          </a:p>
          <a:p>
            <a:pPr algn="l">
              <a:lnSpc>
                <a:spcPct val="120000"/>
              </a:lnSpc>
            </a:pPr>
            <a:r>
              <a:rPr sz="1400">
                <a:solidFill>
                  <a:srgbClr val="EEEEEE"/>
                </a:solidFill>
                <a:latin typeface="Menlo"/>
              </a:rPr>
              <a:t>                  /              \</a:t>
            </a:r>
          </a:p>
          <a:p>
            <a:pPr algn="l">
              <a:lnSpc>
                <a:spcPct val="120000"/>
              </a:lnSpc>
            </a:pPr>
            <a:r>
              <a:rPr sz="1400">
                <a:solidFill>
                  <a:srgbClr val="EEEEEE"/>
                </a:solidFill>
                <a:latin typeface="Menlo"/>
              </a:rPr>
              <a:t>               0.82             0.18</a:t>
            </a:r>
          </a:p>
          <a:p>
            <a:pPr algn="l">
              <a:lnSpc>
                <a:spcPct val="120000"/>
              </a:lnSpc>
            </a:pPr>
            <a:r>
              <a:rPr sz="1400">
                <a:solidFill>
                  <a:srgbClr val="EEEEEE"/>
                </a:solidFill>
                <a:latin typeface="Menlo"/>
              </a:rPr>
              <a:t>                /                  \</a:t>
            </a:r>
          </a:p>
          <a:p>
            <a:pPr algn="l">
              <a:lnSpc>
                <a:spcPct val="120000"/>
              </a:lnSpc>
            </a:pPr>
            <a:r>
              <a:rPr sz="1400">
                <a:solidFill>
                  <a:srgbClr val="EEEEEE"/>
                </a:solidFill>
                <a:latin typeface="Menlo"/>
              </a:rPr>
              <a:t>   [ σ(w·x − b) → 0.30 ]   [ leaf: P(C, H, W) ]</a:t>
            </a:r>
          </a:p>
          <a:p>
            <a:pPr algn="l">
              <a:lnSpc>
                <a:spcPct val="120000"/>
              </a:lnSpc>
            </a:pPr>
            <a:r>
              <a:rPr sz="1400">
                <a:solidFill>
                  <a:srgbClr val="EEEEEE"/>
                </a:solidFill>
                <a:latin typeface="Menlo"/>
              </a:rPr>
              <a:t>       /        \</a:t>
            </a:r>
          </a:p>
          <a:p>
            <a:pPr algn="l">
              <a:lnSpc>
                <a:spcPct val="120000"/>
              </a:lnSpc>
            </a:pPr>
            <a:r>
              <a:rPr sz="1400">
                <a:solidFill>
                  <a:srgbClr val="EEEEEE"/>
                </a:solidFill>
                <a:latin typeface="Menlo"/>
              </a:rPr>
              <a:t>     0.30      0.70</a:t>
            </a:r>
          </a:p>
          <a:p>
            <a:pPr algn="l">
              <a:lnSpc>
                <a:spcPct val="120000"/>
              </a:lnSpc>
            </a:pPr>
            <a:r>
              <a:rPr sz="1400">
                <a:solidFill>
                  <a:srgbClr val="EEEEEE"/>
                </a:solidFill>
                <a:latin typeface="Menlo"/>
              </a:rPr>
              <a:t>      /          \</a:t>
            </a:r>
          </a:p>
          <a:p>
            <a:pPr algn="l">
              <a:lnSpc>
                <a:spcPct val="120000"/>
              </a:lnSpc>
            </a:pPr>
            <a:r>
              <a:rPr sz="1400">
                <a:solidFill>
                  <a:srgbClr val="EEEEEE"/>
                </a:solidFill>
                <a:latin typeface="Menlo"/>
              </a:rPr>
              <a:t>  [ leaf ]    [ leaf ]</a:t>
            </a:r>
          </a:p>
        </p:txBody>
      </p:sp>
      <p:sp>
        <p:nvSpPr>
          <p:cNvPr id="4" name="TextBox 3"/>
          <p:cNvSpPr txBox="1"/>
          <p:nvPr/>
        </p:nvSpPr>
        <p:spPr>
          <a:xfrm>
            <a:off x="548640" y="5669280"/>
            <a:ext cx="10972800" cy="365760"/>
          </a:xfrm>
          <a:prstGeom prst="rect">
            <a:avLst/>
          </a:prstGeom>
          <a:noFill/>
        </p:spPr>
        <p:txBody>
          <a:bodyPr wrap="square" lIns="0" rIns="0" tIns="0" bIns="0" anchor="t">
            <a:spAutoFit/>
          </a:bodyPr>
          <a:lstStyle/>
          <a:p>
            <a:pPr algn="ctr"/>
            <a:r>
              <a:rPr sz="1600" b="0" i="0">
                <a:solidFill>
                  <a:srgbClr val="EEEEEE"/>
                </a:solidFill>
                <a:latin typeface="Helvetica Neue"/>
              </a:rPr>
              <a:t>Every leaf gets a weighted vote based on path probability.</a:t>
            </a:r>
          </a:p>
        </p:txBody>
      </p:sp>
      <p:sp>
        <p:nvSpPr>
          <p:cNvPr id="5" name="TextBox 4"/>
          <p:cNvSpPr txBox="1"/>
          <p:nvPr/>
        </p:nvSpPr>
        <p:spPr>
          <a:xfrm>
            <a:off x="548640" y="6126480"/>
            <a:ext cx="10972800" cy="365760"/>
          </a:xfrm>
          <a:prstGeom prst="rect">
            <a:avLst/>
          </a:prstGeom>
          <a:noFill/>
        </p:spPr>
        <p:txBody>
          <a:bodyPr wrap="square" lIns="0" rIns="0" tIns="0" bIns="0" anchor="t">
            <a:spAutoFit/>
          </a:bodyPr>
          <a:lstStyle/>
          <a:p>
            <a:pPr algn="ctr"/>
            <a:r>
              <a:rPr sz="1400" b="0" i="1">
                <a:solidFill>
                  <a:srgbClr val="BBBBBB"/>
                </a:solidFill>
                <a:latin typeface="Helvetica Neue"/>
              </a:rPr>
              <a:t>Final prediction = sum over all leaves.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WHY THIS IS A BIG DEAL</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4200" b="1" i="0">
                <a:solidFill>
                  <a:srgbClr val="4FC3F7"/>
                </a:solidFill>
                <a:latin typeface="Helvetica Neue"/>
              </a:rPr>
              <a:t>You get both</a:t>
            </a:r>
          </a:p>
        </p:txBody>
      </p:sp>
      <p:sp>
        <p:nvSpPr>
          <p:cNvPr id="4" name="Rectangle 3"/>
          <p:cNvSpPr/>
          <p:nvPr/>
        </p:nvSpPr>
        <p:spPr>
          <a:xfrm>
            <a:off x="914400" y="2468880"/>
            <a:ext cx="5029200" cy="2926080"/>
          </a:xfrm>
          <a:prstGeom prst="rect">
            <a:avLst/>
          </a:prstGeom>
          <a:solidFill>
            <a:srgbClr val="122A12"/>
          </a:solidFill>
          <a:ln w="2540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lIns="254000" tIns="203200"/>
          <a:lstStyle/>
          <a:p>
            <a:pPr algn="ctr">
              <a:spcAft>
                <a:spcPts val="1000"/>
              </a:spcAft>
            </a:pPr>
            <a:r>
              <a:rPr sz="2200" b="1">
                <a:solidFill>
                  <a:srgbClr val="81C784"/>
                </a:solidFill>
                <a:latin typeface="Helvetica Neue"/>
              </a:rPr>
              <a:t>From the tree</a:t>
            </a:r>
          </a:p>
          <a:p>
            <a:pPr>
              <a:spcAft>
                <a:spcPts val="600"/>
              </a:spcAft>
            </a:pPr>
            <a:r>
              <a:rPr sz="1400" b="0">
                <a:solidFill>
                  <a:srgbClr val="EEEEEE"/>
                </a:solidFill>
                <a:latin typeface="Helvetica Neue"/>
              </a:rPr>
              <a:t>• Path traceability</a:t>
            </a:r>
          </a:p>
          <a:p>
            <a:pPr>
              <a:spcAft>
                <a:spcPts val="600"/>
              </a:spcAft>
            </a:pPr>
            <a:r>
              <a:rPr sz="1400" b="0">
                <a:solidFill>
                  <a:srgbClr val="EEEEEE"/>
                </a:solidFill>
                <a:latin typeface="Helvetica Neue"/>
              </a:rPr>
              <a:t>• Per-feature thresholds</a:t>
            </a:r>
          </a:p>
          <a:p>
            <a:pPr>
              <a:spcAft>
                <a:spcPts val="600"/>
              </a:spcAft>
            </a:pPr>
            <a:r>
              <a:rPr sz="1400" b="0">
                <a:solidFill>
                  <a:srgbClr val="EEEEEE"/>
                </a:solidFill>
                <a:latin typeface="Helvetica Neue"/>
              </a:rPr>
              <a:t>• Human-readable rules</a:t>
            </a:r>
          </a:p>
        </p:txBody>
      </p:sp>
      <p:sp>
        <p:nvSpPr>
          <p:cNvPr id="5" name="Rectangle 4"/>
          <p:cNvSpPr/>
          <p:nvPr/>
        </p:nvSpPr>
        <p:spPr>
          <a:xfrm>
            <a:off x="6217920" y="2468880"/>
            <a:ext cx="5029200" cy="2926080"/>
          </a:xfrm>
          <a:prstGeom prst="rect">
            <a:avLst/>
          </a:prstGeom>
          <a:solidFill>
            <a:srgbClr val="121A2A"/>
          </a:solidFill>
          <a:ln w="2540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lIns="254000" tIns="203200"/>
          <a:lstStyle/>
          <a:p>
            <a:pPr algn="ctr">
              <a:spcAft>
                <a:spcPts val="1000"/>
              </a:spcAft>
            </a:pPr>
            <a:r>
              <a:rPr sz="2200" b="1">
                <a:solidFill>
                  <a:srgbClr val="4FC3F7"/>
                </a:solidFill>
                <a:latin typeface="Helvetica Neue"/>
              </a:rPr>
              <a:t>From the network</a:t>
            </a:r>
          </a:p>
          <a:p>
            <a:pPr>
              <a:spcAft>
                <a:spcPts val="600"/>
              </a:spcAft>
            </a:pPr>
            <a:r>
              <a:rPr sz="1400" b="0">
                <a:solidFill>
                  <a:srgbClr val="EEEEEE"/>
                </a:solidFill>
                <a:latin typeface="Helvetica Neue"/>
              </a:rPr>
              <a:t>• End-to-end training</a:t>
            </a:r>
          </a:p>
          <a:p>
            <a:pPr>
              <a:spcAft>
                <a:spcPts val="600"/>
              </a:spcAft>
            </a:pPr>
            <a:r>
              <a:rPr sz="1400" b="0">
                <a:solidFill>
                  <a:srgbClr val="EEEEEE"/>
                </a:solidFill>
                <a:latin typeface="Helvetica Neue"/>
              </a:rPr>
              <a:t>• Composable with other layers</a:t>
            </a:r>
          </a:p>
          <a:p>
            <a:pPr>
              <a:spcAft>
                <a:spcPts val="600"/>
              </a:spcAft>
            </a:pPr>
            <a:r>
              <a:rPr sz="1400" b="0">
                <a:solidFill>
                  <a:srgbClr val="EEEEEE"/>
                </a:solidFill>
                <a:latin typeface="Helvetica Neue"/>
              </a:rPr>
              <a:t>• Higher accuracy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WHY THIS MATTERS FOR SAFETY-CRITICAL AI</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3800" b="1" i="0">
                <a:solidFill>
                  <a:srgbClr val="4FC3F7"/>
                </a:solidFill>
                <a:latin typeface="Helvetica Neue"/>
              </a:rPr>
              <a:t>Three properties</a:t>
            </a:r>
          </a:p>
        </p:txBody>
      </p:sp>
      <p:sp>
        <p:nvSpPr>
          <p:cNvPr id="4" name="TextBox 3"/>
          <p:cNvSpPr txBox="1"/>
          <p:nvPr/>
        </p:nvSpPr>
        <p:spPr>
          <a:xfrm>
            <a:off x="914400" y="2377440"/>
            <a:ext cx="10515600" cy="3657600"/>
          </a:xfrm>
          <a:prstGeom prst="rect">
            <a:avLst/>
          </a:prstGeom>
          <a:noFill/>
        </p:spPr>
        <p:txBody>
          <a:bodyPr wrap="none" lIns="0">
            <a:spAutoFit/>
          </a:bodyPr>
          <a:lstStyle/>
          <a:p>
            <a:pPr>
              <a:spcAft>
                <a:spcPts val="0"/>
              </a:spcAft>
            </a:pPr>
            <a:r>
              <a:rPr sz="2200" b="1">
                <a:solidFill>
                  <a:srgbClr val="4FC3F7"/>
                </a:solidFill>
                <a:latin typeface="Helvetica Neue"/>
              </a:rPr>
              <a:t>1. Explainability</a:t>
            </a:r>
          </a:p>
          <a:p>
            <a:pPr>
              <a:spcAft>
                <a:spcPts val="1200"/>
              </a:spcAft>
            </a:pPr>
            <a:r>
              <a:rPr sz="1400" b="0">
                <a:solidFill>
                  <a:srgbClr val="BBBBBB"/>
                </a:solidFill>
                <a:latin typeface="Helvetica Neue"/>
              </a:rPr>
              <a:t>Every prediction comes with the path that produced it.</a:t>
            </a:r>
          </a:p>
          <a:p>
            <a:pPr>
              <a:spcAft>
                <a:spcPts val="0"/>
              </a:spcAft>
            </a:pPr>
            <a:r>
              <a:rPr sz="2200" b="1">
                <a:solidFill>
                  <a:srgbClr val="4FC3F7"/>
                </a:solidFill>
                <a:latin typeface="Helvetica Neue"/>
              </a:rPr>
              <a:t>2. Noise robustness</a:t>
            </a:r>
          </a:p>
          <a:p>
            <a:pPr>
              <a:spcAft>
                <a:spcPts val="1200"/>
              </a:spcAft>
            </a:pPr>
            <a:r>
              <a:rPr sz="1400" b="0">
                <a:solidFill>
                  <a:srgbClr val="BBBBBB"/>
                </a:solidFill>
                <a:latin typeface="Helvetica Neue"/>
              </a:rPr>
              <a:t>Soft splits are less brittle to small sensor perturbations than hard splits.</a:t>
            </a:r>
          </a:p>
          <a:p>
            <a:pPr>
              <a:spcAft>
                <a:spcPts val="0"/>
              </a:spcAft>
            </a:pPr>
            <a:r>
              <a:rPr sz="2200" b="1">
                <a:solidFill>
                  <a:srgbClr val="4FC3F7"/>
                </a:solidFill>
                <a:latin typeface="Helvetica Neue"/>
              </a:rPr>
              <a:t>3. Sensor failure tolerance</a:t>
            </a:r>
          </a:p>
          <a:p>
            <a:pPr>
              <a:spcAft>
                <a:spcPts val="0"/>
              </a:spcAft>
            </a:pPr>
            <a:r>
              <a:rPr sz="1400" b="0">
                <a:solidFill>
                  <a:srgbClr val="BBBBBB"/>
                </a:solidFill>
                <a:latin typeface="Helvetica Neue"/>
              </a:rPr>
              <a:t>Channel-level dropout during training teaches the model to operate under partial sensor failure.</a:t>
            </a:r>
          </a:p>
        </p:txBody>
      </p:sp>
      <p:sp>
        <p:nvSpPr>
          <p:cNvPr id="5" name="TextBox 4"/>
          <p:cNvSpPr txBox="1"/>
          <p:nvPr/>
        </p:nvSpPr>
        <p:spPr>
          <a:xfrm>
            <a:off x="548640" y="6126480"/>
            <a:ext cx="10972800" cy="365760"/>
          </a:xfrm>
          <a:prstGeom prst="rect">
            <a:avLst/>
          </a:prstGeom>
          <a:noFill/>
        </p:spPr>
        <p:txBody>
          <a:bodyPr wrap="square" lIns="0" rIns="0" tIns="0" bIns="0" anchor="t">
            <a:spAutoFit/>
          </a:bodyPr>
          <a:lstStyle/>
          <a:p>
            <a:pPr algn="ctr"/>
            <a:r>
              <a:rPr sz="1400" b="0" i="1">
                <a:solidFill>
                  <a:srgbClr val="888888"/>
                </a:solidFill>
                <a:latin typeface="Helvetica Neue"/>
              </a:rPr>
              <a:t>You will see all three in the next 90 minutes.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FROM MY PAPER</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4200" b="1" i="0">
                <a:solidFill>
                  <a:srgbClr val="4FC3F7"/>
                </a:solidFill>
                <a:latin typeface="Helvetica Neue"/>
              </a:rPr>
              <a:t>The numbers</a:t>
            </a:r>
          </a:p>
        </p:txBody>
      </p:sp>
      <p:graphicFrame>
        <p:nvGraphicFramePr>
          <p:cNvPr id="4" name="Table 3"/>
          <p:cNvGraphicFramePr>
            <a:graphicFrameLocks noGrp="1"/>
          </p:cNvGraphicFramePr>
          <p:nvPr/>
        </p:nvGraphicFramePr>
        <p:xfrm>
          <a:off x="1371600" y="2468880"/>
          <a:ext cx="9418320" cy="2377440"/>
        </p:xfrm>
        <a:graphic>
          <a:graphicData uri="http://schemas.openxmlformats.org/drawingml/2006/table">
            <a:tbl>
              <a:tblPr firstRow="1" bandRow="1">
                <a:tableStyleId>{5C22544A-7EE6-4342-B048-85BDC9FD1C3A}</a:tableStyleId>
              </a:tblPr>
              <a:tblGrid>
                <a:gridCol w="2743200"/>
                <a:gridCol w="1828800"/>
                <a:gridCol w="3017520"/>
                <a:gridCol w="1828800"/>
              </a:tblGrid>
              <a:tr h="594360">
                <a:tc>
                  <a:txBody>
                    <a:bodyPr/>
                    <a:lstStyle/>
                    <a:p>
                      <a:r>
                        <a:rPr sz="1400" b="1">
                          <a:solidFill>
                            <a:srgbClr val="4FC3F7"/>
                          </a:solidFill>
                          <a:latin typeface="Helvetica Neue"/>
                        </a:rPr>
                        <a:t>Model</a:t>
                      </a:r>
                    </a:p>
                  </a:txBody>
                  <a:tcPr>
                    <a:solidFill>
                      <a:srgbClr val="1A1A1A"/>
                    </a:solidFill>
                  </a:tcPr>
                </a:tc>
                <a:tc>
                  <a:txBody>
                    <a:bodyPr/>
                    <a:lstStyle/>
                    <a:p>
                      <a:r>
                        <a:rPr sz="1400" b="1">
                          <a:solidFill>
                            <a:srgbClr val="4FC3F7"/>
                          </a:solidFill>
                          <a:latin typeface="Helvetica Neue"/>
                        </a:rPr>
                        <a:t>Clean RMSE</a:t>
                      </a:r>
                    </a:p>
                  </a:txBody>
                  <a:tcPr>
                    <a:solidFill>
                      <a:srgbClr val="1A1A1A"/>
                    </a:solidFill>
                  </a:tcPr>
                </a:tc>
                <a:tc>
                  <a:txBody>
                    <a:bodyPr/>
                    <a:lstStyle/>
                    <a:p>
                      <a:r>
                        <a:rPr sz="1400" b="1">
                          <a:solidFill>
                            <a:srgbClr val="4FC3F7"/>
                          </a:solidFill>
                          <a:latin typeface="Helvetica Neue"/>
                        </a:rPr>
                        <a:t>30% sensors missing</a:t>
                      </a:r>
                    </a:p>
                  </a:txBody>
                  <a:tcPr>
                    <a:solidFill>
                      <a:srgbClr val="1A1A1A"/>
                    </a:solidFill>
                  </a:tcPr>
                </a:tc>
                <a:tc>
                  <a:txBody>
                    <a:bodyPr/>
                    <a:lstStyle/>
                    <a:p>
                      <a:r>
                        <a:rPr sz="1400" b="1">
                          <a:solidFill>
                            <a:srgbClr val="4FC3F7"/>
                          </a:solidFill>
                          <a:latin typeface="Helvetica Neue"/>
                        </a:rPr>
                        <a:t>Explainable?</a:t>
                      </a:r>
                    </a:p>
                  </a:txBody>
                  <a:tcPr>
                    <a:solidFill>
                      <a:srgbClr val="1A1A1A"/>
                    </a:solidFill>
                  </a:tcPr>
                </a:tc>
              </a:tr>
              <a:tr h="594360">
                <a:tc>
                  <a:txBody>
                    <a:bodyPr/>
                    <a:lstStyle/>
                    <a:p>
                      <a:r>
                        <a:rPr sz="1500" b="0">
                          <a:solidFill>
                            <a:srgbClr val="EEEEEE"/>
                          </a:solidFill>
                          <a:latin typeface="Helvetica Neue"/>
                        </a:rPr>
                        <a:t>LSTM</a:t>
                      </a:r>
                    </a:p>
                  </a:txBody>
                  <a:tcPr>
                    <a:solidFill>
                      <a:srgbClr val="0A0A0A"/>
                    </a:solidFill>
                  </a:tcPr>
                </a:tc>
                <a:tc>
                  <a:txBody>
                    <a:bodyPr/>
                    <a:lstStyle/>
                    <a:p>
                      <a:r>
                        <a:rPr sz="1500" b="0">
                          <a:solidFill>
                            <a:srgbClr val="EEEEEE"/>
                          </a:solidFill>
                          <a:latin typeface="Helvetica Neue"/>
                        </a:rPr>
                        <a:t>15.49</a:t>
                      </a:r>
                    </a:p>
                  </a:txBody>
                  <a:tcPr>
                    <a:solidFill>
                      <a:srgbClr val="0A0A0A"/>
                    </a:solidFill>
                  </a:tcPr>
                </a:tc>
                <a:tc>
                  <a:txBody>
                    <a:bodyPr/>
                    <a:lstStyle/>
                    <a:p>
                      <a:r>
                        <a:rPr sz="1500" b="0">
                          <a:solidFill>
                            <a:srgbClr val="FFB74D"/>
                          </a:solidFill>
                          <a:latin typeface="Helvetica Neue"/>
                        </a:rPr>
                        <a:t>+89% degradation</a:t>
                      </a:r>
                    </a:p>
                  </a:txBody>
                  <a:tcPr>
                    <a:solidFill>
                      <a:srgbClr val="0A0A0A"/>
                    </a:solidFill>
                  </a:tcPr>
                </a:tc>
                <a:tc>
                  <a:txBody>
                    <a:bodyPr/>
                    <a:lstStyle/>
                    <a:p>
                      <a:r>
                        <a:rPr sz="1500" b="0">
                          <a:solidFill>
                            <a:srgbClr val="EEEEEE"/>
                          </a:solidFill>
                          <a:latin typeface="Helvetica Neue"/>
                        </a:rPr>
                        <a:t>✗</a:t>
                      </a:r>
                    </a:p>
                  </a:txBody>
                  <a:tcPr>
                    <a:solidFill>
                      <a:srgbClr val="0A0A0A"/>
                    </a:solidFill>
                  </a:tcPr>
                </a:tc>
              </a:tr>
              <a:tr h="594360">
                <a:tc>
                  <a:txBody>
                    <a:bodyPr/>
                    <a:lstStyle/>
                    <a:p>
                      <a:r>
                        <a:rPr sz="1500" b="0">
                          <a:solidFill>
                            <a:srgbClr val="EEEEEE"/>
                          </a:solidFill>
                          <a:latin typeface="Helvetica Neue"/>
                        </a:rPr>
                        <a:t>Random Forest</a:t>
                      </a:r>
                    </a:p>
                  </a:txBody>
                  <a:tcPr>
                    <a:solidFill>
                      <a:srgbClr val="0A0A0A"/>
                    </a:solidFill>
                  </a:tcPr>
                </a:tc>
                <a:tc>
                  <a:txBody>
                    <a:bodyPr/>
                    <a:lstStyle/>
                    <a:p>
                      <a:r>
                        <a:rPr sz="1500" b="0">
                          <a:solidFill>
                            <a:srgbClr val="EEEEEE"/>
                          </a:solidFill>
                          <a:latin typeface="Helvetica Neue"/>
                        </a:rPr>
                        <a:t>18.07</a:t>
                      </a:r>
                    </a:p>
                  </a:txBody>
                  <a:tcPr>
                    <a:solidFill>
                      <a:srgbClr val="0A0A0A"/>
                    </a:solidFill>
                  </a:tcPr>
                </a:tc>
                <a:tc>
                  <a:txBody>
                    <a:bodyPr/>
                    <a:lstStyle/>
                    <a:p>
                      <a:r>
                        <a:rPr sz="1500" b="0">
                          <a:solidFill>
                            <a:srgbClr val="EEEEEE"/>
                          </a:solidFill>
                          <a:latin typeface="Helvetica Neue"/>
                        </a:rPr>
                        <a:t>n/a</a:t>
                      </a:r>
                    </a:p>
                  </a:txBody>
                  <a:tcPr>
                    <a:solidFill>
                      <a:srgbClr val="0A0A0A"/>
                    </a:solidFill>
                  </a:tcPr>
                </a:tc>
                <a:tc>
                  <a:txBody>
                    <a:bodyPr/>
                    <a:lstStyle/>
                    <a:p>
                      <a:r>
                        <a:rPr sz="1500" b="0">
                          <a:solidFill>
                            <a:srgbClr val="EEEEEE"/>
                          </a:solidFill>
                          <a:latin typeface="Helvetica Neue"/>
                        </a:rPr>
                        <a:t>partial</a:t>
                      </a:r>
                    </a:p>
                  </a:txBody>
                  <a:tcPr>
                    <a:solidFill>
                      <a:srgbClr val="0A0A0A"/>
                    </a:solidFill>
                  </a:tcPr>
                </a:tc>
              </a:tr>
              <a:tr h="594360">
                <a:tc>
                  <a:txBody>
                    <a:bodyPr/>
                    <a:lstStyle/>
                    <a:p>
                      <a:r>
                        <a:rPr sz="1500" b="1">
                          <a:solidFill>
                            <a:srgbClr val="81C784"/>
                          </a:solidFill>
                          <a:latin typeface="Helvetica Neue"/>
                        </a:rPr>
                        <a:t>Temporal Neural Tree</a:t>
                      </a:r>
                    </a:p>
                  </a:txBody>
                  <a:tcPr>
                    <a:solidFill>
                      <a:srgbClr val="102010"/>
                    </a:solidFill>
                  </a:tcPr>
                </a:tc>
                <a:tc>
                  <a:txBody>
                    <a:bodyPr/>
                    <a:lstStyle/>
                    <a:p>
                      <a:r>
                        <a:rPr sz="1500" b="1">
                          <a:solidFill>
                            <a:srgbClr val="81C784"/>
                          </a:solidFill>
                          <a:latin typeface="Helvetica Neue"/>
                        </a:rPr>
                        <a:t>15.78</a:t>
                      </a:r>
                    </a:p>
                  </a:txBody>
                  <a:tcPr>
                    <a:solidFill>
                      <a:srgbClr val="102010"/>
                    </a:solidFill>
                  </a:tcPr>
                </a:tc>
                <a:tc>
                  <a:txBody>
                    <a:bodyPr/>
                    <a:lstStyle/>
                    <a:p>
                      <a:r>
                        <a:rPr sz="1500" b="1">
                          <a:solidFill>
                            <a:srgbClr val="81C784"/>
                          </a:solidFill>
                          <a:latin typeface="Helvetica Neue"/>
                        </a:rPr>
                        <a:t>+17% degradation</a:t>
                      </a:r>
                    </a:p>
                  </a:txBody>
                  <a:tcPr>
                    <a:solidFill>
                      <a:srgbClr val="102010"/>
                    </a:solidFill>
                  </a:tcPr>
                </a:tc>
                <a:tc>
                  <a:txBody>
                    <a:bodyPr/>
                    <a:lstStyle/>
                    <a:p>
                      <a:r>
                        <a:rPr sz="1500" b="1">
                          <a:solidFill>
                            <a:srgbClr val="81C784"/>
                          </a:solidFill>
                          <a:latin typeface="Helvetica Neue"/>
                        </a:rPr>
                        <a:t>✓</a:t>
                      </a:r>
                    </a:p>
                  </a:txBody>
                  <a:tcPr>
                    <a:solidFill>
                      <a:srgbClr val="102010"/>
                    </a:solidFill>
                  </a:tcPr>
                </a:tc>
              </a:tr>
            </a:tbl>
          </a:graphicData>
        </a:graphic>
      </p:graphicFrame>
      <p:sp>
        <p:nvSpPr>
          <p:cNvPr id="5" name="TextBox 4"/>
          <p:cNvSpPr txBox="1"/>
          <p:nvPr/>
        </p:nvSpPr>
        <p:spPr>
          <a:xfrm>
            <a:off x="548640" y="5303520"/>
            <a:ext cx="10972800" cy="731520"/>
          </a:xfrm>
          <a:prstGeom prst="rect">
            <a:avLst/>
          </a:prstGeom>
          <a:noFill/>
        </p:spPr>
        <p:txBody>
          <a:bodyPr wrap="square" lIns="0" rIns="0" tIns="0" bIns="0" anchor="t">
            <a:spAutoFit/>
          </a:bodyPr>
          <a:lstStyle/>
          <a:p>
            <a:pPr algn="ctr"/>
            <a:r>
              <a:rPr sz="1800" b="1" i="0">
                <a:solidFill>
                  <a:srgbClr val="4FC3F7"/>
                </a:solidFill>
                <a:latin typeface="Helvetica Neue"/>
              </a:rPr>
              <a:t>Within 0.3 RMSE of LSTM on clean data. 5x more robust under sensor failure.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THE TOOL YOU'LL USE</a:t>
            </a:r>
          </a:p>
        </p:txBody>
      </p:sp>
      <p:sp>
        <p:nvSpPr>
          <p:cNvPr id="3" name="TextBox 2"/>
          <p:cNvSpPr txBox="1"/>
          <p:nvPr/>
        </p:nvSpPr>
        <p:spPr>
          <a:xfrm>
            <a:off x="548640" y="1188720"/>
            <a:ext cx="10972800" cy="1097280"/>
          </a:xfrm>
          <a:prstGeom prst="rect">
            <a:avLst/>
          </a:prstGeom>
          <a:noFill/>
        </p:spPr>
        <p:txBody>
          <a:bodyPr wrap="square" lIns="0" rIns="0" tIns="0" bIns="0" anchor="t">
            <a:spAutoFit/>
          </a:bodyPr>
          <a:lstStyle/>
          <a:p>
            <a:pPr algn="l"/>
            <a:r>
              <a:rPr sz="5600" b="1" i="0">
                <a:solidFill>
                  <a:srgbClr val="4FC3F7"/>
                </a:solidFill>
                <a:latin typeface="Helvetica Neue"/>
              </a:rPr>
              <a:t>neural-trees</a:t>
            </a:r>
          </a:p>
        </p:txBody>
      </p:sp>
      <p:sp>
        <p:nvSpPr>
          <p:cNvPr id="4" name="Rectangle 3"/>
          <p:cNvSpPr/>
          <p:nvPr/>
        </p:nvSpPr>
        <p:spPr>
          <a:xfrm>
            <a:off x="2743200" y="2743200"/>
            <a:ext cx="6675120" cy="64008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800">
                <a:solidFill>
                  <a:srgbClr val="EEEEEE"/>
                </a:solidFill>
                <a:latin typeface="Menlo"/>
              </a:rPr>
              <a:t>pip install neural-trees</a:t>
            </a:r>
          </a:p>
        </p:txBody>
      </p:sp>
      <p:sp>
        <p:nvSpPr>
          <p:cNvPr id="5" name="TextBox 4"/>
          <p:cNvSpPr txBox="1"/>
          <p:nvPr/>
        </p:nvSpPr>
        <p:spPr>
          <a:xfrm>
            <a:off x="1828800" y="3840480"/>
            <a:ext cx="9144000" cy="2286000"/>
          </a:xfrm>
          <a:prstGeom prst="rect">
            <a:avLst/>
          </a:prstGeom>
          <a:noFill/>
        </p:spPr>
        <p:txBody>
          <a:bodyPr wrap="square" lIns="0" rIns="0" tIns="0" bIns="0" anchor="t">
            <a:spAutoFit/>
          </a:bodyPr>
          <a:lstStyle/>
          <a:p>
            <a:pPr algn="l">
              <a:lnSpc>
                <a:spcPct val="120000"/>
              </a:lnSpc>
              <a:spcAft>
                <a:spcPts val="600"/>
              </a:spcAft>
            </a:pPr>
            <a:r>
              <a:rPr sz="1600" b="0" i="0">
                <a:solidFill>
                  <a:srgbClr val="EEEEEE"/>
                </a:solidFill>
                <a:latin typeface="Helvetica Neue"/>
              </a:rPr>
              <a:t>• Open source, MIT licensed</a:t>
            </a:r>
          </a:p>
          <a:p>
            <a:pPr algn="l">
              <a:lnSpc>
                <a:spcPct val="120000"/>
              </a:lnSpc>
              <a:spcAft>
                <a:spcPts val="600"/>
              </a:spcAft>
            </a:pPr>
            <a:r>
              <a:rPr sz="1600" b="0" i="0">
                <a:solidFill>
                  <a:srgbClr val="EEEEEE"/>
                </a:solidFill>
                <a:latin typeface="Helvetica Neue"/>
              </a:rPr>
              <a:t>• scikit-learn compatible API</a:t>
            </a:r>
          </a:p>
          <a:p>
            <a:pPr algn="l">
              <a:lnSpc>
                <a:spcPct val="120000"/>
              </a:lnSpc>
              <a:spcAft>
                <a:spcPts val="600"/>
              </a:spcAft>
            </a:pPr>
            <a:r>
              <a:rPr sz="1600" b="0" i="0">
                <a:solidFill>
                  <a:srgbClr val="EEEEEE"/>
                </a:solidFill>
                <a:latin typeface="Helvetica Neue"/>
              </a:rPr>
              <a:t>• PyTorch backend</a:t>
            </a:r>
          </a:p>
          <a:p>
            <a:pPr algn="l">
              <a:lnSpc>
                <a:spcPct val="120000"/>
              </a:lnSpc>
              <a:spcAft>
                <a:spcPts val="600"/>
              </a:spcAft>
            </a:pPr>
            <a:r>
              <a:rPr sz="1600" b="0" i="0">
                <a:solidFill>
                  <a:srgbClr val="EEEEEE"/>
                </a:solidFill>
                <a:latin typeface="Helvetica Neue"/>
              </a:rPr>
              <a:t>• Soft Decision Trees, Hierarchical Mixture of Experts, statistical model comparison</a:t>
            </a:r>
          </a:p>
        </p:txBody>
      </p:sp>
      <p:sp>
        <p:nvSpPr>
          <p:cNvPr id="6" name="TextBox 5"/>
          <p:cNvSpPr txBox="1"/>
          <p:nvPr/>
        </p:nvSpPr>
        <p:spPr>
          <a:xfrm>
            <a:off x="548640" y="6217920"/>
            <a:ext cx="10972800" cy="365760"/>
          </a:xfrm>
          <a:prstGeom prst="rect">
            <a:avLst/>
          </a:prstGeom>
          <a:noFill/>
        </p:spPr>
        <p:txBody>
          <a:bodyPr wrap="square" lIns="0" rIns="0" tIns="0" bIns="0" anchor="t">
            <a:spAutoFit/>
          </a:bodyPr>
          <a:lstStyle/>
          <a:p>
            <a:pPr algn="ctr"/>
            <a:r>
              <a:rPr sz="1200" b="0" i="0">
                <a:solidFill>
                  <a:srgbClr val="888888"/>
                </a:solidFill>
                <a:latin typeface="Helvetica Neue"/>
              </a:rPr>
              <a:t>github.com/cgrtml/neural-trees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A2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ACTIVITY 1 · 55 MIN</a:t>
            </a:r>
          </a:p>
        </p:txBody>
      </p:sp>
      <p:sp>
        <p:nvSpPr>
          <p:cNvPr id="3" name="TextBox 2"/>
          <p:cNvSpPr txBox="1"/>
          <p:nvPr/>
        </p:nvSpPr>
        <p:spPr>
          <a:xfrm>
            <a:off x="548640" y="1828800"/>
            <a:ext cx="10972800" cy="1371600"/>
          </a:xfrm>
          <a:prstGeom prst="rect">
            <a:avLst/>
          </a:prstGeom>
          <a:noFill/>
        </p:spPr>
        <p:txBody>
          <a:bodyPr wrap="square" lIns="0" rIns="0" tIns="0" bIns="0" anchor="t">
            <a:spAutoFit/>
          </a:bodyPr>
          <a:lstStyle/>
          <a:p>
            <a:pPr algn="ctr"/>
            <a:r>
              <a:rPr sz="5400" b="1" i="0">
                <a:solidFill>
                  <a:srgbClr val="EEEEEE"/>
                </a:solidFill>
                <a:latin typeface="Helvetica Neue"/>
              </a:rPr>
              <a:t>Train Your Own Neural Tree</a:t>
            </a:r>
          </a:p>
        </p:txBody>
      </p:sp>
      <p:sp>
        <p:nvSpPr>
          <p:cNvPr id="4" name="TextBox 3"/>
          <p:cNvSpPr txBox="1"/>
          <p:nvPr/>
        </p:nvSpPr>
        <p:spPr>
          <a:xfrm>
            <a:off x="548640" y="4114800"/>
            <a:ext cx="10972800" cy="640080"/>
          </a:xfrm>
          <a:prstGeom prst="rect">
            <a:avLst/>
          </a:prstGeom>
          <a:noFill/>
        </p:spPr>
        <p:txBody>
          <a:bodyPr wrap="square" lIns="0" rIns="0" tIns="0" bIns="0" anchor="t">
            <a:spAutoFit/>
          </a:bodyPr>
          <a:lstStyle/>
          <a:p>
            <a:pPr algn="ctr"/>
            <a:r>
              <a:rPr sz="2200" b="0" i="0">
                <a:solidFill>
                  <a:srgbClr val="4FC3F7"/>
                </a:solidFill>
                <a:latin typeface="Helvetica Neue"/>
              </a:rPr>
              <a:t>Open the QR code on the next slide.</a:t>
            </a:r>
          </a:p>
        </p:txBody>
      </p:sp>
      <p:sp>
        <p:nvSpPr>
          <p:cNvPr id="5" name="TextBox 4"/>
          <p:cNvSpPr txBox="1"/>
          <p:nvPr/>
        </p:nvSpPr>
        <p:spPr>
          <a:xfrm>
            <a:off x="548640" y="4937760"/>
            <a:ext cx="10972800" cy="548640"/>
          </a:xfrm>
          <a:prstGeom prst="rect">
            <a:avLst/>
          </a:prstGeom>
          <a:noFill/>
        </p:spPr>
        <p:txBody>
          <a:bodyPr wrap="square" lIns="0" rIns="0" tIns="0" bIns="0" anchor="t">
            <a:spAutoFit/>
          </a:bodyPr>
          <a:lstStyle/>
          <a:p>
            <a:pPr algn="ctr"/>
            <a:r>
              <a:rPr sz="1800" b="0" i="1">
                <a:solidFill>
                  <a:srgbClr val="BBBBBB"/>
                </a:solidFill>
                <a:latin typeface="Helvetica Neue"/>
              </a:rPr>
              <a:t>No installs. Just Gmail and a browser.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48640"/>
            <a:ext cx="10972800" cy="731520"/>
          </a:xfrm>
          <a:prstGeom prst="rect">
            <a:avLst/>
          </a:prstGeom>
          <a:noFill/>
        </p:spPr>
        <p:txBody>
          <a:bodyPr wrap="square" lIns="0" rIns="0" tIns="0" bIns="0" anchor="t">
            <a:spAutoFit/>
          </a:bodyPr>
          <a:lstStyle/>
          <a:p>
            <a:pPr algn="ctr"/>
            <a:r>
              <a:rPr sz="3600" b="1" i="0">
                <a:solidFill>
                  <a:srgbClr val="0A0A0A"/>
                </a:solidFill>
                <a:latin typeface="Helvetica Neue"/>
              </a:rPr>
              <a:t>Scan to start</a:t>
            </a:r>
          </a:p>
        </p:txBody>
      </p:sp>
      <p:pic>
        <p:nvPicPr>
          <p:cNvPr id="3" name="Picture 2" descr="qr_landing.png"/>
          <p:cNvPicPr>
            <a:picLocks noChangeAspect="1"/>
          </p:cNvPicPr>
          <p:nvPr/>
        </p:nvPicPr>
        <p:blipFill>
          <a:blip r:embed="rId2"/>
          <a:stretch>
            <a:fillRect/>
          </a:stretch>
        </p:blipFill>
        <p:spPr>
          <a:xfrm>
            <a:off x="4572000" y="1463040"/>
            <a:ext cx="3200400" cy="3200400"/>
          </a:xfrm>
          <a:prstGeom prst="rect">
            <a:avLst/>
          </a:prstGeom>
        </p:spPr>
      </p:pic>
      <p:sp>
        <p:nvSpPr>
          <p:cNvPr id="4" name="TextBox 3"/>
          <p:cNvSpPr txBox="1"/>
          <p:nvPr/>
        </p:nvSpPr>
        <p:spPr>
          <a:xfrm>
            <a:off x="548640" y="4937760"/>
            <a:ext cx="10972800" cy="457200"/>
          </a:xfrm>
          <a:prstGeom prst="rect">
            <a:avLst/>
          </a:prstGeom>
          <a:noFill/>
        </p:spPr>
        <p:txBody>
          <a:bodyPr wrap="square" lIns="0" rIns="0" tIns="0" bIns="0" anchor="t">
            <a:spAutoFit/>
          </a:bodyPr>
          <a:lstStyle/>
          <a:p>
            <a:pPr algn="ctr"/>
            <a:r>
              <a:rPr sz="1800" b="1" i="0">
                <a:solidFill>
                  <a:srgbClr val="0A0A0A"/>
                </a:solidFill>
                <a:latin typeface="Helvetica Neue"/>
              </a:rPr>
              <a:t>github.com/cgrtml/wsu-workshop-may15</a:t>
            </a:r>
          </a:p>
        </p:txBody>
      </p:sp>
      <p:sp>
        <p:nvSpPr>
          <p:cNvPr id="5" name="TextBox 4"/>
          <p:cNvSpPr txBox="1"/>
          <p:nvPr/>
        </p:nvSpPr>
        <p:spPr>
          <a:xfrm>
            <a:off x="548640" y="5669280"/>
            <a:ext cx="10972800" cy="457200"/>
          </a:xfrm>
          <a:prstGeom prst="rect">
            <a:avLst/>
          </a:prstGeom>
          <a:noFill/>
        </p:spPr>
        <p:txBody>
          <a:bodyPr wrap="square" lIns="0" rIns="0" tIns="0" bIns="0" anchor="t">
            <a:spAutoFit/>
          </a:bodyPr>
          <a:lstStyle/>
          <a:p>
            <a:pPr algn="ctr"/>
            <a:r>
              <a:rPr sz="1400" b="0" i="0">
                <a:solidFill>
                  <a:srgbClr val="888888"/>
                </a:solidFill>
                <a:latin typeface="Helvetica Neue"/>
              </a:rPr>
              <a:t>1. Scan with phone camera → 2. Tap "Activity 1" → 3. Sign in with Gmail → 4. "Copy to Drive"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822960"/>
          </a:xfrm>
          <a:prstGeom prst="rect">
            <a:avLst/>
          </a:prstGeom>
          <a:noFill/>
        </p:spPr>
        <p:txBody>
          <a:bodyPr wrap="square" lIns="0" rIns="0" tIns="0" bIns="0" anchor="t">
            <a:spAutoFit/>
          </a:bodyPr>
          <a:lstStyle/>
          <a:p>
            <a:pPr algn="l"/>
            <a:r>
              <a:rPr sz="3600" b="1" i="0">
                <a:solidFill>
                  <a:srgbClr val="4FC3F7"/>
                </a:solidFill>
                <a:latin typeface="Helvetica Neue"/>
              </a:rPr>
              <a:t>Activity 1: what you will do</a:t>
            </a:r>
          </a:p>
        </p:txBody>
      </p:sp>
      <p:sp>
        <p:nvSpPr>
          <p:cNvPr id="3" name="TextBox 2"/>
          <p:cNvSpPr txBox="1"/>
          <p:nvPr/>
        </p:nvSpPr>
        <p:spPr>
          <a:xfrm>
            <a:off x="731520" y="1645920"/>
            <a:ext cx="10972800" cy="5029200"/>
          </a:xfrm>
          <a:prstGeom prst="rect">
            <a:avLst/>
          </a:prstGeom>
          <a:noFill/>
        </p:spPr>
        <p:txBody>
          <a:bodyPr wrap="square" lIns="0" rIns="0" tIns="0" bIns="0" anchor="t">
            <a:spAutoFit/>
          </a:bodyPr>
          <a:lstStyle/>
          <a:p>
            <a:pPr algn="l">
              <a:lnSpc>
                <a:spcPct val="120000"/>
              </a:lnSpc>
              <a:spcAft>
                <a:spcPts val="800"/>
              </a:spcAft>
            </a:pPr>
            <a:r>
              <a:rPr sz="1700" b="1" i="0">
                <a:solidFill>
                  <a:srgbClr val="EEEEEE"/>
                </a:solidFill>
                <a:latin typeface="Helvetica Neue"/>
              </a:rPr>
              <a:t>1. Load &amp; explore CMAPSS FD001 (10 min)</a:t>
            </a:r>
          </a:p>
          <a:p>
            <a:pPr algn="l">
              <a:lnSpc>
                <a:spcPct val="120000"/>
              </a:lnSpc>
              <a:spcAft>
                <a:spcPts val="1600"/>
              </a:spcAft>
            </a:pPr>
            <a:r>
              <a:rPr sz="1300" b="0" i="1">
                <a:solidFill>
                  <a:srgbClr val="BBBBBB"/>
                </a:solidFill>
                <a:latin typeface="Helvetica Neue"/>
              </a:rPr>
              <a:t>Plot a few engines. Find which sensors degrade.</a:t>
            </a:r>
          </a:p>
          <a:p>
            <a:pPr algn="l">
              <a:lnSpc>
                <a:spcPct val="120000"/>
              </a:lnSpc>
              <a:spcAft>
                <a:spcPts val="800"/>
              </a:spcAft>
            </a:pPr>
            <a:r>
              <a:rPr sz="1700" b="1" i="0">
                <a:solidFill>
                  <a:srgbClr val="EEEEEE"/>
                </a:solidFill>
                <a:latin typeface="Helvetica Neue"/>
              </a:rPr>
              <a:t>2. Bin RUL into 3 classes (5 min)</a:t>
            </a:r>
          </a:p>
          <a:p>
            <a:pPr algn="l">
              <a:lnSpc>
                <a:spcPct val="120000"/>
              </a:lnSpc>
              <a:spcAft>
                <a:spcPts val="1600"/>
              </a:spcAft>
            </a:pPr>
            <a:r>
              <a:rPr sz="1300" b="0" i="1">
                <a:solidFill>
                  <a:srgbClr val="BBBBBB"/>
                </a:solidFill>
                <a:latin typeface="Helvetica Neue"/>
              </a:rPr>
              <a:t>Critical · Caution · Healthy</a:t>
            </a:r>
          </a:p>
          <a:p>
            <a:pPr algn="l">
              <a:lnSpc>
                <a:spcPct val="120000"/>
              </a:lnSpc>
              <a:spcAft>
                <a:spcPts val="800"/>
              </a:spcAft>
            </a:pPr>
            <a:r>
              <a:rPr sz="1700" b="1" i="0">
                <a:solidFill>
                  <a:srgbClr val="EEEEEE"/>
                </a:solidFill>
                <a:latin typeface="Helvetica Neue"/>
              </a:rPr>
              <a:t>3. Train a SoftDecisionTree (15 min)</a:t>
            </a:r>
          </a:p>
          <a:p>
            <a:pPr algn="l">
              <a:lnSpc>
                <a:spcPct val="120000"/>
              </a:lnSpc>
              <a:spcAft>
                <a:spcPts val="1600"/>
              </a:spcAft>
            </a:pPr>
            <a:r>
              <a:rPr sz="1300" b="0" i="1">
                <a:solidFill>
                  <a:srgbClr val="BBBBBB"/>
                </a:solidFill>
                <a:latin typeface="Helvetica Neue"/>
              </a:rPr>
              <a:t>depth=4, max_epochs=30, runs on CPU</a:t>
            </a:r>
          </a:p>
          <a:p>
            <a:pPr algn="l">
              <a:lnSpc>
                <a:spcPct val="120000"/>
              </a:lnSpc>
              <a:spcAft>
                <a:spcPts val="1600"/>
              </a:spcAft>
            </a:pPr>
            <a:r>
              <a:rPr sz="1700" b="1" i="0">
                <a:solidFill>
                  <a:srgbClr val="EEEEEE"/>
                </a:solidFill>
                <a:latin typeface="Helvetica Neue"/>
              </a:rPr>
              <a:t>4. Evaluate accuracy &amp; confusion matrix (5 min)</a:t>
            </a:r>
          </a:p>
          <a:p>
            <a:pPr algn="l">
              <a:lnSpc>
                <a:spcPct val="120000"/>
              </a:lnSpc>
              <a:spcAft>
                <a:spcPts val="800"/>
              </a:spcAft>
            </a:pPr>
            <a:r>
              <a:rPr sz="1700" b="1" i="0">
                <a:solidFill>
                  <a:srgbClr val="4FC3F7"/>
                </a:solidFill>
                <a:latin typeface="Helvetica Neue"/>
              </a:rPr>
              <a:t>5. Traverse a prediction (15 min)</a:t>
            </a:r>
          </a:p>
          <a:p>
            <a:pPr algn="l">
              <a:lnSpc>
                <a:spcPct val="120000"/>
              </a:lnSpc>
              <a:spcAft>
                <a:spcPts val="0"/>
              </a:spcAft>
            </a:pPr>
            <a:r>
              <a:rPr sz="1300" b="0" i="1">
                <a:solidFill>
                  <a:srgbClr val="4FC3F7"/>
                </a:solidFill>
                <a:latin typeface="Helvetica Neue"/>
              </a:rPr>
              <a:t>This is the heart of the workshop.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1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Imports</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import numpy as np</a:t>
            </a:r>
          </a:p>
          <a:p>
            <a:pPr algn="l">
              <a:lnSpc>
                <a:spcPct val="120000"/>
              </a:lnSpc>
            </a:pPr>
            <a:r>
              <a:rPr sz="1100">
                <a:solidFill>
                  <a:srgbClr val="EEEEEE"/>
                </a:solidFill>
                <a:latin typeface="Menlo"/>
              </a:rPr>
              <a:t>import pandas as pd</a:t>
            </a:r>
          </a:p>
          <a:p>
            <a:pPr algn="l">
              <a:lnSpc>
                <a:spcPct val="120000"/>
              </a:lnSpc>
            </a:pPr>
            <a:r>
              <a:rPr sz="1100">
                <a:solidFill>
                  <a:srgbClr val="EEEEEE"/>
                </a:solidFill>
                <a:latin typeface="Menlo"/>
              </a:rPr>
              <a:t>import matplotlib.pyplot as plt</a:t>
            </a:r>
          </a:p>
          <a:p>
            <a:pPr algn="l">
              <a:lnSpc>
                <a:spcPct val="120000"/>
              </a:lnSpc>
            </a:pPr>
            <a:r>
              <a:rPr sz="1100">
                <a:solidFill>
                  <a:srgbClr val="EEEEEE"/>
                </a:solidFill>
                <a:latin typeface="Menlo"/>
              </a:rPr>
              <a:t>import seaborn as sns</a:t>
            </a:r>
          </a:p>
          <a:p>
            <a:pPr algn="l">
              <a:lnSpc>
                <a:spcPct val="120000"/>
              </a:lnSpc>
            </a:pPr>
            <a:r>
              <a:rPr sz="1100">
                <a:solidFill>
                  <a:srgbClr val="EEEEEE"/>
                </a:solidFill>
                <a:latin typeface="Menlo"/>
              </a:rPr>
              <a:t>from sklearn.model_selection import train_test_split</a:t>
            </a:r>
          </a:p>
          <a:p>
            <a:pPr algn="l">
              <a:lnSpc>
                <a:spcPct val="120000"/>
              </a:lnSpc>
            </a:pPr>
            <a:r>
              <a:rPr sz="1100">
                <a:solidFill>
                  <a:srgbClr val="EEEEEE"/>
                </a:solidFill>
                <a:latin typeface="Menlo"/>
              </a:rPr>
              <a:t>from sklearn.preprocessing import StandardScaler</a:t>
            </a:r>
          </a:p>
          <a:p>
            <a:pPr algn="l">
              <a:lnSpc>
                <a:spcPct val="120000"/>
              </a:lnSpc>
            </a:pPr>
            <a:r>
              <a:rPr sz="1100">
                <a:solidFill>
                  <a:srgbClr val="EEEEEE"/>
                </a:solidFill>
                <a:latin typeface="Menlo"/>
              </a:rPr>
              <a:t>from sklearn.metrics import classification_report, confusion_matrix</a:t>
            </a:r>
          </a:p>
          <a:p>
            <a:pPr algn="l">
              <a:lnSpc>
                <a:spcPct val="120000"/>
              </a:lnSpc>
            </a:pPr>
            <a:r>
              <a:rPr sz="1100">
                <a:solidFill>
                  <a:srgbClr val="EEEEEE"/>
                </a:solidFill>
                <a:latin typeface="Menlo"/>
              </a:rPr>
              <a:t>from neural_trees import SoftDecisionTree</a:t>
            </a:r>
          </a:p>
          <a:p>
            <a:pPr algn="l">
              <a:lnSpc>
                <a:spcPct val="120000"/>
              </a:lnSpc>
            </a:pPr>
            <a:r>
              <a:rPr sz="1100">
                <a:solidFill>
                  <a:srgbClr val="EEEEEE"/>
                </a:solidFill>
                <a:latin typeface="Menlo"/>
              </a:rPr>
              <a:t>print('All set.')</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All set.</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If you see IndentationError, every line must start at the left edge.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2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Load the data</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cols = ['engine_id', 'cycle'] + [f'op{i}' for i in range(1, 4)] + [f's{i}' for i in range(1, 22)]</a:t>
            </a:r>
          </a:p>
          <a:p>
            <a:pPr algn="l">
              <a:lnSpc>
                <a:spcPct val="120000"/>
              </a:lnSpc>
            </a:pPr>
            <a:r>
              <a:rPr sz="1100">
                <a:solidFill>
                  <a:srgbClr val="EEEEEE"/>
                </a:solidFill>
                <a:latin typeface="Menlo"/>
              </a:rPr>
              <a:t>train = pd.read_csv('train_FD001.txt', sep=r'\s+', header=None, names=cols)</a:t>
            </a:r>
          </a:p>
          <a:p>
            <a:pPr algn="l">
              <a:lnSpc>
                <a:spcPct val="120000"/>
              </a:lnSpc>
            </a:pPr>
            <a:r>
              <a:rPr sz="1100">
                <a:solidFill>
                  <a:srgbClr val="EEEEEE"/>
                </a:solidFill>
                <a:latin typeface="Menlo"/>
              </a:rPr>
              <a:t>print(train.shape, '-&gt;', train['engine_id'].nunique(), 'engines')</a:t>
            </a:r>
          </a:p>
          <a:p>
            <a:pPr algn="l">
              <a:lnSpc>
                <a:spcPct val="120000"/>
              </a:lnSpc>
            </a:pPr>
            <a:r>
              <a:rPr sz="1100">
                <a:solidFill>
                  <a:srgbClr val="EEEEEE"/>
                </a:solidFill>
                <a:latin typeface="Menlo"/>
              </a:rPr>
              <a:t>train.head()</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(20631, 26) -&gt; 100 engines</a:t>
            </a:r>
          </a:p>
          <a:p>
            <a:r>
              <a:rPr sz="1200">
                <a:solidFill>
                  <a:srgbClr val="D8E8D8"/>
                </a:solidFill>
                <a:latin typeface="Menlo"/>
              </a:rPr>
              <a:t> </a:t>
            </a:r>
          </a:p>
          <a:p>
            <a:r>
              <a:rPr sz="1200">
                <a:solidFill>
                  <a:srgbClr val="D8E8D8"/>
                </a:solidFill>
                <a:latin typeface="Menlo"/>
              </a:rPr>
              <a:t>First 5 rows of the dataframe</a:t>
            </a:r>
          </a:p>
          <a:p>
            <a:r>
              <a:rPr sz="1200">
                <a:solidFill>
                  <a:srgbClr val="D8E8D8"/>
                </a:solidFill>
                <a:latin typeface="Menlo"/>
              </a:rPr>
              <a:t>shown below.</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100 turbofan engines, 20,631 timesteps total.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3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Compute Remaining Useful Life</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max_cycles = train.groupby('engine_id')['cycle'].max().rename('max_cycle')</a:t>
            </a:r>
          </a:p>
          <a:p>
            <a:pPr algn="l">
              <a:lnSpc>
                <a:spcPct val="120000"/>
              </a:lnSpc>
            </a:pPr>
            <a:r>
              <a:rPr sz="1100">
                <a:solidFill>
                  <a:srgbClr val="EEEEEE"/>
                </a:solidFill>
                <a:latin typeface="Menlo"/>
              </a:rPr>
              <a:t>train = train.merge(max_cycles, on='engine_id')</a:t>
            </a:r>
          </a:p>
          <a:p>
            <a:pPr algn="l">
              <a:lnSpc>
                <a:spcPct val="120000"/>
              </a:lnSpc>
            </a:pPr>
            <a:r>
              <a:rPr sz="1100">
                <a:solidFill>
                  <a:srgbClr val="EEEEEE"/>
                </a:solidFill>
                <a:latin typeface="Menlo"/>
              </a:rPr>
              <a:t>train['RUL'] = (train['max_cycle'] - train['cycle']).clip(upper=125)</a:t>
            </a:r>
          </a:p>
          <a:p>
            <a:pPr algn="l">
              <a:lnSpc>
                <a:spcPct val="120000"/>
              </a:lnSpc>
            </a:pPr>
            <a:r>
              <a:rPr sz="1100">
                <a:solidFill>
                  <a:srgbClr val="EEEEEE"/>
                </a:solidFill>
                <a:latin typeface="Menlo"/>
              </a:rPr>
              <a:t>train[['engine_id','cycle','max_cycle','RUL']].head()</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   engine_id  cycle  max_cycle  RUL</a:t>
            </a:r>
          </a:p>
          <a:p>
            <a:r>
              <a:rPr sz="1200">
                <a:solidFill>
                  <a:srgbClr val="D8E8D8"/>
                </a:solidFill>
                <a:latin typeface="Menlo"/>
              </a:rPr>
              <a:t>0          1      1        192  125</a:t>
            </a:r>
          </a:p>
          <a:p>
            <a:r>
              <a:rPr sz="1200">
                <a:solidFill>
                  <a:srgbClr val="D8E8D8"/>
                </a:solidFill>
                <a:latin typeface="Menlo"/>
              </a:rPr>
              <a:t>1          1      2        192  125</a:t>
            </a:r>
          </a:p>
          <a:p>
            <a:r>
              <a:rPr sz="1200">
                <a:solidFill>
                  <a:srgbClr val="D8E8D8"/>
                </a:solidFill>
                <a:latin typeface="Menlo"/>
              </a:rPr>
              <a:t>2          1      3        192  125</a:t>
            </a:r>
          </a:p>
          <a:p>
            <a:r>
              <a:rPr sz="1200">
                <a:solidFill>
                  <a:srgbClr val="D8E8D8"/>
                </a:solidFill>
                <a:latin typeface="Menlo"/>
              </a:rPr>
              <a:t>3          1      4        192  125</a:t>
            </a:r>
          </a:p>
          <a:p>
            <a:r>
              <a:rPr sz="1200">
                <a:solidFill>
                  <a:srgbClr val="D8E8D8"/>
                </a:solidFill>
                <a:latin typeface="Menlo"/>
              </a:rPr>
              <a:t>4          1      5        192  125</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RUL capped at 125. Engine 1 lived 192 cycles in total.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4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Visualize one engine's degradation</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engine = train[train['engine_id'] == 1].set_index('cycle')</a:t>
            </a:r>
          </a:p>
          <a:p>
            <a:pPr algn="l">
              <a:lnSpc>
                <a:spcPct val="120000"/>
              </a:lnSpc>
            </a:pPr>
            <a:r>
              <a:rPr sz="1100">
                <a:solidFill>
                  <a:srgbClr val="EEEEEE"/>
                </a:solidFill>
                <a:latin typeface="Menlo"/>
              </a:rPr>
              <a:t>engine[['s2', 's7', 's11', 's14']].plot(</a:t>
            </a:r>
          </a:p>
          <a:p>
            <a:pPr algn="l">
              <a:lnSpc>
                <a:spcPct val="120000"/>
              </a:lnSpc>
            </a:pPr>
            <a:r>
              <a:rPr sz="1100">
                <a:solidFill>
                  <a:srgbClr val="EEEEEE"/>
                </a:solidFill>
                <a:latin typeface="Menlo"/>
              </a:rPr>
              <a:t>    subplots=True, layout=(2,2), figsize=(12,6))</a:t>
            </a:r>
          </a:p>
          <a:p>
            <a:pPr algn="l">
              <a:lnSpc>
                <a:spcPct val="120000"/>
              </a:lnSpc>
            </a:pPr>
            <a:r>
              <a:rPr sz="1100">
                <a:solidFill>
                  <a:srgbClr val="EEEEEE"/>
                </a:solidFill>
                <a:latin typeface="Menlo"/>
              </a:rPr>
              <a:t>plt.suptitle('Engine 1 sensor degradation', y=1.02)</a:t>
            </a:r>
          </a:p>
          <a:p>
            <a:pPr algn="l">
              <a:lnSpc>
                <a:spcPct val="120000"/>
              </a:lnSpc>
            </a:pPr>
            <a:r>
              <a:rPr sz="1100">
                <a:solidFill>
                  <a:srgbClr val="EEEEEE"/>
                </a:solidFill>
                <a:latin typeface="Menlo"/>
              </a:rPr>
              <a:t>plt.tight_layout(); plt.show()</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pic>
        <p:nvPicPr>
          <p:cNvPr id="7" name="Picture 6" descr="step4_engine1.png"/>
          <p:cNvPicPr>
            <a:picLocks noChangeAspect="1"/>
          </p:cNvPicPr>
          <p:nvPr/>
        </p:nvPicPr>
        <p:blipFill>
          <a:blip r:embed="rId2"/>
          <a:stretch>
            <a:fillRect/>
          </a:stretch>
        </p:blipFill>
        <p:spPr>
          <a:xfrm>
            <a:off x="7040880" y="2240280"/>
            <a:ext cx="4937760" cy="2662598"/>
          </a:xfrm>
          <a:prstGeom prst="rect">
            <a:avLst/>
          </a:prstGeom>
        </p:spPr>
      </p:pic>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s2, s11, s14 trend up. s7 trends down. The engine is wearing.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5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Bin RUL into three classes</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def bin_rul(rul):</a:t>
            </a:r>
          </a:p>
          <a:p>
            <a:pPr algn="l">
              <a:lnSpc>
                <a:spcPct val="120000"/>
              </a:lnSpc>
            </a:pPr>
            <a:r>
              <a:rPr sz="1100">
                <a:solidFill>
                  <a:srgbClr val="EEEEEE"/>
                </a:solidFill>
                <a:latin typeface="Menlo"/>
              </a:rPr>
              <a:t>    if rul &lt; 30: return 0</a:t>
            </a:r>
          </a:p>
          <a:p>
            <a:pPr algn="l">
              <a:lnSpc>
                <a:spcPct val="120000"/>
              </a:lnSpc>
            </a:pPr>
            <a:r>
              <a:rPr sz="1100">
                <a:solidFill>
                  <a:srgbClr val="EEEEEE"/>
                </a:solidFill>
                <a:latin typeface="Menlo"/>
              </a:rPr>
              <a:t>    elif rul &lt; 80: return 1</a:t>
            </a:r>
          </a:p>
          <a:p>
            <a:pPr algn="l">
              <a:lnSpc>
                <a:spcPct val="120000"/>
              </a:lnSpc>
            </a:pPr>
            <a:r>
              <a:rPr sz="1100">
                <a:solidFill>
                  <a:srgbClr val="EEEEEE"/>
                </a:solidFill>
                <a:latin typeface="Menlo"/>
              </a:rPr>
              <a:t>    return 2</a:t>
            </a:r>
          </a:p>
          <a:p>
            <a:pPr algn="l">
              <a:lnSpc>
                <a:spcPct val="120000"/>
              </a:lnSpc>
            </a:pPr>
            <a:r>
              <a:rPr sz="1100">
                <a:solidFill>
                  <a:srgbClr val="EEEEEE"/>
                </a:solidFill>
                <a:latin typeface="Menlo"/>
              </a:rPr>
              <a:t> </a:t>
            </a:r>
          </a:p>
          <a:p>
            <a:pPr algn="l">
              <a:lnSpc>
                <a:spcPct val="120000"/>
              </a:lnSpc>
            </a:pPr>
            <a:r>
              <a:rPr sz="1100">
                <a:solidFill>
                  <a:srgbClr val="EEEEEE"/>
                </a:solidFill>
                <a:latin typeface="Menlo"/>
              </a:rPr>
              <a:t>train['health'] = train['RUL'].apply(bin_rul)</a:t>
            </a:r>
          </a:p>
          <a:p>
            <a:pPr algn="l">
              <a:lnSpc>
                <a:spcPct val="120000"/>
              </a:lnSpc>
            </a:pPr>
            <a:r>
              <a:rPr sz="1100">
                <a:solidFill>
                  <a:srgbClr val="EEEEEE"/>
                </a:solidFill>
                <a:latin typeface="Menlo"/>
              </a:rPr>
              <a:t>train['health'].value_counts().sort_index()</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health</a:t>
            </a:r>
          </a:p>
          <a:p>
            <a:r>
              <a:rPr sz="1200">
                <a:solidFill>
                  <a:srgbClr val="D8E8D8"/>
                </a:solidFill>
                <a:latin typeface="Menlo"/>
              </a:rPr>
              <a:t>0     3000</a:t>
            </a:r>
          </a:p>
          <a:p>
            <a:r>
              <a:rPr sz="1200">
                <a:solidFill>
                  <a:srgbClr val="D8E8D8"/>
                </a:solidFill>
                <a:latin typeface="Menlo"/>
              </a:rPr>
              <a:t>1     5000</a:t>
            </a:r>
          </a:p>
          <a:p>
            <a:r>
              <a:rPr sz="1200">
                <a:solidFill>
                  <a:srgbClr val="D8E8D8"/>
                </a:solidFill>
                <a:latin typeface="Menlo"/>
              </a:rPr>
              <a:t>2    12631</a:t>
            </a:r>
          </a:p>
          <a:p>
            <a:r>
              <a:rPr sz="1200">
                <a:solidFill>
                  <a:srgbClr val="D8E8D8"/>
                </a:solidFill>
                <a:latin typeface="Menlo"/>
              </a:rPr>
              <a:t>Name: count, dtype: int64</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14% Critical · 24% Caution · 61% Healthy.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6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Build the feature matrix</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all_sensors = [f's{i}' for i in range(1, 22)]</a:t>
            </a:r>
          </a:p>
          <a:p>
            <a:pPr algn="l">
              <a:lnSpc>
                <a:spcPct val="120000"/>
              </a:lnSpc>
            </a:pPr>
            <a:r>
              <a:rPr sz="1100">
                <a:solidFill>
                  <a:srgbClr val="EEEEEE"/>
                </a:solidFill>
                <a:latin typeface="Menlo"/>
              </a:rPr>
              <a:t>informative = [s for s in all_sensors if train[s].std() &gt; 0.001]</a:t>
            </a:r>
          </a:p>
          <a:p>
            <a:pPr algn="l">
              <a:lnSpc>
                <a:spcPct val="120000"/>
              </a:lnSpc>
            </a:pPr>
            <a:r>
              <a:rPr sz="1100">
                <a:solidFill>
                  <a:srgbClr val="EEEEEE"/>
                </a:solidFill>
                <a:latin typeface="Menlo"/>
              </a:rPr>
              <a:t>X = train[informative].values</a:t>
            </a:r>
          </a:p>
          <a:p>
            <a:pPr algn="l">
              <a:lnSpc>
                <a:spcPct val="120000"/>
              </a:lnSpc>
            </a:pPr>
            <a:r>
              <a:rPr sz="1100">
                <a:solidFill>
                  <a:srgbClr val="EEEEEE"/>
                </a:solidFill>
                <a:latin typeface="Menlo"/>
              </a:rPr>
              <a:t>y = train['health'].values</a:t>
            </a:r>
          </a:p>
          <a:p>
            <a:pPr algn="l">
              <a:lnSpc>
                <a:spcPct val="120000"/>
              </a:lnSpc>
            </a:pPr>
            <a:r>
              <a:rPr sz="1100">
                <a:solidFill>
                  <a:srgbClr val="EEEEEE"/>
                </a:solidFill>
                <a:latin typeface="Menlo"/>
              </a:rPr>
              <a:t>scaler = StandardScaler()</a:t>
            </a:r>
          </a:p>
          <a:p>
            <a:pPr algn="l">
              <a:lnSpc>
                <a:spcPct val="120000"/>
              </a:lnSpc>
            </a:pPr>
            <a:r>
              <a:rPr sz="1100">
                <a:solidFill>
                  <a:srgbClr val="EEEEEE"/>
                </a:solidFill>
                <a:latin typeface="Menlo"/>
              </a:rPr>
              <a:t>X = scaler.fit_transform(X)</a:t>
            </a:r>
          </a:p>
          <a:p>
            <a:pPr algn="l">
              <a:lnSpc>
                <a:spcPct val="120000"/>
              </a:lnSpc>
            </a:pPr>
            <a:r>
              <a:rPr sz="1100">
                <a:solidFill>
                  <a:srgbClr val="EEEEEE"/>
                </a:solidFill>
                <a:latin typeface="Menlo"/>
              </a:rPr>
              <a:t>print('X shape:', X.shape, '· y shape:', y.shape)</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X shape: (20631, 15) · y shape: (20631,)</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15 of 21 sensors are informative. s1, s5, s10, s16, s18, s19 are constant and dropped.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7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Train / test split</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X_train, X_test, y_train, y_test = train_test_split(</a:t>
            </a:r>
          </a:p>
          <a:p>
            <a:pPr algn="l">
              <a:lnSpc>
                <a:spcPct val="120000"/>
              </a:lnSpc>
            </a:pPr>
            <a:r>
              <a:rPr sz="1100">
                <a:solidFill>
                  <a:srgbClr val="EEEEEE"/>
                </a:solidFill>
                <a:latin typeface="Menlo"/>
              </a:rPr>
              <a:t>    X, y,</a:t>
            </a:r>
          </a:p>
          <a:p>
            <a:pPr algn="l">
              <a:lnSpc>
                <a:spcPct val="120000"/>
              </a:lnSpc>
            </a:pPr>
            <a:r>
              <a:rPr sz="1100">
                <a:solidFill>
                  <a:srgbClr val="EEEEEE"/>
                </a:solidFill>
                <a:latin typeface="Menlo"/>
              </a:rPr>
              <a:t>    test_size=0.2,</a:t>
            </a:r>
          </a:p>
          <a:p>
            <a:pPr algn="l">
              <a:lnSpc>
                <a:spcPct val="120000"/>
              </a:lnSpc>
            </a:pPr>
            <a:r>
              <a:rPr sz="1100">
                <a:solidFill>
                  <a:srgbClr val="EEEEEE"/>
                </a:solidFill>
                <a:latin typeface="Menlo"/>
              </a:rPr>
              <a:t>    stratify=y,</a:t>
            </a:r>
          </a:p>
          <a:p>
            <a:pPr algn="l">
              <a:lnSpc>
                <a:spcPct val="120000"/>
              </a:lnSpc>
            </a:pPr>
            <a:r>
              <a:rPr sz="1100">
                <a:solidFill>
                  <a:srgbClr val="EEEEEE"/>
                </a:solidFill>
                <a:latin typeface="Menlo"/>
              </a:rPr>
              <a:t>    random_state=42,</a:t>
            </a:r>
          </a:p>
          <a:p>
            <a:pPr algn="l">
              <a:lnSpc>
                <a:spcPct val="120000"/>
              </a:lnSpc>
            </a:pPr>
            <a:r>
              <a:rPr sz="1100">
                <a:solidFill>
                  <a:srgbClr val="EEEEEE"/>
                </a:solidFill>
                <a:latin typeface="Menlo"/>
              </a:rPr>
              <a:t>)</a:t>
            </a:r>
          </a:p>
          <a:p>
            <a:pPr algn="l">
              <a:lnSpc>
                <a:spcPct val="120000"/>
              </a:lnSpc>
            </a:pPr>
            <a:r>
              <a:rPr sz="1100">
                <a:solidFill>
                  <a:srgbClr val="EEEEEE"/>
                </a:solidFill>
                <a:latin typeface="Menlo"/>
              </a:rPr>
              <a:t>print(X_train.shape, X_test.shape)</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(16504, 15) (4127, 15)</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80/20 split. stratify=y preserves the class ratio in both sets.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8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Train the Soft Decision Tree (30 to 60 sec)</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tree = SoftDecisionTree(</a:t>
            </a:r>
          </a:p>
          <a:p>
            <a:pPr algn="l">
              <a:lnSpc>
                <a:spcPct val="120000"/>
              </a:lnSpc>
            </a:pPr>
            <a:r>
              <a:rPr sz="1100">
                <a:solidFill>
                  <a:srgbClr val="EEEEEE"/>
                </a:solidFill>
                <a:latin typeface="Menlo"/>
              </a:rPr>
              <a:t>    depth=4,</a:t>
            </a:r>
          </a:p>
          <a:p>
            <a:pPr algn="l">
              <a:lnSpc>
                <a:spcPct val="120000"/>
              </a:lnSpc>
            </a:pPr>
            <a:r>
              <a:rPr sz="1100">
                <a:solidFill>
                  <a:srgbClr val="EEEEEE"/>
                </a:solidFill>
                <a:latin typeface="Menlo"/>
              </a:rPr>
              <a:t>    max_epochs=30,</a:t>
            </a:r>
          </a:p>
          <a:p>
            <a:pPr algn="l">
              <a:lnSpc>
                <a:spcPct val="120000"/>
              </a:lnSpc>
            </a:pPr>
            <a:r>
              <a:rPr sz="1100">
                <a:solidFill>
                  <a:srgbClr val="EEEEEE"/>
                </a:solidFill>
                <a:latin typeface="Menlo"/>
              </a:rPr>
              <a:t>    learning_rate=0.01,</a:t>
            </a:r>
          </a:p>
          <a:p>
            <a:pPr algn="l">
              <a:lnSpc>
                <a:spcPct val="120000"/>
              </a:lnSpc>
            </a:pPr>
            <a:r>
              <a:rPr sz="1100">
                <a:solidFill>
                  <a:srgbClr val="EEEEEE"/>
                </a:solidFill>
                <a:latin typeface="Menlo"/>
              </a:rPr>
              <a:t>    penalty_coef=1e-3,</a:t>
            </a:r>
          </a:p>
          <a:p>
            <a:pPr algn="l">
              <a:lnSpc>
                <a:spcPct val="120000"/>
              </a:lnSpc>
            </a:pPr>
            <a:r>
              <a:rPr sz="1100">
                <a:solidFill>
                  <a:srgbClr val="EEEEEE"/>
                </a:solidFill>
                <a:latin typeface="Menlo"/>
              </a:rPr>
              <a:t>    verbose=True,</a:t>
            </a:r>
          </a:p>
          <a:p>
            <a:pPr algn="l">
              <a:lnSpc>
                <a:spcPct val="120000"/>
              </a:lnSpc>
            </a:pPr>
            <a:r>
              <a:rPr sz="1100">
                <a:solidFill>
                  <a:srgbClr val="EEEEEE"/>
                </a:solidFill>
                <a:latin typeface="Menlo"/>
              </a:rPr>
              <a:t>)</a:t>
            </a:r>
          </a:p>
          <a:p>
            <a:pPr algn="l">
              <a:lnSpc>
                <a:spcPct val="120000"/>
              </a:lnSpc>
            </a:pPr>
            <a:r>
              <a:rPr sz="1100">
                <a:solidFill>
                  <a:srgbClr val="EEEEEE"/>
                </a:solidFill>
                <a:latin typeface="Menlo"/>
              </a:rPr>
              <a:t>tree.fit(X_train, y_train)</a:t>
            </a:r>
          </a:p>
          <a:p>
            <a:pPr algn="l">
              <a:lnSpc>
                <a:spcPct val="120000"/>
              </a:lnSpc>
            </a:pPr>
            <a:r>
              <a:rPr sz="1100">
                <a:solidFill>
                  <a:srgbClr val="EEEEEE"/>
                </a:solidFill>
                <a:latin typeface="Menlo"/>
              </a:rPr>
              <a:t>acc = (tree.predict(X_test) == y_test).mean()</a:t>
            </a:r>
          </a:p>
          <a:p>
            <a:pPr algn="l">
              <a:lnSpc>
                <a:spcPct val="120000"/>
              </a:lnSpc>
            </a:pPr>
            <a:r>
              <a:rPr sz="1100">
                <a:solidFill>
                  <a:srgbClr val="EEEEEE"/>
                </a:solidFill>
                <a:latin typeface="Menlo"/>
              </a:rPr>
              <a:t>print(f'Test accuracy: {acc:.3f}')</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Epoch 5/30   loss=0.362  acc=0.851</a:t>
            </a:r>
          </a:p>
          <a:p>
            <a:r>
              <a:rPr sz="1200">
                <a:solidFill>
                  <a:srgbClr val="D8E8D8"/>
                </a:solidFill>
                <a:latin typeface="Menlo"/>
              </a:rPr>
              <a:t>Epoch 10/30  loss=0.355  acc=0.853</a:t>
            </a:r>
          </a:p>
          <a:p>
            <a:r>
              <a:rPr sz="1200">
                <a:solidFill>
                  <a:srgbClr val="D8E8D8"/>
                </a:solidFill>
                <a:latin typeface="Menlo"/>
              </a:rPr>
              <a:t>Epoch 15/30  loss=0.352  acc=0.854</a:t>
            </a:r>
          </a:p>
          <a:p>
            <a:r>
              <a:rPr sz="1200">
                <a:solidFill>
                  <a:srgbClr val="D8E8D8"/>
                </a:solidFill>
                <a:latin typeface="Menlo"/>
              </a:rPr>
              <a:t>Epoch 20/30  loss=0.351  acc=0.855</a:t>
            </a:r>
          </a:p>
          <a:p>
            <a:r>
              <a:rPr sz="1200">
                <a:solidFill>
                  <a:srgbClr val="D8E8D8"/>
                </a:solidFill>
                <a:latin typeface="Menlo"/>
              </a:rPr>
              <a:t>Epoch 25/30  loss=0.350  acc=0.854</a:t>
            </a:r>
          </a:p>
          <a:p>
            <a:r>
              <a:rPr sz="1200">
                <a:solidFill>
                  <a:srgbClr val="D8E8D8"/>
                </a:solidFill>
                <a:latin typeface="Menlo"/>
              </a:rPr>
              <a:t>Epoch 30/30  loss=0.349  acc=0.855</a:t>
            </a:r>
          </a:p>
          <a:p>
            <a:r>
              <a:rPr sz="1200">
                <a:solidFill>
                  <a:srgbClr val="D8E8D8"/>
                </a:solidFill>
                <a:latin typeface="Menlo"/>
              </a:rPr>
              <a:t>Test accuracy: 0.841</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Train vs test gap is about 1 point. No overfitting.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9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Confusion matrix and per-class report</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labels = ['Critical', 'Caution', 'Healthy']</a:t>
            </a:r>
          </a:p>
          <a:p>
            <a:pPr algn="l">
              <a:lnSpc>
                <a:spcPct val="120000"/>
              </a:lnSpc>
            </a:pPr>
            <a:r>
              <a:rPr sz="1100">
                <a:solidFill>
                  <a:srgbClr val="EEEEEE"/>
                </a:solidFill>
                <a:latin typeface="Menlo"/>
              </a:rPr>
              <a:t>y_pred = tree.predict(X_test)</a:t>
            </a:r>
          </a:p>
          <a:p>
            <a:pPr algn="l">
              <a:lnSpc>
                <a:spcPct val="120000"/>
              </a:lnSpc>
            </a:pPr>
            <a:r>
              <a:rPr sz="1100">
                <a:solidFill>
                  <a:srgbClr val="EEEEEE"/>
                </a:solidFill>
                <a:latin typeface="Menlo"/>
              </a:rPr>
              <a:t>cm = confusion_matrix(y_test, y_pred)</a:t>
            </a:r>
          </a:p>
          <a:p>
            <a:pPr algn="l">
              <a:lnSpc>
                <a:spcPct val="120000"/>
              </a:lnSpc>
            </a:pPr>
            <a:r>
              <a:rPr sz="1100">
                <a:solidFill>
                  <a:srgbClr val="EEEEEE"/>
                </a:solidFill>
                <a:latin typeface="Menlo"/>
              </a:rPr>
              <a:t>fig, ax = plt.subplots(figsize=(6, 5))</a:t>
            </a:r>
          </a:p>
          <a:p>
            <a:pPr algn="l">
              <a:lnSpc>
                <a:spcPct val="120000"/>
              </a:lnSpc>
            </a:pPr>
            <a:r>
              <a:rPr sz="1100">
                <a:solidFill>
                  <a:srgbClr val="EEEEEE"/>
                </a:solidFill>
                <a:latin typeface="Menlo"/>
              </a:rPr>
              <a:t>sns.heatmap(cm, annot=True, fmt='d', cmap='Blues',</a:t>
            </a:r>
          </a:p>
          <a:p>
            <a:pPr algn="l">
              <a:lnSpc>
                <a:spcPct val="120000"/>
              </a:lnSpc>
            </a:pPr>
            <a:r>
              <a:rPr sz="1100">
                <a:solidFill>
                  <a:srgbClr val="EEEEEE"/>
                </a:solidFill>
                <a:latin typeface="Menlo"/>
              </a:rPr>
              <a:t>            xticklabels=labels, yticklabels=labels, ax=ax)</a:t>
            </a:r>
          </a:p>
          <a:p>
            <a:pPr algn="l">
              <a:lnSpc>
                <a:spcPct val="120000"/>
              </a:lnSpc>
            </a:pPr>
            <a:r>
              <a:rPr sz="1100">
                <a:solidFill>
                  <a:srgbClr val="EEEEEE"/>
                </a:solidFill>
                <a:latin typeface="Menlo"/>
              </a:rPr>
              <a:t>plt.title('Confusion matrix'); plt.show()</a:t>
            </a:r>
          </a:p>
          <a:p>
            <a:pPr algn="l">
              <a:lnSpc>
                <a:spcPct val="120000"/>
              </a:lnSpc>
            </a:pPr>
            <a:r>
              <a:rPr sz="1100">
                <a:solidFill>
                  <a:srgbClr val="EEEEEE"/>
                </a:solidFill>
                <a:latin typeface="Menlo"/>
              </a:rPr>
              <a:t>print(classification_report(y_test, y_pred,</a:t>
            </a:r>
          </a:p>
          <a:p>
            <a:pPr algn="l">
              <a:lnSpc>
                <a:spcPct val="120000"/>
              </a:lnSpc>
            </a:pPr>
            <a:r>
              <a:rPr sz="1100">
                <a:solidFill>
                  <a:srgbClr val="EEEEEE"/>
                </a:solidFill>
                <a:latin typeface="Menlo"/>
              </a:rPr>
              <a:t>      target_names=labels))</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pic>
        <p:nvPicPr>
          <p:cNvPr id="7" name="Picture 6" descr="step9_confusion.png"/>
          <p:cNvPicPr>
            <a:picLocks noChangeAspect="1"/>
          </p:cNvPicPr>
          <p:nvPr/>
        </p:nvPicPr>
        <p:blipFill>
          <a:blip r:embed="rId2"/>
          <a:stretch>
            <a:fillRect/>
          </a:stretch>
        </p:blipFill>
        <p:spPr>
          <a:xfrm>
            <a:off x="7040880" y="2240280"/>
            <a:ext cx="4937760" cy="4047456"/>
          </a:xfrm>
          <a:prstGeom prst="rect">
            <a:avLst/>
          </a:prstGeom>
        </p:spPr>
      </p:pic>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0 false-Criticals on Healthy engines. Only 5 missed-Critical on 600.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10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Which sensor does each node lean on?</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splits = tree.get_split_weights()</a:t>
            </a:r>
          </a:p>
          <a:p>
            <a:pPr algn="l">
              <a:lnSpc>
                <a:spcPct val="120000"/>
              </a:lnSpc>
            </a:pPr>
            <a:r>
              <a:rPr sz="1100">
                <a:solidFill>
                  <a:srgbClr val="EEEEEE"/>
                </a:solidFill>
                <a:latin typeface="Menlo"/>
              </a:rPr>
              <a:t>print(f'Internal nodes: {len(splits)}')</a:t>
            </a:r>
          </a:p>
          <a:p>
            <a:pPr algn="l">
              <a:lnSpc>
                <a:spcPct val="120000"/>
              </a:lnSpc>
            </a:pPr>
            <a:r>
              <a:rPr sz="1100">
                <a:solidFill>
                  <a:srgbClr val="EEEEEE"/>
                </a:solidFill>
                <a:latin typeface="Menlo"/>
              </a:rPr>
              <a:t>for i, w in enumerate(splits):</a:t>
            </a:r>
          </a:p>
          <a:p>
            <a:pPr algn="l">
              <a:lnSpc>
                <a:spcPct val="120000"/>
              </a:lnSpc>
            </a:pPr>
            <a:r>
              <a:rPr sz="1100">
                <a:solidFill>
                  <a:srgbClr val="EEEEEE"/>
                </a:solidFill>
                <a:latin typeface="Menlo"/>
              </a:rPr>
              <a:t>    dom = informative[np.argmax(np.abs(w))]</a:t>
            </a:r>
          </a:p>
          <a:p>
            <a:pPr algn="l">
              <a:lnSpc>
                <a:spcPct val="120000"/>
              </a:lnSpc>
            </a:pPr>
            <a:r>
              <a:rPr sz="1100">
                <a:solidFill>
                  <a:srgbClr val="EEEEEE"/>
                </a:solidFill>
                <a:latin typeface="Menlo"/>
              </a:rPr>
              <a:t>    print(f'  Node {i:2d} -&gt; {dom:4s}')</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Internal nodes: 15</a:t>
            </a:r>
          </a:p>
          <a:p>
            <a:r>
              <a:rPr sz="1200">
                <a:solidFill>
                  <a:srgbClr val="D8E8D8"/>
                </a:solidFill>
                <a:latin typeface="Menlo"/>
              </a:rPr>
              <a:t>  Node  0 -&gt; s7</a:t>
            </a:r>
          </a:p>
          <a:p>
            <a:r>
              <a:rPr sz="1200">
                <a:solidFill>
                  <a:srgbClr val="D8E8D8"/>
                </a:solidFill>
                <a:latin typeface="Menlo"/>
              </a:rPr>
              <a:t>  Node  1 -&gt; s14</a:t>
            </a:r>
          </a:p>
          <a:p>
            <a:r>
              <a:rPr sz="1200">
                <a:solidFill>
                  <a:srgbClr val="D8E8D8"/>
                </a:solidFill>
                <a:latin typeface="Menlo"/>
              </a:rPr>
              <a:t>  Node  2 -&gt; s6</a:t>
            </a:r>
          </a:p>
          <a:p>
            <a:r>
              <a:rPr sz="1200">
                <a:solidFill>
                  <a:srgbClr val="D8E8D8"/>
                </a:solidFill>
                <a:latin typeface="Menlo"/>
              </a:rPr>
              <a:t>  Node  3 -&gt; s14</a:t>
            </a:r>
          </a:p>
          <a:p>
            <a:r>
              <a:rPr sz="1200">
                <a:solidFill>
                  <a:srgbClr val="D8E8D8"/>
                </a:solidFill>
                <a:latin typeface="Menlo"/>
              </a:rPr>
              <a:t>  Node  4 -&gt; s6</a:t>
            </a:r>
          </a:p>
          <a:p>
            <a:r>
              <a:rPr sz="1200">
                <a:solidFill>
                  <a:srgbClr val="D8E8D8"/>
                </a:solidFill>
                <a:latin typeface="Menlo"/>
              </a:rPr>
              <a:t>  Node  5 -&gt; s6</a:t>
            </a:r>
          </a:p>
          <a:p>
            <a:r>
              <a:rPr sz="1200">
                <a:solidFill>
                  <a:srgbClr val="D8E8D8"/>
                </a:solidFill>
                <a:latin typeface="Menlo"/>
              </a:rPr>
              <a:t>  Node  6 -&gt; s12</a:t>
            </a:r>
          </a:p>
          <a:p>
            <a:r>
              <a:rPr sz="1200">
                <a:solidFill>
                  <a:srgbClr val="D8E8D8"/>
                </a:solidFill>
                <a:latin typeface="Menlo"/>
              </a:rPr>
              <a:t>  ...</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s14 and s6 dominate multiple nodes. These are the model pillars.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11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Read one prediction (the heart of the workshop)</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idx = 17</a:t>
            </a:r>
          </a:p>
          <a:p>
            <a:pPr algn="l">
              <a:lnSpc>
                <a:spcPct val="120000"/>
              </a:lnSpc>
            </a:pPr>
            <a:r>
              <a:rPr sz="1100">
                <a:solidFill>
                  <a:srgbClr val="EEEEEE"/>
                </a:solidFill>
                <a:latin typeface="Menlo"/>
              </a:rPr>
              <a:t>x = X_test[idx]</a:t>
            </a:r>
          </a:p>
          <a:p>
            <a:pPr algn="l">
              <a:lnSpc>
                <a:spcPct val="120000"/>
              </a:lnSpc>
            </a:pPr>
            <a:r>
              <a:rPr sz="1100">
                <a:solidFill>
                  <a:srgbClr val="EEEEEE"/>
                </a:solidFill>
                <a:latin typeface="Menlo"/>
              </a:rPr>
              <a:t>true = labels[y_test[idx]]</a:t>
            </a:r>
          </a:p>
          <a:p>
            <a:pPr algn="l">
              <a:lnSpc>
                <a:spcPct val="120000"/>
              </a:lnSpc>
            </a:pPr>
            <a:r>
              <a:rPr sz="1100">
                <a:solidFill>
                  <a:srgbClr val="EEEEEE"/>
                </a:solidFill>
                <a:latin typeface="Menlo"/>
              </a:rPr>
              <a:t>pred = labels[tree.predict([x])[0]]</a:t>
            </a:r>
          </a:p>
          <a:p>
            <a:pPr algn="l">
              <a:lnSpc>
                <a:spcPct val="120000"/>
              </a:lnSpc>
            </a:pPr>
            <a:r>
              <a:rPr sz="1100">
                <a:solidFill>
                  <a:srgbClr val="EEEEEE"/>
                </a:solidFill>
                <a:latin typeface="Menlo"/>
              </a:rPr>
              <a:t>proba = tree.predict_proba([x])[0]</a:t>
            </a:r>
          </a:p>
          <a:p>
            <a:pPr algn="l">
              <a:lnSpc>
                <a:spcPct val="120000"/>
              </a:lnSpc>
            </a:pPr>
            <a:r>
              <a:rPr sz="1100">
                <a:solidFill>
                  <a:srgbClr val="EEEEEE"/>
                </a:solidFill>
                <a:latin typeface="Menlo"/>
              </a:rPr>
              <a:t>root = informative[np.argmax(np.abs(splits[0]))]</a:t>
            </a:r>
          </a:p>
          <a:p>
            <a:pPr algn="l">
              <a:lnSpc>
                <a:spcPct val="120000"/>
              </a:lnSpc>
            </a:pPr>
            <a:r>
              <a:rPr sz="1100">
                <a:solidFill>
                  <a:srgbClr val="EEEEEE"/>
                </a:solidFill>
                <a:latin typeface="Menlo"/>
              </a:rPr>
              <a:t> </a:t>
            </a:r>
          </a:p>
          <a:p>
            <a:pPr algn="l">
              <a:lnSpc>
                <a:spcPct val="120000"/>
              </a:lnSpc>
            </a:pPr>
            <a:r>
              <a:rPr sz="1100">
                <a:solidFill>
                  <a:srgbClr val="EEEEEE"/>
                </a:solidFill>
                <a:latin typeface="Menlo"/>
              </a:rPr>
              <a:t>print(f'True class:      {true}')</a:t>
            </a:r>
          </a:p>
          <a:p>
            <a:pPr algn="l">
              <a:lnSpc>
                <a:spcPct val="120000"/>
              </a:lnSpc>
            </a:pPr>
            <a:r>
              <a:rPr sz="1100">
                <a:solidFill>
                  <a:srgbClr val="EEEEEE"/>
                </a:solidFill>
                <a:latin typeface="Menlo"/>
              </a:rPr>
              <a:t>print(f'Predicted class: {pred}')</a:t>
            </a:r>
          </a:p>
          <a:p>
            <a:pPr algn="l">
              <a:lnSpc>
                <a:spcPct val="120000"/>
              </a:lnSpc>
            </a:pPr>
            <a:r>
              <a:rPr sz="1100">
                <a:solidFill>
                  <a:srgbClr val="EEEEEE"/>
                </a:solidFill>
                <a:latin typeface="Menlo"/>
              </a:rPr>
              <a:t>print(f'Probabilities:   '</a:t>
            </a:r>
          </a:p>
          <a:p>
            <a:pPr algn="l">
              <a:lnSpc>
                <a:spcPct val="120000"/>
              </a:lnSpc>
            </a:pPr>
            <a:r>
              <a:rPr sz="1100">
                <a:solidFill>
                  <a:srgbClr val="EEEEEE"/>
                </a:solidFill>
                <a:latin typeface="Menlo"/>
              </a:rPr>
              <a:t>      f'Critical={proba[0]:.3f} '</a:t>
            </a:r>
          </a:p>
          <a:p>
            <a:pPr algn="l">
              <a:lnSpc>
                <a:spcPct val="120000"/>
              </a:lnSpc>
            </a:pPr>
            <a:r>
              <a:rPr sz="1100">
                <a:solidFill>
                  <a:srgbClr val="EEEEEE"/>
                </a:solidFill>
                <a:latin typeface="Menlo"/>
              </a:rPr>
              <a:t>      f'Caution={proba[1]:.3f} '</a:t>
            </a:r>
          </a:p>
          <a:p>
            <a:pPr algn="l">
              <a:lnSpc>
                <a:spcPct val="120000"/>
              </a:lnSpc>
            </a:pPr>
            <a:r>
              <a:rPr sz="1100">
                <a:solidFill>
                  <a:srgbClr val="EEEEEE"/>
                </a:solidFill>
                <a:latin typeface="Menlo"/>
              </a:rPr>
              <a:t>      f'Healthy={proba[2]:.3f}')</a:t>
            </a:r>
          </a:p>
          <a:p>
            <a:pPr algn="l">
              <a:lnSpc>
                <a:spcPct val="120000"/>
              </a:lnSpc>
            </a:pPr>
            <a:r>
              <a:rPr sz="1100">
                <a:solidFill>
                  <a:srgbClr val="EEEEEE"/>
                </a:solidFill>
                <a:latin typeface="Menlo"/>
              </a:rPr>
              <a:t>print(f'Root sensor:     {root}')</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True class:      Caution</a:t>
            </a:r>
          </a:p>
          <a:p>
            <a:r>
              <a:rPr sz="1200">
                <a:solidFill>
                  <a:srgbClr val="D8E8D8"/>
                </a:solidFill>
                <a:latin typeface="Menlo"/>
              </a:rPr>
              <a:t>Predicted class: Healthy</a:t>
            </a:r>
          </a:p>
          <a:p>
            <a:r>
              <a:rPr sz="1200">
                <a:solidFill>
                  <a:srgbClr val="D8E8D8"/>
                </a:solidFill>
                <a:latin typeface="Menlo"/>
              </a:rPr>
              <a:t>Probabilities:   Critical=0.000</a:t>
            </a:r>
          </a:p>
          <a:p>
            <a:r>
              <a:rPr sz="1200">
                <a:solidFill>
                  <a:srgbClr val="D8E8D8"/>
                </a:solidFill>
                <a:latin typeface="Menlo"/>
              </a:rPr>
              <a:t>                 Caution=0.148</a:t>
            </a:r>
          </a:p>
          <a:p>
            <a:r>
              <a:rPr sz="1200">
                <a:solidFill>
                  <a:srgbClr val="D8E8D8"/>
                </a:solidFill>
                <a:latin typeface="Menlo"/>
              </a:rPr>
              <a:t>                 Healthy=0.852</a:t>
            </a:r>
          </a:p>
          <a:p>
            <a:r>
              <a:rPr sz="1200">
                <a:solidFill>
                  <a:srgbClr val="D8E8D8"/>
                </a:solidFill>
                <a:latin typeface="Menlo"/>
              </a:rPr>
              <a:t>Root sensor:     s7</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You can defend this prediction to a regulator. An LSTM cannot.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01A10"/>
        </a:solidFill>
        <a:effectLst/>
      </p:bgPr>
    </p:bg>
    <p:spTree>
      <p:nvGrpSpPr>
        <p:cNvPr id="1" name=""/>
        <p:cNvGrpSpPr/>
        <p:nvPr/>
      </p:nvGrpSpPr>
      <p:grpSpPr/>
      <p:sp>
        <p:nvSpPr>
          <p:cNvPr id="2" name="TextBox 1"/>
          <p:cNvSpPr txBox="1"/>
          <p:nvPr/>
        </p:nvSpPr>
        <p:spPr>
          <a:xfrm>
            <a:off x="548640" y="548640"/>
            <a:ext cx="10972800" cy="914400"/>
          </a:xfrm>
          <a:prstGeom prst="rect">
            <a:avLst/>
          </a:prstGeom>
          <a:noFill/>
        </p:spPr>
        <p:txBody>
          <a:bodyPr wrap="square" lIns="0" rIns="0" tIns="0" bIns="0" anchor="t">
            <a:spAutoFit/>
          </a:bodyPr>
          <a:lstStyle/>
          <a:p>
            <a:pPr algn="l"/>
            <a:r>
              <a:rPr sz="4400" b="1" i="0">
                <a:solidFill>
                  <a:srgbClr val="81C784"/>
                </a:solidFill>
                <a:latin typeface="Helvetica Neue"/>
              </a:rPr>
              <a:t>Checkpoint</a:t>
            </a:r>
          </a:p>
        </p:txBody>
      </p:sp>
      <p:sp>
        <p:nvSpPr>
          <p:cNvPr id="3" name="TextBox 2"/>
          <p:cNvSpPr txBox="1"/>
          <p:nvPr/>
        </p:nvSpPr>
        <p:spPr>
          <a:xfrm>
            <a:off x="731520" y="1828800"/>
            <a:ext cx="10972800" cy="548640"/>
          </a:xfrm>
          <a:prstGeom prst="rect">
            <a:avLst/>
          </a:prstGeom>
          <a:noFill/>
        </p:spPr>
        <p:txBody>
          <a:bodyPr wrap="square" lIns="0" rIns="0" tIns="0" bIns="0" anchor="t">
            <a:spAutoFit/>
          </a:bodyPr>
          <a:lstStyle/>
          <a:p>
            <a:pPr algn="l"/>
            <a:r>
              <a:rPr sz="2000" b="0" i="0">
                <a:solidFill>
                  <a:srgbClr val="EEEEEE"/>
                </a:solidFill>
                <a:latin typeface="Helvetica Neue"/>
              </a:rPr>
              <a:t>By 10:25 you should have:</a:t>
            </a:r>
          </a:p>
        </p:txBody>
      </p:sp>
      <p:sp>
        <p:nvSpPr>
          <p:cNvPr id="4" name="TextBox 3"/>
          <p:cNvSpPr txBox="1"/>
          <p:nvPr/>
        </p:nvSpPr>
        <p:spPr>
          <a:xfrm>
            <a:off x="1280160" y="2743200"/>
            <a:ext cx="10972800" cy="2286000"/>
          </a:xfrm>
          <a:prstGeom prst="rect">
            <a:avLst/>
          </a:prstGeom>
          <a:noFill/>
        </p:spPr>
        <p:txBody>
          <a:bodyPr wrap="square" lIns="0" rIns="0" tIns="0" bIns="0" anchor="t">
            <a:spAutoFit/>
          </a:bodyPr>
          <a:lstStyle/>
          <a:p>
            <a:pPr algn="l">
              <a:lnSpc>
                <a:spcPct val="120000"/>
              </a:lnSpc>
              <a:spcAft>
                <a:spcPts val="800"/>
              </a:spcAft>
            </a:pPr>
            <a:r>
              <a:rPr sz="1800" b="0" i="0">
                <a:solidFill>
                  <a:srgbClr val="81C784"/>
                </a:solidFill>
                <a:latin typeface="Helvetica Neue"/>
              </a:rPr>
              <a:t>✓ A trained SoftDecisionTree on FD001</a:t>
            </a:r>
          </a:p>
          <a:p>
            <a:pPr algn="l">
              <a:lnSpc>
                <a:spcPct val="120000"/>
              </a:lnSpc>
              <a:spcAft>
                <a:spcPts val="800"/>
              </a:spcAft>
            </a:pPr>
            <a:r>
              <a:rPr sz="1800" b="0" i="0">
                <a:solidFill>
                  <a:srgbClr val="81C784"/>
                </a:solidFill>
                <a:latin typeface="Helvetica Neue"/>
              </a:rPr>
              <a:t>✓ Test accuracy &gt; 80%</a:t>
            </a:r>
          </a:p>
          <a:p>
            <a:pPr algn="l">
              <a:lnSpc>
                <a:spcPct val="120000"/>
              </a:lnSpc>
              <a:spcAft>
                <a:spcPts val="800"/>
              </a:spcAft>
            </a:pPr>
            <a:r>
              <a:rPr sz="1800" b="0" i="0">
                <a:solidFill>
                  <a:srgbClr val="81C784"/>
                </a:solidFill>
                <a:latin typeface="Helvetica Neue"/>
              </a:rPr>
              <a:t>✓ A printed decision path for at least one engine</a:t>
            </a:r>
          </a:p>
        </p:txBody>
      </p:sp>
      <p:sp>
        <p:nvSpPr>
          <p:cNvPr id="5" name="TextBox 4"/>
          <p:cNvSpPr txBox="1"/>
          <p:nvPr/>
        </p:nvSpPr>
        <p:spPr>
          <a:xfrm>
            <a:off x="548640" y="5120640"/>
            <a:ext cx="10972800" cy="548640"/>
          </a:xfrm>
          <a:prstGeom prst="rect">
            <a:avLst/>
          </a:prstGeom>
          <a:noFill/>
        </p:spPr>
        <p:txBody>
          <a:bodyPr wrap="square" lIns="0" rIns="0" tIns="0" bIns="0" anchor="t">
            <a:spAutoFit/>
          </a:bodyPr>
          <a:lstStyle/>
          <a:p>
            <a:pPr algn="ctr"/>
            <a:r>
              <a:rPr sz="2400" b="1" i="0">
                <a:solidFill>
                  <a:srgbClr val="4FC3F7"/>
                </a:solidFill>
                <a:latin typeface="Helvetica Neue"/>
              </a:rPr>
              <a:t>☕ 10-minute break.</a:t>
            </a:r>
          </a:p>
        </p:txBody>
      </p:sp>
      <p:sp>
        <p:nvSpPr>
          <p:cNvPr id="6" name="TextBox 5"/>
          <p:cNvSpPr txBox="1"/>
          <p:nvPr/>
        </p:nvSpPr>
        <p:spPr>
          <a:xfrm>
            <a:off x="548640" y="5760720"/>
            <a:ext cx="10972800" cy="457200"/>
          </a:xfrm>
          <a:prstGeom prst="rect">
            <a:avLst/>
          </a:prstGeom>
          <a:noFill/>
        </p:spPr>
        <p:txBody>
          <a:bodyPr wrap="square" lIns="0" rIns="0" tIns="0" bIns="0" anchor="t">
            <a:spAutoFit/>
          </a:bodyPr>
          <a:lstStyle/>
          <a:p>
            <a:pPr algn="ctr"/>
            <a:r>
              <a:rPr sz="1400" b="0" i="1">
                <a:solidFill>
                  <a:srgbClr val="BBBBBB"/>
                </a:solidFill>
                <a:latin typeface="Helvetica Neue"/>
              </a:rPr>
              <a:t>Activity 2 (team competition) starts at 10:35.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0A1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ACTIVITY 2 · 25 MIN · TEAM CHALLENGE</a:t>
            </a:r>
          </a:p>
        </p:txBody>
      </p:sp>
      <p:sp>
        <p:nvSpPr>
          <p:cNvPr id="3" name="TextBox 2"/>
          <p:cNvSpPr txBox="1"/>
          <p:nvPr/>
        </p:nvSpPr>
        <p:spPr>
          <a:xfrm>
            <a:off x="548640" y="1828800"/>
            <a:ext cx="10972800" cy="1371600"/>
          </a:xfrm>
          <a:prstGeom prst="rect">
            <a:avLst/>
          </a:prstGeom>
          <a:noFill/>
        </p:spPr>
        <p:txBody>
          <a:bodyPr wrap="square" lIns="0" rIns="0" tIns="0" bIns="0" anchor="t">
            <a:spAutoFit/>
          </a:bodyPr>
          <a:lstStyle/>
          <a:p>
            <a:pPr algn="ctr"/>
            <a:r>
              <a:rPr sz="5400" b="1" i="0">
                <a:solidFill>
                  <a:srgbClr val="EEEEEE"/>
                </a:solidFill>
                <a:latin typeface="Helvetica Neue"/>
              </a:rPr>
              <a:t>Sensor Fault Detection</a:t>
            </a:r>
          </a:p>
        </p:txBody>
      </p:sp>
      <p:sp>
        <p:nvSpPr>
          <p:cNvPr id="4" name="TextBox 3"/>
          <p:cNvSpPr txBox="1"/>
          <p:nvPr/>
        </p:nvSpPr>
        <p:spPr>
          <a:xfrm>
            <a:off x="548640" y="4023360"/>
            <a:ext cx="10972800" cy="548640"/>
          </a:xfrm>
          <a:prstGeom prst="rect">
            <a:avLst/>
          </a:prstGeom>
          <a:noFill/>
        </p:spPr>
        <p:txBody>
          <a:bodyPr wrap="square" lIns="0" rIns="0" tIns="0" bIns="0" anchor="t">
            <a:spAutoFit/>
          </a:bodyPr>
          <a:lstStyle/>
          <a:p>
            <a:pPr algn="ctr"/>
            <a:r>
              <a:rPr sz="2000" b="0" i="0">
                <a:solidFill>
                  <a:srgbClr val="EEEEEE"/>
                </a:solidFill>
                <a:latin typeface="Helvetica Neue"/>
              </a:rPr>
              <a:t>One of engine 17's sensors is reporting bad data.</a:t>
            </a:r>
          </a:p>
        </p:txBody>
      </p:sp>
      <p:sp>
        <p:nvSpPr>
          <p:cNvPr id="5" name="TextBox 4"/>
          <p:cNvSpPr txBox="1"/>
          <p:nvPr/>
        </p:nvSpPr>
        <p:spPr>
          <a:xfrm>
            <a:off x="548640" y="4754880"/>
            <a:ext cx="10972800" cy="640080"/>
          </a:xfrm>
          <a:prstGeom prst="rect">
            <a:avLst/>
          </a:prstGeom>
          <a:noFill/>
        </p:spPr>
        <p:txBody>
          <a:bodyPr wrap="square" lIns="0" rIns="0" tIns="0" bIns="0" anchor="t">
            <a:spAutoFit/>
          </a:bodyPr>
          <a:lstStyle/>
          <a:p>
            <a:pPr algn="ctr"/>
            <a:r>
              <a:rPr sz="2400" b="1" i="0">
                <a:solidFill>
                  <a:srgbClr val="4FC3F7"/>
                </a:solidFill>
                <a:latin typeface="Helvetica Neue"/>
              </a:rPr>
              <a:t>Which sensor, and can your model tell you why?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822960"/>
          </a:xfrm>
          <a:prstGeom prst="rect">
            <a:avLst/>
          </a:prstGeom>
          <a:noFill/>
        </p:spPr>
        <p:txBody>
          <a:bodyPr wrap="square" lIns="0" rIns="0" tIns="0" bIns="0" anchor="t">
            <a:spAutoFit/>
          </a:bodyPr>
          <a:lstStyle/>
          <a:p>
            <a:pPr algn="l"/>
            <a:r>
              <a:rPr sz="3800" b="1" i="0">
                <a:solidFill>
                  <a:srgbClr val="4FC3F7"/>
                </a:solidFill>
                <a:latin typeface="Helvetica Neue"/>
              </a:rPr>
              <a:t>The scenario</a:t>
            </a:r>
          </a:p>
        </p:txBody>
      </p:sp>
      <p:sp>
        <p:nvSpPr>
          <p:cNvPr id="3" name="TextBox 2"/>
          <p:cNvSpPr txBox="1"/>
          <p:nvPr/>
        </p:nvSpPr>
        <p:spPr>
          <a:xfrm>
            <a:off x="548640" y="1737360"/>
            <a:ext cx="10972800" cy="1097280"/>
          </a:xfrm>
          <a:prstGeom prst="rect">
            <a:avLst/>
          </a:prstGeom>
          <a:noFill/>
        </p:spPr>
        <p:txBody>
          <a:bodyPr wrap="square" lIns="0" rIns="0" tIns="0" bIns="0" anchor="t">
            <a:spAutoFit/>
          </a:bodyPr>
          <a:lstStyle/>
          <a:p>
            <a:pPr algn="l"/>
            <a:r>
              <a:rPr sz="1800" b="0" i="0">
                <a:solidFill>
                  <a:srgbClr val="EEEEEE"/>
                </a:solidFill>
                <a:latin typeface="Helvetica Neue"/>
              </a:rPr>
              <a:t>You are the data science team at an airline. Maintenance ops sends you three suspicious test files for the same engine:</a:t>
            </a:r>
          </a:p>
        </p:txBody>
      </p:sp>
      <p:sp>
        <p:nvSpPr>
          <p:cNvPr id="4" name="Rectangle 3"/>
          <p:cNvSpPr/>
          <p:nvPr/>
        </p:nvSpPr>
        <p:spPr>
          <a:xfrm>
            <a:off x="731520" y="2926080"/>
            <a:ext cx="10698480" cy="1463040"/>
          </a:xfrm>
          <a:prstGeom prst="rect">
            <a:avLst/>
          </a:prstGeom>
          <a:solidFill>
            <a:srgbClr val="2A1F0A"/>
          </a:solidFill>
          <a:ln w="25400">
            <a:solidFill>
              <a:srgbClr val="FFB74D"/>
            </a:solidFill>
          </a:ln>
        </p:spPr>
        <p:style>
          <a:lnRef idx="1">
            <a:schemeClr val="accent1"/>
          </a:lnRef>
          <a:fillRef idx="3">
            <a:schemeClr val="accent1"/>
          </a:fillRef>
          <a:effectRef idx="2">
            <a:schemeClr val="accent1"/>
          </a:effectRef>
          <a:fontRef idx="minor">
            <a:schemeClr val="lt1"/>
          </a:fontRef>
        </p:style>
        <p:txBody>
          <a:bodyPr rtlCol="0" anchor="ctr" lIns="203200" tIns="152400" wrap="square"/>
          <a:lstStyle/>
          <a:p>
            <a:pPr algn="ctr"/>
            <a:r>
              <a:rPr sz="1600" i="1">
                <a:solidFill>
                  <a:srgbClr val="EEEEEE"/>
                </a:solidFill>
                <a:latin typeface="Helvetica Neue"/>
              </a:rPr>
              <a:t>Something is wrong with engine 17. The pattern looks like a sensor drift, a frozen sensor, or noise spikes, but we cannot tell which channel is at fault. Localize the faulty sensor before the next flight.</a:t>
            </a:r>
          </a:p>
        </p:txBody>
      </p:sp>
      <p:sp>
        <p:nvSpPr>
          <p:cNvPr id="5" name="TextBox 4"/>
          <p:cNvSpPr txBox="1"/>
          <p:nvPr/>
        </p:nvSpPr>
        <p:spPr>
          <a:xfrm>
            <a:off x="548640" y="4754880"/>
            <a:ext cx="10972800" cy="457200"/>
          </a:xfrm>
          <a:prstGeom prst="rect">
            <a:avLst/>
          </a:prstGeom>
          <a:noFill/>
        </p:spPr>
        <p:txBody>
          <a:bodyPr wrap="square" lIns="0" rIns="0" tIns="0" bIns="0" anchor="t">
            <a:spAutoFit/>
          </a:bodyPr>
          <a:lstStyle/>
          <a:p>
            <a:pPr algn="l"/>
            <a:r>
              <a:rPr sz="1600" b="1" i="0">
                <a:solidFill>
                  <a:srgbClr val="EEEEEE"/>
                </a:solidFill>
                <a:latin typeface="Helvetica Neue"/>
              </a:rPr>
              <a:t>Two models available to you:</a:t>
            </a:r>
          </a:p>
        </p:txBody>
      </p:sp>
      <p:sp>
        <p:nvSpPr>
          <p:cNvPr id="6" name="TextBox 5"/>
          <p:cNvSpPr txBox="1"/>
          <p:nvPr/>
        </p:nvSpPr>
        <p:spPr>
          <a:xfrm>
            <a:off x="822960" y="5303520"/>
            <a:ext cx="10972800" cy="1097280"/>
          </a:xfrm>
          <a:prstGeom prst="rect">
            <a:avLst/>
          </a:prstGeom>
          <a:noFill/>
        </p:spPr>
        <p:txBody>
          <a:bodyPr wrap="square" lIns="0" rIns="0" tIns="0" bIns="0" anchor="t">
            <a:spAutoFit/>
          </a:bodyPr>
          <a:lstStyle/>
          <a:p>
            <a:pPr algn="l">
              <a:lnSpc>
                <a:spcPct val="120000"/>
              </a:lnSpc>
            </a:pPr>
            <a:r>
              <a:rPr sz="1500" b="0" i="0">
                <a:solidFill>
                  <a:srgbClr val="81C784"/>
                </a:solidFill>
                <a:latin typeface="Helvetica Neue"/>
              </a:rPr>
              <a:t>• Your SoftDecisionTree from Activity 1, explainable</a:t>
            </a:r>
          </a:p>
          <a:p>
            <a:pPr algn="l">
              <a:lnSpc>
                <a:spcPct val="120000"/>
              </a:lnSpc>
            </a:pPr>
            <a:r>
              <a:rPr sz="1500" b="0" i="0">
                <a:solidFill>
                  <a:srgbClr val="FFB74D"/>
                </a:solidFill>
                <a:latin typeface="Helvetica Neue"/>
              </a:rPr>
              <a:t>• A RandomForest baseline, accurate but opaque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914400"/>
          </a:xfrm>
          <a:prstGeom prst="rect">
            <a:avLst/>
          </a:prstGeom>
          <a:noFill/>
        </p:spPr>
        <p:txBody>
          <a:bodyPr wrap="square" lIns="0" rIns="0" tIns="0" bIns="0" anchor="t">
            <a:spAutoFit/>
          </a:bodyPr>
          <a:lstStyle/>
          <a:p>
            <a:pPr algn="l"/>
            <a:r>
              <a:rPr sz="4400" b="1" i="0">
                <a:solidFill>
                  <a:srgbClr val="4FC3F7"/>
                </a:solidFill>
                <a:latin typeface="Helvetica Neue"/>
              </a:rPr>
              <a:t>Teams</a:t>
            </a:r>
          </a:p>
        </p:txBody>
      </p:sp>
      <p:sp>
        <p:nvSpPr>
          <p:cNvPr id="3" name="TextBox 2"/>
          <p:cNvSpPr txBox="1"/>
          <p:nvPr/>
        </p:nvSpPr>
        <p:spPr>
          <a:xfrm>
            <a:off x="914400" y="2286000"/>
            <a:ext cx="10972800" cy="3200400"/>
          </a:xfrm>
          <a:prstGeom prst="rect">
            <a:avLst/>
          </a:prstGeom>
          <a:noFill/>
        </p:spPr>
        <p:txBody>
          <a:bodyPr wrap="square" lIns="0" rIns="0" tIns="0" bIns="0" anchor="t">
            <a:spAutoFit/>
          </a:bodyPr>
          <a:lstStyle/>
          <a:p>
            <a:pPr algn="l">
              <a:lnSpc>
                <a:spcPct val="120000"/>
              </a:lnSpc>
              <a:spcAft>
                <a:spcPts val="1200"/>
              </a:spcAft>
            </a:pPr>
            <a:r>
              <a:rPr sz="2000" b="0" i="0">
                <a:solidFill>
                  <a:srgbClr val="EEEEEE"/>
                </a:solidFill>
                <a:latin typeface="Helvetica Neue"/>
              </a:rPr>
              <a:t>• Form groups of 3 to 4 students</a:t>
            </a:r>
          </a:p>
          <a:p>
            <a:pPr algn="l">
              <a:lnSpc>
                <a:spcPct val="120000"/>
              </a:lnSpc>
              <a:spcAft>
                <a:spcPts val="1200"/>
              </a:spcAft>
            </a:pPr>
            <a:r>
              <a:rPr sz="2000" b="0" i="0">
                <a:solidFill>
                  <a:srgbClr val="EEEEEE"/>
                </a:solidFill>
                <a:latin typeface="Helvetica Neue"/>
              </a:rPr>
              <a:t>• Use the same notebook within your team</a:t>
            </a:r>
          </a:p>
          <a:p>
            <a:pPr algn="l">
              <a:lnSpc>
                <a:spcPct val="120000"/>
              </a:lnSpc>
              <a:spcAft>
                <a:spcPts val="1200"/>
              </a:spcAft>
            </a:pPr>
            <a:r>
              <a:rPr sz="2000" b="0" i="0">
                <a:solidFill>
                  <a:srgbClr val="EEEEEE"/>
                </a:solidFill>
                <a:latin typeface="Helvetica Neue"/>
              </a:rPr>
              <a:t>• You have 17 minutes for analysis</a:t>
            </a:r>
          </a:p>
          <a:p>
            <a:pPr algn="l">
              <a:lnSpc>
                <a:spcPct val="120000"/>
              </a:lnSpc>
              <a:spcAft>
                <a:spcPts val="1200"/>
              </a:spcAft>
            </a:pPr>
            <a:r>
              <a:rPr sz="2000" b="0" i="0">
                <a:solidFill>
                  <a:srgbClr val="EEEEEE"/>
                </a:solidFill>
                <a:latin typeface="Helvetica Neue"/>
              </a:rPr>
              <a:t>• Then we collect answers</a:t>
            </a:r>
          </a:p>
        </p:txBody>
      </p:sp>
      <p:sp>
        <p:nvSpPr>
          <p:cNvPr id="4" name="TextBox 3"/>
          <p:cNvSpPr txBox="1"/>
          <p:nvPr/>
        </p:nvSpPr>
        <p:spPr>
          <a:xfrm>
            <a:off x="548640" y="5486400"/>
            <a:ext cx="10972800" cy="731520"/>
          </a:xfrm>
          <a:prstGeom prst="rect">
            <a:avLst/>
          </a:prstGeom>
          <a:noFill/>
        </p:spPr>
        <p:txBody>
          <a:bodyPr wrap="square" lIns="0" rIns="0" tIns="0" bIns="0" anchor="t">
            <a:spAutoFit/>
          </a:bodyPr>
          <a:lstStyle/>
          <a:p>
            <a:pPr algn="ctr"/>
            <a:r>
              <a:rPr sz="2400" b="1" i="0">
                <a:solidFill>
                  <a:srgbClr val="4FC3F7"/>
                </a:solidFill>
                <a:latin typeface="Helvetica Neue"/>
              </a:rPr>
              <a:t>First team to correctly identify all three attacks wins.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914400"/>
          </a:xfrm>
          <a:prstGeom prst="rect">
            <a:avLst/>
          </a:prstGeom>
          <a:noFill/>
        </p:spPr>
        <p:txBody>
          <a:bodyPr wrap="square" lIns="0" rIns="0" tIns="0" bIns="0" anchor="t">
            <a:spAutoFit/>
          </a:bodyPr>
          <a:lstStyle/>
          <a:p>
            <a:pPr algn="l"/>
            <a:r>
              <a:rPr sz="4000" b="1" i="0">
                <a:solidFill>
                  <a:srgbClr val="4FC3F7"/>
                </a:solidFill>
                <a:latin typeface="Helvetica Neue"/>
              </a:rPr>
              <a:t>Three attack files</a:t>
            </a:r>
          </a:p>
        </p:txBody>
      </p:sp>
      <p:graphicFrame>
        <p:nvGraphicFramePr>
          <p:cNvPr id="3" name="Table 2"/>
          <p:cNvGraphicFramePr>
            <a:graphicFrameLocks noGrp="1"/>
          </p:cNvGraphicFramePr>
          <p:nvPr/>
        </p:nvGraphicFramePr>
        <p:xfrm>
          <a:off x="914400" y="2194560"/>
          <a:ext cx="10332720" cy="2377440"/>
        </p:xfrm>
        <a:graphic>
          <a:graphicData uri="http://schemas.openxmlformats.org/drawingml/2006/table">
            <a:tbl>
              <a:tblPr firstRow="1" bandRow="1">
                <a:tableStyleId>{5C22544A-7EE6-4342-B048-85BDC9FD1C3A}</a:tableStyleId>
              </a:tblPr>
              <a:tblGrid>
                <a:gridCol w="2468880"/>
                <a:gridCol w="3931920"/>
                <a:gridCol w="3931920"/>
              </a:tblGrid>
              <a:tr h="594360">
                <a:tc>
                  <a:txBody>
                    <a:bodyPr/>
                    <a:lstStyle/>
                    <a:p>
                      <a:r>
                        <a:rPr sz="1600" b="1">
                          <a:solidFill>
                            <a:srgbClr val="4FC3F7"/>
                          </a:solidFill>
                          <a:latin typeface="Helvetica Neue"/>
                        </a:rPr>
                        <a:t>File</a:t>
                      </a:r>
                    </a:p>
                  </a:txBody>
                  <a:tcPr>
                    <a:solidFill>
                      <a:srgbClr val="1A1A1A"/>
                    </a:solidFill>
                  </a:tcPr>
                </a:tc>
                <a:tc>
                  <a:txBody>
                    <a:bodyPr/>
                    <a:lstStyle/>
                    <a:p>
                      <a:r>
                        <a:rPr sz="1600" b="1">
                          <a:solidFill>
                            <a:srgbClr val="4FC3F7"/>
                          </a:solidFill>
                          <a:latin typeface="Helvetica Neue"/>
                        </a:rPr>
                        <a:t>Attack type</a:t>
                      </a:r>
                    </a:p>
                  </a:txBody>
                  <a:tcPr>
                    <a:solidFill>
                      <a:srgbClr val="1A1A1A"/>
                    </a:solidFill>
                  </a:tcPr>
                </a:tc>
                <a:tc>
                  <a:txBody>
                    <a:bodyPr/>
                    <a:lstStyle/>
                    <a:p>
                      <a:r>
                        <a:rPr sz="1600" b="1">
                          <a:solidFill>
                            <a:srgbClr val="4FC3F7"/>
                          </a:solidFill>
                          <a:latin typeface="Helvetica Neue"/>
                        </a:rPr>
                        <a:t>Your job</a:t>
                      </a:r>
                    </a:p>
                  </a:txBody>
                  <a:tcPr>
                    <a:solidFill>
                      <a:srgbClr val="1A1A1A"/>
                    </a:solidFill>
                  </a:tcPr>
                </a:tc>
              </a:tr>
              <a:tr h="594360">
                <a:tc>
                  <a:txBody>
                    <a:bodyPr/>
                    <a:lstStyle/>
                    <a:p>
                      <a:r>
                        <a:rPr sz="1500">
                          <a:solidFill>
                            <a:srgbClr val="EEEEEE"/>
                          </a:solidFill>
                          <a:latin typeface="Menlo"/>
                        </a:rPr>
                        <a:t>attack_A.csv</a:t>
                      </a:r>
                    </a:p>
                  </a:txBody>
                  <a:tcPr>
                    <a:solidFill>
                      <a:srgbClr val="0A0A0A"/>
                    </a:solidFill>
                  </a:tcPr>
                </a:tc>
                <a:tc>
                  <a:txBody>
                    <a:bodyPr/>
                    <a:lstStyle/>
                    <a:p>
                      <a:r>
                        <a:rPr sz="1500">
                          <a:solidFill>
                            <a:srgbClr val="EEEEEE"/>
                          </a:solidFill>
                          <a:latin typeface="Helvetica Neue"/>
                        </a:rPr>
                        <a:t>Drift (constant offset)</a:t>
                      </a:r>
                    </a:p>
                  </a:txBody>
                  <a:tcPr>
                    <a:solidFill>
                      <a:srgbClr val="0A0A0A"/>
                    </a:solidFill>
                  </a:tcPr>
                </a:tc>
                <a:tc>
                  <a:txBody>
                    <a:bodyPr/>
                    <a:lstStyle/>
                    <a:p>
                      <a:r>
                        <a:rPr sz="1500">
                          <a:solidFill>
                            <a:srgbClr val="EEEEEE"/>
                          </a:solidFill>
                          <a:latin typeface="Helvetica Neue"/>
                        </a:rPr>
                        <a:t>Which sensor?</a:t>
                      </a:r>
                    </a:p>
                  </a:txBody>
                  <a:tcPr>
                    <a:solidFill>
                      <a:srgbClr val="0A0A0A"/>
                    </a:solidFill>
                  </a:tcPr>
                </a:tc>
              </a:tr>
              <a:tr h="594360">
                <a:tc>
                  <a:txBody>
                    <a:bodyPr/>
                    <a:lstStyle/>
                    <a:p>
                      <a:r>
                        <a:rPr sz="1500">
                          <a:solidFill>
                            <a:srgbClr val="EEEEEE"/>
                          </a:solidFill>
                          <a:latin typeface="Menlo"/>
                        </a:rPr>
                        <a:t>attack_B.csv</a:t>
                      </a:r>
                    </a:p>
                  </a:txBody>
                  <a:tcPr>
                    <a:solidFill>
                      <a:srgbClr val="0A0A0A"/>
                    </a:solidFill>
                  </a:tcPr>
                </a:tc>
                <a:tc>
                  <a:txBody>
                    <a:bodyPr/>
                    <a:lstStyle/>
                    <a:p>
                      <a:r>
                        <a:rPr sz="1500">
                          <a:solidFill>
                            <a:srgbClr val="EEEEEE"/>
                          </a:solidFill>
                          <a:latin typeface="Helvetica Neue"/>
                        </a:rPr>
                        <a:t>Stuck-at (frozen value)</a:t>
                      </a:r>
                    </a:p>
                  </a:txBody>
                  <a:tcPr>
                    <a:solidFill>
                      <a:srgbClr val="0A0A0A"/>
                    </a:solidFill>
                  </a:tcPr>
                </a:tc>
                <a:tc>
                  <a:txBody>
                    <a:bodyPr/>
                    <a:lstStyle/>
                    <a:p>
                      <a:r>
                        <a:rPr sz="1500">
                          <a:solidFill>
                            <a:srgbClr val="EEEEEE"/>
                          </a:solidFill>
                          <a:latin typeface="Helvetica Neue"/>
                        </a:rPr>
                        <a:t>Which sensor?</a:t>
                      </a:r>
                    </a:p>
                  </a:txBody>
                  <a:tcPr>
                    <a:solidFill>
                      <a:srgbClr val="0A0A0A"/>
                    </a:solidFill>
                  </a:tcPr>
                </a:tc>
              </a:tr>
              <a:tr h="594360">
                <a:tc>
                  <a:txBody>
                    <a:bodyPr/>
                    <a:lstStyle/>
                    <a:p>
                      <a:r>
                        <a:rPr sz="1500">
                          <a:solidFill>
                            <a:srgbClr val="EEEEEE"/>
                          </a:solidFill>
                          <a:latin typeface="Menlo"/>
                        </a:rPr>
                        <a:t>attack_C.csv</a:t>
                      </a:r>
                    </a:p>
                  </a:txBody>
                  <a:tcPr>
                    <a:solidFill>
                      <a:srgbClr val="0A0A0A"/>
                    </a:solidFill>
                  </a:tcPr>
                </a:tc>
                <a:tc>
                  <a:txBody>
                    <a:bodyPr/>
                    <a:lstStyle/>
                    <a:p>
                      <a:r>
                        <a:rPr sz="1500">
                          <a:solidFill>
                            <a:srgbClr val="EEEEEE"/>
                          </a:solidFill>
                          <a:latin typeface="Helvetica Neue"/>
                        </a:rPr>
                        <a:t>Gaussian noise injection</a:t>
                      </a:r>
                    </a:p>
                  </a:txBody>
                  <a:tcPr>
                    <a:solidFill>
                      <a:srgbClr val="0A0A0A"/>
                    </a:solidFill>
                  </a:tcPr>
                </a:tc>
                <a:tc>
                  <a:txBody>
                    <a:bodyPr/>
                    <a:lstStyle/>
                    <a:p>
                      <a:r>
                        <a:rPr sz="1500">
                          <a:solidFill>
                            <a:srgbClr val="EEEEEE"/>
                          </a:solidFill>
                          <a:latin typeface="Helvetica Neue"/>
                        </a:rPr>
                        <a:t>Which sensor?</a:t>
                      </a:r>
                    </a:p>
                  </a:txBody>
                  <a:tcPr>
                    <a:solidFill>
                      <a:srgbClr val="0A0A0A"/>
                    </a:solidFill>
                  </a:tcPr>
                </a:tc>
              </a:tr>
            </a:tbl>
          </a:graphicData>
        </a:graphic>
      </p:graphicFrame>
      <p:sp>
        <p:nvSpPr>
          <p:cNvPr id="4" name="TextBox 3"/>
          <p:cNvSpPr txBox="1"/>
          <p:nvPr/>
        </p:nvSpPr>
        <p:spPr>
          <a:xfrm>
            <a:off x="548640" y="5120640"/>
            <a:ext cx="10972800" cy="548640"/>
          </a:xfrm>
          <a:prstGeom prst="rect">
            <a:avLst/>
          </a:prstGeom>
          <a:noFill/>
        </p:spPr>
        <p:txBody>
          <a:bodyPr wrap="square" lIns="0" rIns="0" tIns="0" bIns="0" anchor="t">
            <a:spAutoFit/>
          </a:bodyPr>
          <a:lstStyle/>
          <a:p>
            <a:pPr algn="ctr"/>
            <a:r>
              <a:rPr sz="1500" b="0" i="1">
                <a:solidFill>
                  <a:srgbClr val="BBBBBB"/>
                </a:solidFill>
                <a:latin typeface="Helvetica Neue"/>
              </a:rPr>
              <a:t>Each file is a copy of clean engine 17 data, but one sensor channel has been manipulated.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1 / 7</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Add a RandomForest baseline</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from sklearn.ensemble import RandomForestClassifier</a:t>
            </a:r>
          </a:p>
          <a:p>
            <a:pPr algn="l">
              <a:lnSpc>
                <a:spcPct val="120000"/>
              </a:lnSpc>
            </a:pPr>
            <a:r>
              <a:rPr sz="1100">
                <a:solidFill>
                  <a:srgbClr val="EEEEEE"/>
                </a:solidFill>
                <a:latin typeface="Menlo"/>
              </a:rPr>
              <a:t>rf = RandomForestClassifier(</a:t>
            </a:r>
          </a:p>
          <a:p>
            <a:pPr algn="l">
              <a:lnSpc>
                <a:spcPct val="120000"/>
              </a:lnSpc>
            </a:pPr>
            <a:r>
              <a:rPr sz="1100">
                <a:solidFill>
                  <a:srgbClr val="EEEEEE"/>
                </a:solidFill>
                <a:latin typeface="Menlo"/>
              </a:rPr>
              <a:t>    n_estimators=100, random_state=42</a:t>
            </a:r>
          </a:p>
          <a:p>
            <a:pPr algn="l">
              <a:lnSpc>
                <a:spcPct val="120000"/>
              </a:lnSpc>
            </a:pPr>
            <a:r>
              <a:rPr sz="1100">
                <a:solidFill>
                  <a:srgbClr val="EEEEEE"/>
                </a:solidFill>
                <a:latin typeface="Menlo"/>
              </a:rPr>
              <a:t>).fit(X_train, y_train)</a:t>
            </a:r>
          </a:p>
          <a:p>
            <a:pPr algn="l">
              <a:lnSpc>
                <a:spcPct val="120000"/>
              </a:lnSpc>
            </a:pPr>
            <a:r>
              <a:rPr sz="1100">
                <a:solidFill>
                  <a:srgbClr val="EEEEEE"/>
                </a:solidFill>
                <a:latin typeface="Menlo"/>
              </a:rPr>
              <a:t> </a:t>
            </a:r>
          </a:p>
          <a:p>
            <a:pPr algn="l">
              <a:lnSpc>
                <a:spcPct val="120000"/>
              </a:lnSpc>
            </a:pPr>
            <a:r>
              <a:rPr sz="1100">
                <a:solidFill>
                  <a:srgbClr val="EEEEEE"/>
                </a:solidFill>
                <a:latin typeface="Menlo"/>
              </a:rPr>
              <a:t>print(f'SoftTree accuracy: '</a:t>
            </a:r>
          </a:p>
          <a:p>
            <a:pPr algn="l">
              <a:lnSpc>
                <a:spcPct val="120000"/>
              </a:lnSpc>
            </a:pPr>
            <a:r>
              <a:rPr sz="1100">
                <a:solidFill>
                  <a:srgbClr val="EEEEEE"/>
                </a:solidFill>
                <a:latin typeface="Menlo"/>
              </a:rPr>
              <a:t>      f'{(tree.predict(X_test) == y_test).mean():.3f}')</a:t>
            </a:r>
          </a:p>
          <a:p>
            <a:pPr algn="l">
              <a:lnSpc>
                <a:spcPct val="120000"/>
              </a:lnSpc>
            </a:pPr>
            <a:r>
              <a:rPr sz="1100">
                <a:solidFill>
                  <a:srgbClr val="EEEEEE"/>
                </a:solidFill>
                <a:latin typeface="Menlo"/>
              </a:rPr>
              <a:t>print(f'RandomForest      : '</a:t>
            </a:r>
          </a:p>
          <a:p>
            <a:pPr algn="l">
              <a:lnSpc>
                <a:spcPct val="120000"/>
              </a:lnSpc>
            </a:pPr>
            <a:r>
              <a:rPr sz="1100">
                <a:solidFill>
                  <a:srgbClr val="EEEEEE"/>
                </a:solidFill>
                <a:latin typeface="Menlo"/>
              </a:rPr>
              <a:t>      f'{(rf.predict(X_test) == y_test).mean():.3f}')</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SoftTree accuracy: 0.841</a:t>
            </a:r>
          </a:p>
          <a:p>
            <a:r>
              <a:rPr sz="1200">
                <a:solidFill>
                  <a:srgbClr val="D8E8D8"/>
                </a:solidFill>
                <a:latin typeface="Menlo"/>
              </a:rPr>
              <a:t>RandomForest      : 0.843</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Two models, nearly identical accuracy. One is explainable. One is not.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2 / 7</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Predict on clean engine 17</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clean = pd.read_csv('engine17_clean.csv')</a:t>
            </a:r>
          </a:p>
          <a:p>
            <a:pPr algn="l">
              <a:lnSpc>
                <a:spcPct val="120000"/>
              </a:lnSpc>
            </a:pPr>
            <a:r>
              <a:rPr sz="1100">
                <a:solidFill>
                  <a:srgbClr val="EEEEEE"/>
                </a:solidFill>
                <a:latin typeface="Menlo"/>
              </a:rPr>
              <a:t>Xc = scaler.transform(clean[informative].values)</a:t>
            </a:r>
          </a:p>
          <a:p>
            <a:pPr algn="l">
              <a:lnSpc>
                <a:spcPct val="120000"/>
              </a:lnSpc>
            </a:pPr>
            <a:r>
              <a:rPr sz="1100">
                <a:solidFill>
                  <a:srgbClr val="EEEEEE"/>
                </a:solidFill>
                <a:latin typeface="Menlo"/>
              </a:rPr>
              <a:t>clean_tree_pred = tree.predict(Xc)</a:t>
            </a:r>
          </a:p>
          <a:p>
            <a:pPr algn="l">
              <a:lnSpc>
                <a:spcPct val="120000"/>
              </a:lnSpc>
            </a:pPr>
            <a:r>
              <a:rPr sz="1100">
                <a:solidFill>
                  <a:srgbClr val="EEEEEE"/>
                </a:solidFill>
                <a:latin typeface="Menlo"/>
              </a:rPr>
              <a:t>clean_rf_pred = rf.predict(Xc)</a:t>
            </a:r>
          </a:p>
          <a:p>
            <a:pPr algn="l">
              <a:lnSpc>
                <a:spcPct val="120000"/>
              </a:lnSpc>
            </a:pPr>
            <a:r>
              <a:rPr sz="1100">
                <a:solidFill>
                  <a:srgbClr val="EEEEEE"/>
                </a:solidFill>
                <a:latin typeface="Menlo"/>
              </a:rPr>
              <a:t> </a:t>
            </a:r>
          </a:p>
          <a:p>
            <a:pPr algn="l">
              <a:lnSpc>
                <a:spcPct val="120000"/>
              </a:lnSpc>
            </a:pPr>
            <a:r>
              <a:rPr sz="1100">
                <a:solidFill>
                  <a:srgbClr val="EEEEEE"/>
                </a:solidFill>
                <a:latin typeface="Menlo"/>
              </a:rPr>
              <a:t>print(f'Engine 17 clean: {len(Xc)} cycles')</a:t>
            </a:r>
          </a:p>
          <a:p>
            <a:pPr algn="l">
              <a:lnSpc>
                <a:spcPct val="120000"/>
              </a:lnSpc>
            </a:pPr>
            <a:r>
              <a:rPr sz="1100">
                <a:solidFill>
                  <a:srgbClr val="EEEEEE"/>
                </a:solidFill>
                <a:latin typeface="Menlo"/>
              </a:rPr>
              <a:t>print(f'Tree vs RF agreement: '</a:t>
            </a:r>
          </a:p>
          <a:p>
            <a:pPr algn="l">
              <a:lnSpc>
                <a:spcPct val="120000"/>
              </a:lnSpc>
            </a:pPr>
            <a:r>
              <a:rPr sz="1100">
                <a:solidFill>
                  <a:srgbClr val="EEEEEE"/>
                </a:solidFill>
                <a:latin typeface="Menlo"/>
              </a:rPr>
              <a:t>      f'{(clean_tree_pred == clean_rf_pred).mean():.2f}')</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Engine 17 clean: 276 cycles</a:t>
            </a:r>
          </a:p>
          <a:p>
            <a:r>
              <a:rPr sz="1200">
                <a:solidFill>
                  <a:srgbClr val="D8E8D8"/>
                </a:solidFill>
                <a:latin typeface="Menlo"/>
              </a:rPr>
              <a:t>Tree vs RF agreement: 0.95</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95% agreement on clean data. The two models say roughly the same thing.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3 / 7</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How much did each attack move the predictions?</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for fname in ['attack_A.csv', 'attack_B.csv', 'attack_C.csv']:</a:t>
            </a:r>
          </a:p>
          <a:p>
            <a:pPr algn="l">
              <a:lnSpc>
                <a:spcPct val="120000"/>
              </a:lnSpc>
            </a:pPr>
            <a:r>
              <a:rPr sz="1100">
                <a:solidFill>
                  <a:srgbClr val="EEEEEE"/>
                </a:solidFill>
                <a:latin typeface="Menlo"/>
              </a:rPr>
              <a:t>    df = pd.read_csv(fname)</a:t>
            </a:r>
          </a:p>
          <a:p>
            <a:pPr algn="l">
              <a:lnSpc>
                <a:spcPct val="120000"/>
              </a:lnSpc>
            </a:pPr>
            <a:r>
              <a:rPr sz="1100">
                <a:solidFill>
                  <a:srgbClr val="EEEEEE"/>
                </a:solidFill>
                <a:latin typeface="Menlo"/>
              </a:rPr>
              <a:t>    Xa = scaler.transform(df[informative].values)</a:t>
            </a:r>
          </a:p>
          <a:p>
            <a:pPr algn="l">
              <a:lnSpc>
                <a:spcPct val="120000"/>
              </a:lnSpc>
            </a:pPr>
            <a:r>
              <a:rPr sz="1100">
                <a:solidFill>
                  <a:srgbClr val="EEEEEE"/>
                </a:solidFill>
                <a:latin typeface="Menlo"/>
              </a:rPr>
              <a:t>    pt = tree.predict(Xa)</a:t>
            </a:r>
          </a:p>
          <a:p>
            <a:pPr algn="l">
              <a:lnSpc>
                <a:spcPct val="120000"/>
              </a:lnSpc>
            </a:pPr>
            <a:r>
              <a:rPr sz="1100">
                <a:solidFill>
                  <a:srgbClr val="EEEEEE"/>
                </a:solidFill>
                <a:latin typeface="Menlo"/>
              </a:rPr>
              <a:t>    pr = rf.predict(Xa)</a:t>
            </a:r>
          </a:p>
          <a:p>
            <a:pPr algn="l">
              <a:lnSpc>
                <a:spcPct val="120000"/>
              </a:lnSpc>
            </a:pPr>
            <a:r>
              <a:rPr sz="1100">
                <a:solidFill>
                  <a:srgbClr val="EEEEEE"/>
                </a:solidFill>
                <a:latin typeface="Menlo"/>
              </a:rPr>
              <a:t>    print(f'{fname}: '</a:t>
            </a:r>
          </a:p>
          <a:p>
            <a:pPr algn="l">
              <a:lnSpc>
                <a:spcPct val="120000"/>
              </a:lnSpc>
            </a:pPr>
            <a:r>
              <a:rPr sz="1100">
                <a:solidFill>
                  <a:srgbClr val="EEEEEE"/>
                </a:solidFill>
                <a:latin typeface="Menlo"/>
              </a:rPr>
              <a:t>          f'Tree {(pt != clean_tree_pred).sum():3d}/{len(pt)} | '</a:t>
            </a:r>
          </a:p>
          <a:p>
            <a:pPr algn="l">
              <a:lnSpc>
                <a:spcPct val="120000"/>
              </a:lnSpc>
            </a:pPr>
            <a:r>
              <a:rPr sz="1100">
                <a:solidFill>
                  <a:srgbClr val="EEEEEE"/>
                </a:solidFill>
                <a:latin typeface="Menlo"/>
              </a:rPr>
              <a:t>          f'RF {(pr != clean_rf_pred).sum():3d}/{len(pr)}')</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attack_A.csv: Tree  18/276 | RF  14/276</a:t>
            </a:r>
          </a:p>
          <a:p>
            <a:r>
              <a:rPr sz="1200">
                <a:solidFill>
                  <a:srgbClr val="D8E8D8"/>
                </a:solidFill>
                <a:latin typeface="Menlo"/>
              </a:rPr>
              <a:t>attack_B.csv: Tree  33/276 | RF   8/276</a:t>
            </a:r>
          </a:p>
          <a:p>
            <a:r>
              <a:rPr sz="1200">
                <a:solidFill>
                  <a:srgbClr val="D8E8D8"/>
                </a:solidFill>
                <a:latin typeface="Menlo"/>
              </a:rPr>
              <a:t>attack_C.csv: Tree   8/276 | RF   1/276</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Attack C: RF changed at only 1 cycle. It is missing the attack. The Soft Tree caught 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4 / 7</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Attack A. Look for two parallel lines</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clean = pd.read_csv('engine17_clean.csv')</a:t>
            </a:r>
          </a:p>
          <a:p>
            <a:pPr algn="l">
              <a:lnSpc>
                <a:spcPct val="120000"/>
              </a:lnSpc>
            </a:pPr>
            <a:r>
              <a:rPr sz="1100">
                <a:solidFill>
                  <a:srgbClr val="EEEEEE"/>
                </a:solidFill>
                <a:latin typeface="Menlo"/>
              </a:rPr>
              <a:t>attack = pd.read_csv('attack_A.csv')</a:t>
            </a:r>
          </a:p>
          <a:p>
            <a:pPr algn="l">
              <a:lnSpc>
                <a:spcPct val="120000"/>
              </a:lnSpc>
            </a:pPr>
            <a:r>
              <a:rPr sz="1100">
                <a:solidFill>
                  <a:srgbClr val="EEEEEE"/>
                </a:solidFill>
                <a:latin typeface="Menlo"/>
              </a:rPr>
              <a:t>fig, axes = plt.subplots(4, 4, figsize=(16, 10))</a:t>
            </a:r>
          </a:p>
          <a:p>
            <a:pPr algn="l">
              <a:lnSpc>
                <a:spcPct val="120000"/>
              </a:lnSpc>
            </a:pPr>
            <a:r>
              <a:rPr sz="1100">
                <a:solidFill>
                  <a:srgbClr val="EEEEEE"/>
                </a:solidFill>
                <a:latin typeface="Menlo"/>
              </a:rPr>
              <a:t>for ax, s in zip(axes.flat, informative):</a:t>
            </a:r>
          </a:p>
          <a:p>
            <a:pPr algn="l">
              <a:lnSpc>
                <a:spcPct val="120000"/>
              </a:lnSpc>
            </a:pPr>
            <a:r>
              <a:rPr sz="1100">
                <a:solidFill>
                  <a:srgbClr val="EEEEEE"/>
                </a:solidFill>
                <a:latin typeface="Menlo"/>
              </a:rPr>
              <a:t>    ax.plot(clean['cycle'], clean[s],</a:t>
            </a:r>
          </a:p>
          <a:p>
            <a:pPr algn="l">
              <a:lnSpc>
                <a:spcPct val="120000"/>
              </a:lnSpc>
            </a:pPr>
            <a:r>
              <a:rPr sz="1100">
                <a:solidFill>
                  <a:srgbClr val="EEEEEE"/>
                </a:solidFill>
                <a:latin typeface="Menlo"/>
              </a:rPr>
              <a:t>            label='clean', alpha=0.7)</a:t>
            </a:r>
          </a:p>
          <a:p>
            <a:pPr algn="l">
              <a:lnSpc>
                <a:spcPct val="120000"/>
              </a:lnSpc>
            </a:pPr>
            <a:r>
              <a:rPr sz="1100">
                <a:solidFill>
                  <a:srgbClr val="EEEEEE"/>
                </a:solidFill>
                <a:latin typeface="Menlo"/>
              </a:rPr>
              <a:t>    ax.plot(attack['cycle'], attack[s],</a:t>
            </a:r>
          </a:p>
          <a:p>
            <a:pPr algn="l">
              <a:lnSpc>
                <a:spcPct val="120000"/>
              </a:lnSpc>
            </a:pPr>
            <a:r>
              <a:rPr sz="1100">
                <a:solidFill>
                  <a:srgbClr val="EEEEEE"/>
                </a:solidFill>
                <a:latin typeface="Menlo"/>
              </a:rPr>
              <a:t>            label='attack', alpha=0.7)</a:t>
            </a:r>
          </a:p>
          <a:p>
            <a:pPr algn="l">
              <a:lnSpc>
                <a:spcPct val="120000"/>
              </a:lnSpc>
            </a:pPr>
            <a:r>
              <a:rPr sz="1100">
                <a:solidFill>
                  <a:srgbClr val="EEEEEE"/>
                </a:solidFill>
                <a:latin typeface="Menlo"/>
              </a:rPr>
              <a:t>    ax.set_title(s)</a:t>
            </a:r>
          </a:p>
          <a:p>
            <a:pPr algn="l">
              <a:lnSpc>
                <a:spcPct val="120000"/>
              </a:lnSpc>
            </a:pPr>
            <a:r>
              <a:rPr sz="1100">
                <a:solidFill>
                  <a:srgbClr val="EEEEEE"/>
                </a:solidFill>
                <a:latin typeface="Menlo"/>
              </a:rPr>
              <a:t>axes.flat[0].legend()</a:t>
            </a:r>
          </a:p>
          <a:p>
            <a:pPr algn="l">
              <a:lnSpc>
                <a:spcPct val="120000"/>
              </a:lnSpc>
            </a:pPr>
            <a:r>
              <a:rPr sz="1100">
                <a:solidFill>
                  <a:srgbClr val="EEEEEE"/>
                </a:solidFill>
                <a:latin typeface="Menlo"/>
              </a:rPr>
              <a:t>plt.tight_layout(); plt.show()</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pic>
        <p:nvPicPr>
          <p:cNvPr id="7" name="Picture 6" descr="attack_A.png"/>
          <p:cNvPicPr>
            <a:picLocks noChangeAspect="1"/>
          </p:cNvPicPr>
          <p:nvPr/>
        </p:nvPicPr>
        <p:blipFill>
          <a:blip r:embed="rId2"/>
          <a:stretch>
            <a:fillRect/>
          </a:stretch>
        </p:blipFill>
        <p:spPr>
          <a:xfrm>
            <a:off x="7040880" y="2240280"/>
            <a:ext cx="4937760" cy="3210028"/>
          </a:xfrm>
          <a:prstGeom prst="rect">
            <a:avLst/>
          </a:prstGeom>
        </p:spPr>
      </p:pic>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One sensor shows the orange line shifted up by a constant offset. Answer: s11 (drift).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5 / 7</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Attack B. Look for a flat horizontal line</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attack = pd.read_csv('attack_B.csv')</a:t>
            </a:r>
          </a:p>
          <a:p>
            <a:pPr algn="l">
              <a:lnSpc>
                <a:spcPct val="120000"/>
              </a:lnSpc>
            </a:pPr>
            <a:r>
              <a:rPr sz="1100">
                <a:solidFill>
                  <a:srgbClr val="EEEEEE"/>
                </a:solidFill>
                <a:latin typeface="Menlo"/>
              </a:rPr>
              <a:t>fig, axes = plt.subplots(4, 4, figsize=(16, 10))</a:t>
            </a:r>
          </a:p>
          <a:p>
            <a:pPr algn="l">
              <a:lnSpc>
                <a:spcPct val="120000"/>
              </a:lnSpc>
            </a:pPr>
            <a:r>
              <a:rPr sz="1100">
                <a:solidFill>
                  <a:srgbClr val="EEEEEE"/>
                </a:solidFill>
                <a:latin typeface="Menlo"/>
              </a:rPr>
              <a:t>for ax, s in zip(axes.flat, informative):</a:t>
            </a:r>
          </a:p>
          <a:p>
            <a:pPr algn="l">
              <a:lnSpc>
                <a:spcPct val="120000"/>
              </a:lnSpc>
            </a:pPr>
            <a:r>
              <a:rPr sz="1100">
                <a:solidFill>
                  <a:srgbClr val="EEEEEE"/>
                </a:solidFill>
                <a:latin typeface="Menlo"/>
              </a:rPr>
              <a:t>    ax.plot(clean['cycle'], clean[s],</a:t>
            </a:r>
          </a:p>
          <a:p>
            <a:pPr algn="l">
              <a:lnSpc>
                <a:spcPct val="120000"/>
              </a:lnSpc>
            </a:pPr>
            <a:r>
              <a:rPr sz="1100">
                <a:solidFill>
                  <a:srgbClr val="EEEEEE"/>
                </a:solidFill>
                <a:latin typeface="Menlo"/>
              </a:rPr>
              <a:t>            label='clean', alpha=0.7)</a:t>
            </a:r>
          </a:p>
          <a:p>
            <a:pPr algn="l">
              <a:lnSpc>
                <a:spcPct val="120000"/>
              </a:lnSpc>
            </a:pPr>
            <a:r>
              <a:rPr sz="1100">
                <a:solidFill>
                  <a:srgbClr val="EEEEEE"/>
                </a:solidFill>
                <a:latin typeface="Menlo"/>
              </a:rPr>
              <a:t>    ax.plot(attack['cycle'], attack[s],</a:t>
            </a:r>
          </a:p>
          <a:p>
            <a:pPr algn="l">
              <a:lnSpc>
                <a:spcPct val="120000"/>
              </a:lnSpc>
            </a:pPr>
            <a:r>
              <a:rPr sz="1100">
                <a:solidFill>
                  <a:srgbClr val="EEEEEE"/>
                </a:solidFill>
                <a:latin typeface="Menlo"/>
              </a:rPr>
              <a:t>            label='attack', alpha=0.7)</a:t>
            </a:r>
          </a:p>
          <a:p>
            <a:pPr algn="l">
              <a:lnSpc>
                <a:spcPct val="120000"/>
              </a:lnSpc>
            </a:pPr>
            <a:r>
              <a:rPr sz="1100">
                <a:solidFill>
                  <a:srgbClr val="EEEEEE"/>
                </a:solidFill>
                <a:latin typeface="Menlo"/>
              </a:rPr>
              <a:t>    ax.set_title(s)</a:t>
            </a:r>
          </a:p>
          <a:p>
            <a:pPr algn="l">
              <a:lnSpc>
                <a:spcPct val="120000"/>
              </a:lnSpc>
            </a:pPr>
            <a:r>
              <a:rPr sz="1100">
                <a:solidFill>
                  <a:srgbClr val="EEEEEE"/>
                </a:solidFill>
                <a:latin typeface="Menlo"/>
              </a:rPr>
              <a:t>axes.flat[0].legend()</a:t>
            </a:r>
          </a:p>
          <a:p>
            <a:pPr algn="l">
              <a:lnSpc>
                <a:spcPct val="120000"/>
              </a:lnSpc>
            </a:pPr>
            <a:r>
              <a:rPr sz="1100">
                <a:solidFill>
                  <a:srgbClr val="EEEEEE"/>
                </a:solidFill>
                <a:latin typeface="Menlo"/>
              </a:rPr>
              <a:t>plt.tight_layout(); plt.show()</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pic>
        <p:nvPicPr>
          <p:cNvPr id="7" name="Picture 6" descr="attack_B.png"/>
          <p:cNvPicPr>
            <a:picLocks noChangeAspect="1"/>
          </p:cNvPicPr>
          <p:nvPr/>
        </p:nvPicPr>
        <p:blipFill>
          <a:blip r:embed="rId2"/>
          <a:stretch>
            <a:fillRect/>
          </a:stretch>
        </p:blipFill>
        <p:spPr>
          <a:xfrm>
            <a:off x="7040880" y="2240280"/>
            <a:ext cx="4937760" cy="3210028"/>
          </a:xfrm>
          <a:prstGeom prst="rect">
            <a:avLst/>
          </a:prstGeom>
        </p:spPr>
      </p:pic>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One sensor's orange line is flat while blue rises. Stuck-at. Answer: s14 (stuck-at).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6 / 7</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Attack C. Look for a noisier line</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attack = pd.read_csv('attack_C.csv')</a:t>
            </a:r>
          </a:p>
          <a:p>
            <a:pPr algn="l">
              <a:lnSpc>
                <a:spcPct val="120000"/>
              </a:lnSpc>
            </a:pPr>
            <a:r>
              <a:rPr sz="1100">
                <a:solidFill>
                  <a:srgbClr val="EEEEEE"/>
                </a:solidFill>
                <a:latin typeface="Menlo"/>
              </a:rPr>
              <a:t>fig, axes = plt.subplots(4, 4, figsize=(16, 10))</a:t>
            </a:r>
          </a:p>
          <a:p>
            <a:pPr algn="l">
              <a:lnSpc>
                <a:spcPct val="120000"/>
              </a:lnSpc>
            </a:pPr>
            <a:r>
              <a:rPr sz="1100">
                <a:solidFill>
                  <a:srgbClr val="EEEEEE"/>
                </a:solidFill>
                <a:latin typeface="Menlo"/>
              </a:rPr>
              <a:t>for ax, s in zip(axes.flat, informative):</a:t>
            </a:r>
          </a:p>
          <a:p>
            <a:pPr algn="l">
              <a:lnSpc>
                <a:spcPct val="120000"/>
              </a:lnSpc>
            </a:pPr>
            <a:r>
              <a:rPr sz="1100">
                <a:solidFill>
                  <a:srgbClr val="EEEEEE"/>
                </a:solidFill>
                <a:latin typeface="Menlo"/>
              </a:rPr>
              <a:t>    ax.plot(clean['cycle'], clean[s],</a:t>
            </a:r>
          </a:p>
          <a:p>
            <a:pPr algn="l">
              <a:lnSpc>
                <a:spcPct val="120000"/>
              </a:lnSpc>
            </a:pPr>
            <a:r>
              <a:rPr sz="1100">
                <a:solidFill>
                  <a:srgbClr val="EEEEEE"/>
                </a:solidFill>
                <a:latin typeface="Menlo"/>
              </a:rPr>
              <a:t>            label='clean', alpha=0.7)</a:t>
            </a:r>
          </a:p>
          <a:p>
            <a:pPr algn="l">
              <a:lnSpc>
                <a:spcPct val="120000"/>
              </a:lnSpc>
            </a:pPr>
            <a:r>
              <a:rPr sz="1100">
                <a:solidFill>
                  <a:srgbClr val="EEEEEE"/>
                </a:solidFill>
                <a:latin typeface="Menlo"/>
              </a:rPr>
              <a:t>    ax.plot(attack['cycle'], attack[s],</a:t>
            </a:r>
          </a:p>
          <a:p>
            <a:pPr algn="l">
              <a:lnSpc>
                <a:spcPct val="120000"/>
              </a:lnSpc>
            </a:pPr>
            <a:r>
              <a:rPr sz="1100">
                <a:solidFill>
                  <a:srgbClr val="EEEEEE"/>
                </a:solidFill>
                <a:latin typeface="Menlo"/>
              </a:rPr>
              <a:t>            label='attack', alpha=0.7)</a:t>
            </a:r>
          </a:p>
          <a:p>
            <a:pPr algn="l">
              <a:lnSpc>
                <a:spcPct val="120000"/>
              </a:lnSpc>
            </a:pPr>
            <a:r>
              <a:rPr sz="1100">
                <a:solidFill>
                  <a:srgbClr val="EEEEEE"/>
                </a:solidFill>
                <a:latin typeface="Menlo"/>
              </a:rPr>
              <a:t>    ax.set_title(s)</a:t>
            </a:r>
          </a:p>
          <a:p>
            <a:pPr algn="l">
              <a:lnSpc>
                <a:spcPct val="120000"/>
              </a:lnSpc>
            </a:pPr>
            <a:r>
              <a:rPr sz="1100">
                <a:solidFill>
                  <a:srgbClr val="EEEEEE"/>
                </a:solidFill>
                <a:latin typeface="Menlo"/>
              </a:rPr>
              <a:t>axes.flat[0].legend()</a:t>
            </a:r>
          </a:p>
          <a:p>
            <a:pPr algn="l">
              <a:lnSpc>
                <a:spcPct val="120000"/>
              </a:lnSpc>
            </a:pPr>
            <a:r>
              <a:rPr sz="1100">
                <a:solidFill>
                  <a:srgbClr val="EEEEEE"/>
                </a:solidFill>
                <a:latin typeface="Menlo"/>
              </a:rPr>
              <a:t>plt.tight_layout(); plt.show()</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pic>
        <p:nvPicPr>
          <p:cNvPr id="7" name="Picture 6" descr="attack_C.png"/>
          <p:cNvPicPr>
            <a:picLocks noChangeAspect="1"/>
          </p:cNvPicPr>
          <p:nvPr/>
        </p:nvPicPr>
        <p:blipFill>
          <a:blip r:embed="rId2"/>
          <a:stretch>
            <a:fillRect/>
          </a:stretch>
        </p:blipFill>
        <p:spPr>
          <a:xfrm>
            <a:off x="7040880" y="2240280"/>
            <a:ext cx="4937760" cy="3210028"/>
          </a:xfrm>
          <a:prstGeom prst="rect">
            <a:avLst/>
          </a:prstGeom>
        </p:spPr>
      </p:pic>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Same trend, much higher variance. Noise injection. Answer: s9 (noise).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7 / 7</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Quantify the divergence</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for fname in ['attack_A.csv', 'attack_B.csv', 'attack_C.csv']:</a:t>
            </a:r>
          </a:p>
          <a:p>
            <a:pPr algn="l">
              <a:lnSpc>
                <a:spcPct val="120000"/>
              </a:lnSpc>
            </a:pPr>
            <a:r>
              <a:rPr sz="1100">
                <a:solidFill>
                  <a:srgbClr val="EEEEEE"/>
                </a:solidFill>
                <a:latin typeface="Menlo"/>
              </a:rPr>
              <a:t>    a = pd.read_csv(fname)</a:t>
            </a:r>
          </a:p>
          <a:p>
            <a:pPr algn="l">
              <a:lnSpc>
                <a:spcPct val="120000"/>
              </a:lnSpc>
            </a:pPr>
            <a:r>
              <a:rPr sz="1100">
                <a:solidFill>
                  <a:srgbClr val="EEEEEE"/>
                </a:solidFill>
                <a:latin typeface="Menlo"/>
              </a:rPr>
              <a:t>    d = {s: float(np.mean(np.abs(clean[s].values - a[s].values)))</a:t>
            </a:r>
          </a:p>
          <a:p>
            <a:pPr algn="l">
              <a:lnSpc>
                <a:spcPct val="120000"/>
              </a:lnSpc>
            </a:pPr>
            <a:r>
              <a:rPr sz="1100">
                <a:solidFill>
                  <a:srgbClr val="EEEEEE"/>
                </a:solidFill>
                <a:latin typeface="Menlo"/>
              </a:rPr>
              <a:t>         for s in informative}</a:t>
            </a:r>
          </a:p>
          <a:p>
            <a:pPr algn="l">
              <a:lnSpc>
                <a:spcPct val="120000"/>
              </a:lnSpc>
            </a:pPr>
            <a:r>
              <a:rPr sz="1100">
                <a:solidFill>
                  <a:srgbClr val="EEEEEE"/>
                </a:solidFill>
                <a:latin typeface="Menlo"/>
              </a:rPr>
              <a:t>    top = sorted(d.items(), key=lambda kv: -kv[1])[:3]</a:t>
            </a:r>
          </a:p>
          <a:p>
            <a:pPr algn="l">
              <a:lnSpc>
                <a:spcPct val="120000"/>
              </a:lnSpc>
            </a:pPr>
            <a:r>
              <a:rPr sz="1100">
                <a:solidFill>
                  <a:srgbClr val="EEEEEE"/>
                </a:solidFill>
                <a:latin typeface="Menlo"/>
              </a:rPr>
              <a:t>    print(f'{fname} top 3: {top}')</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attack_A.csv top 3: [('s11', 0.367), ('s2', 0.0), ('s3', 0.0)]</a:t>
            </a:r>
          </a:p>
          <a:p>
            <a:r>
              <a:rPr sz="1200">
                <a:solidFill>
                  <a:srgbClr val="D8E8D8"/>
                </a:solidFill>
                <a:latin typeface="Menlo"/>
              </a:rPr>
              <a:t>attack_B.csv top 3: [('s14', 19.89), ('s2', 0.0), ('s3', 0.0)]</a:t>
            </a:r>
          </a:p>
          <a:p>
            <a:r>
              <a:rPr sz="1200">
                <a:solidFill>
                  <a:srgbClr val="D8E8D8"/>
                </a:solidFill>
                <a:latin typeface="Menlo"/>
              </a:rPr>
              <a:t>attack_C.csv top 3: [('s9',  6.42), ('s2', 0.0), ('s3', 0.0)]</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Numbers confirm the visual answer. Only one sensor differs in each file.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00A1A"/>
        </a:solidFill>
        <a:effectLst/>
      </p:bgPr>
    </p:bg>
    <p:spTree>
      <p:nvGrpSpPr>
        <p:cNvPr id="1" name=""/>
        <p:cNvGrpSpPr/>
        <p:nvPr/>
      </p:nvGrpSpPr>
      <p:grpSpPr/>
      <p:sp>
        <p:nvSpPr>
          <p:cNvPr id="2" name="TextBox 1"/>
          <p:cNvSpPr txBox="1"/>
          <p:nvPr/>
        </p:nvSpPr>
        <p:spPr>
          <a:xfrm>
            <a:off x="548640" y="1828800"/>
            <a:ext cx="10972800" cy="1463040"/>
          </a:xfrm>
          <a:prstGeom prst="rect">
            <a:avLst/>
          </a:prstGeom>
          <a:noFill/>
        </p:spPr>
        <p:txBody>
          <a:bodyPr wrap="square" lIns="0" rIns="0" tIns="0" bIns="0" anchor="t">
            <a:spAutoFit/>
          </a:bodyPr>
          <a:lstStyle/>
          <a:p>
            <a:pPr algn="ctr"/>
            <a:r>
              <a:rPr sz="8000" b="1" i="0">
                <a:solidFill>
                  <a:srgbClr val="4FC3F7"/>
                </a:solidFill>
                <a:latin typeface="Helvetica Neue"/>
              </a:rPr>
              <a:t>⏱  17 minutes</a:t>
            </a:r>
          </a:p>
        </p:txBody>
      </p:sp>
      <p:sp>
        <p:nvSpPr>
          <p:cNvPr id="3" name="TextBox 2"/>
          <p:cNvSpPr txBox="1"/>
          <p:nvPr/>
        </p:nvSpPr>
        <p:spPr>
          <a:xfrm>
            <a:off x="548640" y="3840480"/>
            <a:ext cx="10972800" cy="640080"/>
          </a:xfrm>
          <a:prstGeom prst="rect">
            <a:avLst/>
          </a:prstGeom>
          <a:noFill/>
        </p:spPr>
        <p:txBody>
          <a:bodyPr wrap="square" lIns="0" rIns="0" tIns="0" bIns="0" anchor="t">
            <a:spAutoFit/>
          </a:bodyPr>
          <a:lstStyle/>
          <a:p>
            <a:pPr algn="ctr"/>
            <a:r>
              <a:rPr sz="2200" b="0" i="0">
                <a:solidFill>
                  <a:srgbClr val="EEEEEE"/>
                </a:solidFill>
                <a:latin typeface="Helvetica Neue"/>
              </a:rPr>
              <a:t>Open activity2_student.ipynb</a:t>
            </a:r>
          </a:p>
        </p:txBody>
      </p:sp>
      <p:sp>
        <p:nvSpPr>
          <p:cNvPr id="4" name="TextBox 3"/>
          <p:cNvSpPr txBox="1"/>
          <p:nvPr/>
        </p:nvSpPr>
        <p:spPr>
          <a:xfrm>
            <a:off x="548640" y="4572000"/>
            <a:ext cx="10972800" cy="548640"/>
          </a:xfrm>
          <a:prstGeom prst="rect">
            <a:avLst/>
          </a:prstGeom>
          <a:noFill/>
        </p:spPr>
        <p:txBody>
          <a:bodyPr wrap="square" lIns="0" rIns="0" tIns="0" bIns="0" anchor="t">
            <a:spAutoFit/>
          </a:bodyPr>
          <a:lstStyle/>
          <a:p>
            <a:pPr algn="ctr"/>
            <a:r>
              <a:rPr sz="1800" b="0" i="1">
                <a:solidFill>
                  <a:srgbClr val="BBBBBB"/>
                </a:solidFill>
                <a:latin typeface="Helvetica Neue"/>
              </a:rPr>
              <a:t>Run cells. Discuss as a team. Pick your answers.</a:t>
            </a:r>
          </a:p>
        </p:txBody>
      </p:sp>
      <p:sp>
        <p:nvSpPr>
          <p:cNvPr id="5" name="TextBox 4"/>
          <p:cNvSpPr txBox="1"/>
          <p:nvPr/>
        </p:nvSpPr>
        <p:spPr>
          <a:xfrm>
            <a:off x="548640" y="5669280"/>
            <a:ext cx="10972800" cy="365760"/>
          </a:xfrm>
          <a:prstGeom prst="rect">
            <a:avLst/>
          </a:prstGeom>
          <a:noFill/>
        </p:spPr>
        <p:txBody>
          <a:bodyPr wrap="square" lIns="0" rIns="0" tIns="0" bIns="0" anchor="t">
            <a:spAutoFit/>
          </a:bodyPr>
          <a:lstStyle/>
          <a:p>
            <a:pPr algn="ctr"/>
            <a:r>
              <a:rPr sz="1400" b="0" i="1">
                <a:solidFill>
                  <a:srgbClr val="888888"/>
                </a:solidFill>
                <a:latin typeface="Helvetica Neue"/>
              </a:rPr>
              <a:t>I'll come around with hints, but I will not give you the answer.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548640"/>
            <a:ext cx="10972800" cy="914400"/>
          </a:xfrm>
          <a:prstGeom prst="rect">
            <a:avLst/>
          </a:prstGeom>
          <a:noFill/>
        </p:spPr>
        <p:txBody>
          <a:bodyPr wrap="square" lIns="0" rIns="0" tIns="0" bIns="0" anchor="t">
            <a:spAutoFit/>
          </a:bodyPr>
          <a:lstStyle/>
          <a:p>
            <a:pPr algn="l"/>
            <a:r>
              <a:rPr sz="4400" b="1" i="0">
                <a:solidFill>
                  <a:srgbClr val="4FC3F7"/>
                </a:solidFill>
                <a:latin typeface="Helvetica Neue"/>
              </a:rPr>
              <a:t>Answers</a:t>
            </a:r>
          </a:p>
        </p:txBody>
      </p:sp>
      <p:graphicFrame>
        <p:nvGraphicFramePr>
          <p:cNvPr id="3" name="Table 2"/>
          <p:cNvGraphicFramePr>
            <a:graphicFrameLocks noGrp="1"/>
          </p:cNvGraphicFramePr>
          <p:nvPr/>
        </p:nvGraphicFramePr>
        <p:xfrm>
          <a:off x="1828800" y="2011680"/>
          <a:ext cx="8503920" cy="2560320"/>
        </p:xfrm>
        <a:graphic>
          <a:graphicData uri="http://schemas.openxmlformats.org/drawingml/2006/table">
            <a:tbl>
              <a:tblPr firstRow="1" bandRow="1">
                <a:tableStyleId>{5C22544A-7EE6-4342-B048-85BDC9FD1C3A}</a:tableStyleId>
              </a:tblPr>
              <a:tblGrid>
                <a:gridCol w="1828800"/>
                <a:gridCol w="3657600"/>
                <a:gridCol w="3017520"/>
              </a:tblGrid>
              <a:tr h="640080">
                <a:tc>
                  <a:txBody>
                    <a:bodyPr/>
                    <a:lstStyle/>
                    <a:p>
                      <a:r>
                        <a:rPr sz="1800" b="1">
                          <a:solidFill>
                            <a:srgbClr val="4FC3F7"/>
                          </a:solidFill>
                          <a:latin typeface="Helvetica Neue"/>
                        </a:rPr>
                        <a:t>Attack</a:t>
                      </a:r>
                    </a:p>
                  </a:txBody>
                  <a:tcPr>
                    <a:solidFill>
                      <a:srgbClr val="1A1A1A"/>
                    </a:solidFill>
                  </a:tcPr>
                </a:tc>
                <a:tc>
                  <a:txBody>
                    <a:bodyPr/>
                    <a:lstStyle/>
                    <a:p>
                      <a:r>
                        <a:rPr sz="1800" b="1">
                          <a:solidFill>
                            <a:srgbClr val="4FC3F7"/>
                          </a:solidFill>
                          <a:latin typeface="Helvetica Neue"/>
                        </a:rPr>
                        <a:t>Sensor</a:t>
                      </a:r>
                    </a:p>
                  </a:txBody>
                  <a:tcPr>
                    <a:solidFill>
                      <a:srgbClr val="1A1A1A"/>
                    </a:solidFill>
                  </a:tcPr>
                </a:tc>
                <a:tc>
                  <a:txBody>
                    <a:bodyPr/>
                    <a:lstStyle/>
                    <a:p>
                      <a:r>
                        <a:rPr sz="1800" b="1">
                          <a:solidFill>
                            <a:srgbClr val="4FC3F7"/>
                          </a:solidFill>
                          <a:latin typeface="Helvetica Neue"/>
                        </a:rPr>
                        <a:t>Type</a:t>
                      </a:r>
                    </a:p>
                  </a:txBody>
                  <a:tcPr>
                    <a:solidFill>
                      <a:srgbClr val="1A1A1A"/>
                    </a:solidFill>
                  </a:tcPr>
                </a:tc>
              </a:tr>
              <a:tr h="640080">
                <a:tc>
                  <a:txBody>
                    <a:bodyPr/>
                    <a:lstStyle/>
                    <a:p>
                      <a:r>
                        <a:rPr sz="2000">
                          <a:solidFill>
                            <a:srgbClr val="EEEEEE"/>
                          </a:solidFill>
                          <a:latin typeface="Helvetica Neue"/>
                        </a:rPr>
                        <a:t>A</a:t>
                      </a:r>
                    </a:p>
                  </a:txBody>
                  <a:tcPr>
                    <a:solidFill>
                      <a:srgbClr val="0A0A0A"/>
                    </a:solidFill>
                  </a:tcPr>
                </a:tc>
                <a:tc>
                  <a:txBody>
                    <a:bodyPr/>
                    <a:lstStyle/>
                    <a:p>
                      <a:r>
                        <a:rPr sz="2000">
                          <a:solidFill>
                            <a:srgbClr val="EEEEEE"/>
                          </a:solidFill>
                          <a:latin typeface="Helvetica Neue"/>
                        </a:rPr>
                        <a:t>Sensor 11 (Ps30)</a:t>
                      </a:r>
                    </a:p>
                  </a:txBody>
                  <a:tcPr>
                    <a:solidFill>
                      <a:srgbClr val="0A0A0A"/>
                    </a:solidFill>
                  </a:tcPr>
                </a:tc>
                <a:tc>
                  <a:txBody>
                    <a:bodyPr/>
                    <a:lstStyle/>
                    <a:p>
                      <a:r>
                        <a:rPr sz="2000">
                          <a:solidFill>
                            <a:srgbClr val="EEEEEE"/>
                          </a:solidFill>
                          <a:latin typeface="Helvetica Neue"/>
                        </a:rPr>
                        <a:t>Drift</a:t>
                      </a:r>
                    </a:p>
                  </a:txBody>
                  <a:tcPr>
                    <a:solidFill>
                      <a:srgbClr val="0A0A0A"/>
                    </a:solidFill>
                  </a:tcPr>
                </a:tc>
              </a:tr>
              <a:tr h="640080">
                <a:tc>
                  <a:txBody>
                    <a:bodyPr/>
                    <a:lstStyle/>
                    <a:p>
                      <a:r>
                        <a:rPr sz="2000">
                          <a:solidFill>
                            <a:srgbClr val="EEEEEE"/>
                          </a:solidFill>
                          <a:latin typeface="Helvetica Neue"/>
                        </a:rPr>
                        <a:t>B</a:t>
                      </a:r>
                    </a:p>
                  </a:txBody>
                  <a:tcPr>
                    <a:solidFill>
                      <a:srgbClr val="0A0A0A"/>
                    </a:solidFill>
                  </a:tcPr>
                </a:tc>
                <a:tc>
                  <a:txBody>
                    <a:bodyPr/>
                    <a:lstStyle/>
                    <a:p>
                      <a:r>
                        <a:rPr sz="2000">
                          <a:solidFill>
                            <a:srgbClr val="EEEEEE"/>
                          </a:solidFill>
                          <a:latin typeface="Helvetica Neue"/>
                        </a:rPr>
                        <a:t>Sensor 14 (NRc)</a:t>
                      </a:r>
                    </a:p>
                  </a:txBody>
                  <a:tcPr>
                    <a:solidFill>
                      <a:srgbClr val="0A0A0A"/>
                    </a:solidFill>
                  </a:tcPr>
                </a:tc>
                <a:tc>
                  <a:txBody>
                    <a:bodyPr/>
                    <a:lstStyle/>
                    <a:p>
                      <a:r>
                        <a:rPr sz="2000">
                          <a:solidFill>
                            <a:srgbClr val="EEEEEE"/>
                          </a:solidFill>
                          <a:latin typeface="Helvetica Neue"/>
                        </a:rPr>
                        <a:t>Stuck-at</a:t>
                      </a:r>
                    </a:p>
                  </a:txBody>
                  <a:tcPr>
                    <a:solidFill>
                      <a:srgbClr val="0A0A0A"/>
                    </a:solidFill>
                  </a:tcPr>
                </a:tc>
              </a:tr>
              <a:tr h="640080">
                <a:tc>
                  <a:txBody>
                    <a:bodyPr/>
                    <a:lstStyle/>
                    <a:p>
                      <a:r>
                        <a:rPr sz="2000">
                          <a:solidFill>
                            <a:srgbClr val="EEEEEE"/>
                          </a:solidFill>
                          <a:latin typeface="Helvetica Neue"/>
                        </a:rPr>
                        <a:t>C</a:t>
                      </a:r>
                    </a:p>
                  </a:txBody>
                  <a:tcPr>
                    <a:solidFill>
                      <a:srgbClr val="0A0A0A"/>
                    </a:solidFill>
                  </a:tcPr>
                </a:tc>
                <a:tc>
                  <a:txBody>
                    <a:bodyPr/>
                    <a:lstStyle/>
                    <a:p>
                      <a:r>
                        <a:rPr sz="2000">
                          <a:solidFill>
                            <a:srgbClr val="EEEEEE"/>
                          </a:solidFill>
                          <a:latin typeface="Helvetica Neue"/>
                        </a:rPr>
                        <a:t>Sensor 9 (Nc)</a:t>
                      </a:r>
                    </a:p>
                  </a:txBody>
                  <a:tcPr>
                    <a:solidFill>
                      <a:srgbClr val="0A0A0A"/>
                    </a:solidFill>
                  </a:tcPr>
                </a:tc>
                <a:tc>
                  <a:txBody>
                    <a:bodyPr/>
                    <a:lstStyle/>
                    <a:p>
                      <a:r>
                        <a:rPr sz="2000">
                          <a:solidFill>
                            <a:srgbClr val="EEEEEE"/>
                          </a:solidFill>
                          <a:latin typeface="Helvetica Neue"/>
                        </a:rPr>
                        <a:t>Gaussian noise</a:t>
                      </a:r>
                    </a:p>
                  </a:txBody>
                  <a:tcPr>
                    <a:solidFill>
                      <a:srgbClr val="0A0A0A"/>
                    </a:solidFill>
                  </a:tcPr>
                </a:tc>
              </a:tr>
            </a:tbl>
          </a:graphicData>
        </a:graphic>
      </p:graphicFrame>
      <p:sp>
        <p:nvSpPr>
          <p:cNvPr id="4" name="TextBox 3"/>
          <p:cNvSpPr txBox="1"/>
          <p:nvPr/>
        </p:nvSpPr>
        <p:spPr>
          <a:xfrm>
            <a:off x="548640" y="5120640"/>
            <a:ext cx="10972800" cy="731520"/>
          </a:xfrm>
          <a:prstGeom prst="rect">
            <a:avLst/>
          </a:prstGeom>
          <a:noFill/>
        </p:spPr>
        <p:txBody>
          <a:bodyPr wrap="square" lIns="0" rIns="0" tIns="0" bIns="0" anchor="t">
            <a:spAutoFit/>
          </a:bodyPr>
          <a:lstStyle/>
          <a:p>
            <a:pPr algn="ctr"/>
            <a:r>
              <a:rPr sz="2400" b="1" i="0">
                <a:solidFill>
                  <a:srgbClr val="4FC3F7"/>
                </a:solidFill>
                <a:latin typeface="Helvetica Neue"/>
              </a:rPr>
              <a:t>Which team got all three?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914400"/>
          </a:xfrm>
          <a:prstGeom prst="rect">
            <a:avLst/>
          </a:prstGeom>
          <a:noFill/>
        </p:spPr>
        <p:txBody>
          <a:bodyPr wrap="square" lIns="0" rIns="0" tIns="0" bIns="0" anchor="t">
            <a:spAutoFit/>
          </a:bodyPr>
          <a:lstStyle/>
          <a:p>
            <a:pPr algn="l"/>
            <a:r>
              <a:rPr sz="4000" b="1" i="0">
                <a:solidFill>
                  <a:srgbClr val="4FC3F7"/>
                </a:solidFill>
                <a:latin typeface="Helvetica Neue"/>
              </a:rPr>
              <a:t>What just happened</a:t>
            </a:r>
          </a:p>
        </p:txBody>
      </p:sp>
      <p:sp>
        <p:nvSpPr>
          <p:cNvPr id="3" name="TextBox 2"/>
          <p:cNvSpPr txBox="1"/>
          <p:nvPr/>
        </p:nvSpPr>
        <p:spPr>
          <a:xfrm>
            <a:off x="914400" y="2011680"/>
            <a:ext cx="10972800" cy="3200400"/>
          </a:xfrm>
          <a:prstGeom prst="rect">
            <a:avLst/>
          </a:prstGeom>
          <a:noFill/>
        </p:spPr>
        <p:txBody>
          <a:bodyPr wrap="square" lIns="0" rIns="0" tIns="0" bIns="0" anchor="t">
            <a:spAutoFit/>
          </a:bodyPr>
          <a:lstStyle/>
          <a:p>
            <a:pPr algn="l">
              <a:lnSpc>
                <a:spcPct val="120000"/>
              </a:lnSpc>
              <a:spcAft>
                <a:spcPts val="1600"/>
              </a:spcAft>
            </a:pPr>
            <a:r>
              <a:rPr sz="1800" b="0" i="0">
                <a:solidFill>
                  <a:srgbClr val="EEEEEE"/>
                </a:solidFill>
                <a:latin typeface="Helvetica Neue"/>
              </a:rPr>
              <a:t>The RandomForest changed its prediction, but could not tell you why.</a:t>
            </a:r>
          </a:p>
          <a:p>
            <a:pPr algn="l">
              <a:lnSpc>
                <a:spcPct val="120000"/>
              </a:lnSpc>
              <a:spcAft>
                <a:spcPts val="1600"/>
              </a:spcAft>
            </a:pPr>
            <a:r>
              <a:rPr sz="1800" b="0" i="0">
                <a:solidFill>
                  <a:srgbClr val="EEEEEE"/>
                </a:solidFill>
                <a:latin typeface="Helvetica Neue"/>
              </a:rPr>
              <a:t>The SoftDecisionTree's split weights shifted in a sensor-specific way.</a:t>
            </a:r>
          </a:p>
          <a:p>
            <a:pPr algn="l">
              <a:lnSpc>
                <a:spcPct val="120000"/>
              </a:lnSpc>
              <a:spcAft>
                <a:spcPts val="1600"/>
              </a:spcAft>
            </a:pPr>
            <a:r>
              <a:rPr sz="1800" b="0" i="0">
                <a:solidFill>
                  <a:srgbClr val="EEEEEE"/>
                </a:solidFill>
                <a:latin typeface="Helvetica Neue"/>
              </a:rPr>
              <a:t>That shift is the explanation. It is a fingerprint of which sensor the model is leaning on.</a:t>
            </a:r>
          </a:p>
        </p:txBody>
      </p:sp>
      <p:sp>
        <p:nvSpPr>
          <p:cNvPr id="4" name="TextBox 3"/>
          <p:cNvSpPr txBox="1"/>
          <p:nvPr/>
        </p:nvSpPr>
        <p:spPr>
          <a:xfrm>
            <a:off x="548640" y="5212080"/>
            <a:ext cx="10972800" cy="548640"/>
          </a:xfrm>
          <a:prstGeom prst="rect">
            <a:avLst/>
          </a:prstGeom>
          <a:noFill/>
        </p:spPr>
        <p:txBody>
          <a:bodyPr wrap="square" lIns="0" rIns="0" tIns="0" bIns="0" anchor="t">
            <a:spAutoFit/>
          </a:bodyPr>
          <a:lstStyle/>
          <a:p>
            <a:pPr algn="ctr"/>
            <a:r>
              <a:rPr sz="2000" b="0" i="0">
                <a:solidFill>
                  <a:srgbClr val="EEEEEE"/>
                </a:solidFill>
                <a:latin typeface="Helvetica Neue"/>
              </a:rPr>
              <a:t>Explainability did not just make the model auditable.</a:t>
            </a:r>
          </a:p>
        </p:txBody>
      </p:sp>
      <p:sp>
        <p:nvSpPr>
          <p:cNvPr id="5" name="TextBox 4"/>
          <p:cNvSpPr txBox="1"/>
          <p:nvPr/>
        </p:nvSpPr>
        <p:spPr>
          <a:xfrm>
            <a:off x="548640" y="5760720"/>
            <a:ext cx="10972800" cy="548640"/>
          </a:xfrm>
          <a:prstGeom prst="rect">
            <a:avLst/>
          </a:prstGeom>
          <a:noFill/>
        </p:spPr>
        <p:txBody>
          <a:bodyPr wrap="square" lIns="0" rIns="0" tIns="0" bIns="0" anchor="t">
            <a:spAutoFit/>
          </a:bodyPr>
          <a:lstStyle/>
          <a:p>
            <a:pPr algn="ctr"/>
            <a:r>
              <a:rPr sz="2200" b="1" i="0">
                <a:solidFill>
                  <a:srgbClr val="4FC3F7"/>
                </a:solidFill>
                <a:latin typeface="Helvetica Neue"/>
              </a:rPr>
              <a:t>It made the model a debugging tool for the system around it.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01A10"/>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81C784"/>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SPRINT · 15 MIN</a:t>
            </a:r>
          </a:p>
        </p:txBody>
      </p:sp>
      <p:sp>
        <p:nvSpPr>
          <p:cNvPr id="3" name="TextBox 2"/>
          <p:cNvSpPr txBox="1"/>
          <p:nvPr/>
        </p:nvSpPr>
        <p:spPr>
          <a:xfrm>
            <a:off x="548640" y="1828800"/>
            <a:ext cx="10972800" cy="1371600"/>
          </a:xfrm>
          <a:prstGeom prst="rect">
            <a:avLst/>
          </a:prstGeom>
          <a:noFill/>
        </p:spPr>
        <p:txBody>
          <a:bodyPr wrap="square" lIns="0" rIns="0" tIns="0" bIns="0" anchor="t">
            <a:spAutoFit/>
          </a:bodyPr>
          <a:lstStyle/>
          <a:p>
            <a:pPr algn="ctr"/>
            <a:r>
              <a:rPr sz="4800" b="1" i="0">
                <a:solidFill>
                  <a:srgbClr val="EEEEEE"/>
                </a:solidFill>
                <a:latin typeface="Helvetica Neue"/>
              </a:rPr>
              <a:t>🔧 GitHub Contribution Sprint</a:t>
            </a:r>
          </a:p>
        </p:txBody>
      </p:sp>
      <p:sp>
        <p:nvSpPr>
          <p:cNvPr id="4" name="TextBox 3"/>
          <p:cNvSpPr txBox="1"/>
          <p:nvPr/>
        </p:nvSpPr>
        <p:spPr>
          <a:xfrm>
            <a:off x="548640" y="3931920"/>
            <a:ext cx="10972800" cy="548640"/>
          </a:xfrm>
          <a:prstGeom prst="rect">
            <a:avLst/>
          </a:prstGeom>
          <a:noFill/>
        </p:spPr>
        <p:txBody>
          <a:bodyPr wrap="square" lIns="0" rIns="0" tIns="0" bIns="0" anchor="t">
            <a:spAutoFit/>
          </a:bodyPr>
          <a:lstStyle/>
          <a:p>
            <a:pPr algn="ctr"/>
            <a:r>
              <a:rPr sz="2200" b="0" i="0">
                <a:solidFill>
                  <a:srgbClr val="4FC3F7"/>
                </a:solidFill>
                <a:latin typeface="Helvetica Neue"/>
              </a:rPr>
              <a:t>Walk out of this room with a real open-source contribution</a:t>
            </a:r>
          </a:p>
        </p:txBody>
      </p:sp>
      <p:sp>
        <p:nvSpPr>
          <p:cNvPr id="5" name="TextBox 4"/>
          <p:cNvSpPr txBox="1"/>
          <p:nvPr/>
        </p:nvSpPr>
        <p:spPr>
          <a:xfrm>
            <a:off x="548640" y="4480560"/>
            <a:ext cx="10972800" cy="548640"/>
          </a:xfrm>
          <a:prstGeom prst="rect">
            <a:avLst/>
          </a:prstGeom>
          <a:noFill/>
        </p:spPr>
        <p:txBody>
          <a:bodyPr wrap="square" lIns="0" rIns="0" tIns="0" bIns="0" anchor="t">
            <a:spAutoFit/>
          </a:bodyPr>
          <a:lstStyle/>
          <a:p>
            <a:pPr algn="ctr"/>
            <a:r>
              <a:rPr sz="2200" b="0" i="0">
                <a:solidFill>
                  <a:srgbClr val="4FC3F7"/>
                </a:solidFill>
                <a:latin typeface="Helvetica Neue"/>
              </a:rPr>
              <a:t>on your GitHub profile.</a:t>
            </a:r>
          </a:p>
        </p:txBody>
      </p:sp>
      <p:sp>
        <p:nvSpPr>
          <p:cNvPr id="6" name="TextBox 5"/>
          <p:cNvSpPr txBox="1"/>
          <p:nvPr/>
        </p:nvSpPr>
        <p:spPr>
          <a:xfrm>
            <a:off x="548640" y="5486400"/>
            <a:ext cx="10972800" cy="457200"/>
          </a:xfrm>
          <a:prstGeom prst="rect">
            <a:avLst/>
          </a:prstGeom>
          <a:noFill/>
        </p:spPr>
        <p:txBody>
          <a:bodyPr wrap="square" lIns="0" rIns="0" tIns="0" bIns="0" anchor="t">
            <a:spAutoFit/>
          </a:bodyPr>
          <a:lstStyle/>
          <a:p>
            <a:pPr algn="ctr"/>
            <a:r>
              <a:rPr sz="1600" b="0" i="1">
                <a:solidFill>
                  <a:srgbClr val="BBBBBB"/>
                </a:solidFill>
                <a:latin typeface="Helvetica Neue"/>
              </a:rPr>
              <a:t>15 minutes. Your name on a published ML library.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914400"/>
          </a:xfrm>
          <a:prstGeom prst="rect">
            <a:avLst/>
          </a:prstGeom>
          <a:noFill/>
        </p:spPr>
        <p:txBody>
          <a:bodyPr wrap="square" lIns="0" rIns="0" tIns="0" bIns="0" anchor="t">
            <a:spAutoFit/>
          </a:bodyPr>
          <a:lstStyle/>
          <a:p>
            <a:pPr algn="l"/>
            <a:r>
              <a:rPr sz="4000" b="1" i="0">
                <a:solidFill>
                  <a:srgbClr val="4FC3F7"/>
                </a:solidFill>
                <a:latin typeface="Helvetica Neue"/>
              </a:rPr>
              <a:t>How it works</a:t>
            </a:r>
          </a:p>
        </p:txBody>
      </p:sp>
      <p:sp>
        <p:nvSpPr>
          <p:cNvPr id="3" name="TextBox 2"/>
          <p:cNvSpPr txBox="1"/>
          <p:nvPr/>
        </p:nvSpPr>
        <p:spPr>
          <a:xfrm>
            <a:off x="731520" y="1828800"/>
            <a:ext cx="10972800" cy="4572000"/>
          </a:xfrm>
          <a:prstGeom prst="rect">
            <a:avLst/>
          </a:prstGeom>
          <a:noFill/>
        </p:spPr>
        <p:txBody>
          <a:bodyPr wrap="square" lIns="0" rIns="0" tIns="0" bIns="0" anchor="t">
            <a:spAutoFit/>
          </a:bodyPr>
          <a:lstStyle/>
          <a:p>
            <a:pPr algn="l">
              <a:lnSpc>
                <a:spcPct val="120000"/>
              </a:lnSpc>
              <a:spcAft>
                <a:spcPts val="1400"/>
              </a:spcAft>
            </a:pPr>
            <a:r>
              <a:rPr sz="1800" b="0" i="0">
                <a:solidFill>
                  <a:srgbClr val="EEEEEE"/>
                </a:solidFill>
                <a:latin typeface="Helvetica Neue"/>
              </a:rPr>
              <a:t>1. Open github.com/cgrtml/neural-trees → Issues tab</a:t>
            </a:r>
          </a:p>
          <a:p>
            <a:pPr algn="l">
              <a:lnSpc>
                <a:spcPct val="120000"/>
              </a:lnSpc>
              <a:spcAft>
                <a:spcPts val="1400"/>
              </a:spcAft>
            </a:pPr>
            <a:r>
              <a:rPr sz="1800" b="0" i="0">
                <a:solidFill>
                  <a:srgbClr val="EEEEEE"/>
                </a:solidFill>
                <a:latin typeface="Helvetica Neue"/>
              </a:rPr>
              <a:t>2. Filter by label: good first issue. Pick one (10 to 20 min scope)</a:t>
            </a:r>
          </a:p>
          <a:p>
            <a:pPr algn="l">
              <a:lnSpc>
                <a:spcPct val="120000"/>
              </a:lnSpc>
              <a:spcAft>
                <a:spcPts val="1400"/>
              </a:spcAft>
            </a:pPr>
            <a:r>
              <a:rPr sz="1800" b="0" i="0">
                <a:solidFill>
                  <a:srgbClr val="EEEEEE"/>
                </a:solidFill>
                <a:latin typeface="Helvetica Neue"/>
              </a:rPr>
              <a:t>3. Comment "I am taking this" so no duplicates</a:t>
            </a:r>
          </a:p>
          <a:p>
            <a:pPr algn="l">
              <a:lnSpc>
                <a:spcPct val="120000"/>
              </a:lnSpc>
              <a:spcAft>
                <a:spcPts val="1400"/>
              </a:spcAft>
            </a:pPr>
            <a:r>
              <a:rPr sz="1800" b="0" i="0">
                <a:solidFill>
                  <a:srgbClr val="EEEEEE"/>
                </a:solidFill>
                <a:latin typeface="Helvetica Neue"/>
              </a:rPr>
              <a:t>4. Fork the repo, edit, open a PR</a:t>
            </a:r>
          </a:p>
          <a:p>
            <a:pPr algn="l">
              <a:lnSpc>
                <a:spcPct val="120000"/>
              </a:lnSpc>
              <a:spcAft>
                <a:spcPts val="1400"/>
              </a:spcAft>
            </a:pPr>
            <a:r>
              <a:rPr sz="1800" b="0" i="0">
                <a:solidFill>
                  <a:srgbClr val="81C784"/>
                </a:solidFill>
                <a:latin typeface="Helvetica Neue"/>
              </a:rPr>
              <a:t>5. I will review live. Simple PRs get merged on the spot.</a:t>
            </a:r>
          </a:p>
        </p:txBody>
      </p:sp>
      <p:sp>
        <p:nvSpPr>
          <p:cNvPr id="4" name="TextBox 3"/>
          <p:cNvSpPr txBox="1"/>
          <p:nvPr/>
        </p:nvSpPr>
        <p:spPr>
          <a:xfrm>
            <a:off x="548640" y="6126480"/>
            <a:ext cx="10972800" cy="365760"/>
          </a:xfrm>
          <a:prstGeom prst="rect">
            <a:avLst/>
          </a:prstGeom>
          <a:noFill/>
        </p:spPr>
        <p:txBody>
          <a:bodyPr wrap="square" lIns="0" rIns="0" tIns="0" bIns="0" anchor="t">
            <a:spAutoFit/>
          </a:bodyPr>
          <a:lstStyle/>
          <a:p>
            <a:pPr algn="ctr"/>
            <a:r>
              <a:rPr sz="1400" b="0" i="1">
                <a:solidFill>
                  <a:srgbClr val="4FC3F7"/>
                </a:solidFill>
                <a:latin typeface="Helvetica Neue"/>
              </a:rPr>
              <a:t>~20 issues waiting · pick what fits your level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914400"/>
          </a:xfrm>
          <a:prstGeom prst="rect">
            <a:avLst/>
          </a:prstGeom>
          <a:noFill/>
        </p:spPr>
        <p:txBody>
          <a:bodyPr wrap="square" lIns="0" rIns="0" tIns="0" bIns="0" anchor="t">
            <a:spAutoFit/>
          </a:bodyPr>
          <a:lstStyle/>
          <a:p>
            <a:pPr algn="l"/>
            <a:r>
              <a:rPr sz="3400" b="1" i="0">
                <a:solidFill>
                  <a:srgbClr val="4FC3F7"/>
                </a:solidFill>
                <a:latin typeface="Helvetica Neue"/>
              </a:rPr>
              <a:t>Why this is worth your 15 minutes</a:t>
            </a:r>
          </a:p>
        </p:txBody>
      </p:sp>
      <p:sp>
        <p:nvSpPr>
          <p:cNvPr id="3" name="TextBox 2"/>
          <p:cNvSpPr txBox="1"/>
          <p:nvPr/>
        </p:nvSpPr>
        <p:spPr>
          <a:xfrm>
            <a:off x="731520" y="1828800"/>
            <a:ext cx="10972800" cy="4114800"/>
          </a:xfrm>
          <a:prstGeom prst="rect">
            <a:avLst/>
          </a:prstGeom>
          <a:noFill/>
        </p:spPr>
        <p:txBody>
          <a:bodyPr wrap="square" lIns="0" rIns="0" tIns="0" bIns="0" anchor="t">
            <a:spAutoFit/>
          </a:bodyPr>
          <a:lstStyle/>
          <a:p>
            <a:pPr algn="l">
              <a:lnSpc>
                <a:spcPct val="120000"/>
              </a:lnSpc>
              <a:spcAft>
                <a:spcPts val="1400"/>
              </a:spcAft>
            </a:pPr>
            <a:r>
              <a:rPr sz="1700" b="0" i="0">
                <a:solidFill>
                  <a:srgbClr val="EEEEEE"/>
                </a:solidFill>
                <a:latin typeface="Helvetica Neue"/>
              </a:rPr>
              <a:t>A concrete open-source contribution on your profile, visible to recruiters, internships, and grad-school admissions.</a:t>
            </a:r>
          </a:p>
          <a:p>
            <a:pPr algn="l">
              <a:lnSpc>
                <a:spcPct val="120000"/>
              </a:lnSpc>
              <a:spcAft>
                <a:spcPts val="1400"/>
              </a:spcAft>
            </a:pPr>
            <a:r>
              <a:rPr sz="1700" b="0" i="0">
                <a:solidFill>
                  <a:srgbClr val="EEEEEE"/>
                </a:solidFill>
                <a:latin typeface="Helvetica Neue"/>
              </a:rPr>
              <a:t>You become part of a published Python ML library (PyPI: neural-trees).</a:t>
            </a:r>
          </a:p>
          <a:p>
            <a:pPr algn="l">
              <a:lnSpc>
                <a:spcPct val="120000"/>
              </a:lnSpc>
              <a:spcAft>
                <a:spcPts val="1400"/>
              </a:spcAft>
            </a:pPr>
            <a:r>
              <a:rPr sz="1700" b="0" i="0">
                <a:solidFill>
                  <a:srgbClr val="EEEEEE"/>
                </a:solidFill>
                <a:latin typeface="Helvetica Neue"/>
              </a:rPr>
              <a:t>Your name goes in the README. I will add a "WSU Workshop Contributors" section listing every merged PR.</a:t>
            </a:r>
          </a:p>
          <a:p>
            <a:pPr algn="l">
              <a:lnSpc>
                <a:spcPct val="120000"/>
              </a:lnSpc>
              <a:spcAft>
                <a:spcPts val="1400"/>
              </a:spcAft>
            </a:pPr>
            <a:r>
              <a:rPr sz="1700" b="0" i="0">
                <a:solidFill>
                  <a:srgbClr val="EEEEEE"/>
                </a:solidFill>
                <a:latin typeface="Helvetica Neue"/>
              </a:rPr>
              <a:t>It is real proof that you can collaborate on a codebase, not just clone tutorials.</a:t>
            </a:r>
          </a:p>
        </p:txBody>
      </p:sp>
      <p:sp>
        <p:nvSpPr>
          <p:cNvPr id="4" name="TextBox 3"/>
          <p:cNvSpPr txBox="1"/>
          <p:nvPr/>
        </p:nvSpPr>
        <p:spPr>
          <a:xfrm>
            <a:off x="548640" y="5852160"/>
            <a:ext cx="10972800" cy="548640"/>
          </a:xfrm>
          <a:prstGeom prst="rect">
            <a:avLst/>
          </a:prstGeom>
          <a:noFill/>
        </p:spPr>
        <p:txBody>
          <a:bodyPr wrap="square" lIns="0" rIns="0" tIns="0" bIns="0" anchor="t">
            <a:spAutoFit/>
          </a:bodyPr>
          <a:lstStyle/>
          <a:p>
            <a:pPr algn="ctr"/>
            <a:r>
              <a:rPr sz="2400" b="1" i="0">
                <a:solidFill>
                  <a:srgbClr val="4FC3F7"/>
                </a:solidFill>
                <a:latin typeface="Helvetica Neue"/>
              </a:rPr>
              <a:t>Open the repo. Pick an issue. Go.</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FFB74D"/>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REGULATORY CONTEXT</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4200" b="1" i="0">
                <a:solidFill>
                  <a:srgbClr val="4FC3F7"/>
                </a:solidFill>
                <a:latin typeface="Helvetica Neue"/>
              </a:rPr>
              <a:t>The EU AI Act</a:t>
            </a:r>
          </a:p>
        </p:txBody>
      </p:sp>
      <p:sp>
        <p:nvSpPr>
          <p:cNvPr id="4" name="TextBox 3"/>
          <p:cNvSpPr txBox="1"/>
          <p:nvPr/>
        </p:nvSpPr>
        <p:spPr>
          <a:xfrm>
            <a:off x="548640" y="2286000"/>
            <a:ext cx="10972800" cy="548640"/>
          </a:xfrm>
          <a:prstGeom prst="rect">
            <a:avLst/>
          </a:prstGeom>
          <a:noFill/>
        </p:spPr>
        <p:txBody>
          <a:bodyPr wrap="square" lIns="0" rIns="0" tIns="0" bIns="0" anchor="t">
            <a:spAutoFit/>
          </a:bodyPr>
          <a:lstStyle/>
          <a:p>
            <a:pPr algn="l"/>
            <a:r>
              <a:rPr sz="1800" b="0" i="0">
                <a:solidFill>
                  <a:srgbClr val="EEEEEE"/>
                </a:solidFill>
                <a:latin typeface="Helvetica Neue"/>
              </a:rPr>
              <a:t>Took effect in 2025. Applies to any AI system serving EU customers.</a:t>
            </a:r>
          </a:p>
        </p:txBody>
      </p:sp>
      <p:sp>
        <p:nvSpPr>
          <p:cNvPr id="5" name="TextBox 4"/>
          <p:cNvSpPr txBox="1"/>
          <p:nvPr/>
        </p:nvSpPr>
        <p:spPr>
          <a:xfrm>
            <a:off x="548640" y="3108960"/>
            <a:ext cx="10972800" cy="548640"/>
          </a:xfrm>
          <a:prstGeom prst="rect">
            <a:avLst/>
          </a:prstGeom>
          <a:noFill/>
        </p:spPr>
        <p:txBody>
          <a:bodyPr wrap="square" lIns="0" rIns="0" tIns="0" bIns="0" anchor="t">
            <a:spAutoFit/>
          </a:bodyPr>
          <a:lstStyle/>
          <a:p>
            <a:pPr algn="l"/>
            <a:r>
              <a:rPr sz="1800" b="0" i="0">
                <a:solidFill>
                  <a:srgbClr val="EEEEEE"/>
                </a:solidFill>
                <a:latin typeface="Helvetica Neue"/>
              </a:rPr>
              <a:t>For "high-risk" systems (predictive maintenance for aviation qualifies):</a:t>
            </a:r>
          </a:p>
        </p:txBody>
      </p:sp>
      <p:sp>
        <p:nvSpPr>
          <p:cNvPr id="6" name="TextBox 5"/>
          <p:cNvSpPr txBox="1"/>
          <p:nvPr/>
        </p:nvSpPr>
        <p:spPr>
          <a:xfrm>
            <a:off x="914400" y="4023360"/>
            <a:ext cx="10972800" cy="1828800"/>
          </a:xfrm>
          <a:prstGeom prst="rect">
            <a:avLst/>
          </a:prstGeom>
          <a:noFill/>
        </p:spPr>
        <p:txBody>
          <a:bodyPr wrap="square" lIns="0" rIns="0" tIns="0" bIns="0" anchor="t">
            <a:spAutoFit/>
          </a:bodyPr>
          <a:lstStyle/>
          <a:p>
            <a:pPr algn="l">
              <a:lnSpc>
                <a:spcPct val="120000"/>
              </a:lnSpc>
              <a:spcAft>
                <a:spcPts val="800"/>
              </a:spcAft>
            </a:pPr>
            <a:r>
              <a:rPr sz="1700" b="1" i="0">
                <a:solidFill>
                  <a:srgbClr val="EEEEEE"/>
                </a:solidFill>
                <a:latin typeface="Helvetica Neue"/>
              </a:rPr>
              <a:t>Article 13: Transparency &amp; explanation requirements</a:t>
            </a:r>
          </a:p>
          <a:p>
            <a:pPr algn="l">
              <a:lnSpc>
                <a:spcPct val="120000"/>
              </a:lnSpc>
              <a:spcAft>
                <a:spcPts val="800"/>
              </a:spcAft>
            </a:pPr>
            <a:r>
              <a:rPr sz="1700" b="1" i="0">
                <a:solidFill>
                  <a:srgbClr val="EEEEEE"/>
                </a:solidFill>
                <a:latin typeface="Helvetica Neue"/>
              </a:rPr>
              <a:t>Article 14: Human oversight with meaningful interpretation</a:t>
            </a:r>
          </a:p>
          <a:p>
            <a:pPr algn="l">
              <a:lnSpc>
                <a:spcPct val="120000"/>
              </a:lnSpc>
              <a:spcAft>
                <a:spcPts val="800"/>
              </a:spcAft>
            </a:pPr>
            <a:r>
              <a:rPr sz="1700" b="1" i="0">
                <a:solidFill>
                  <a:srgbClr val="EEEEEE"/>
                </a:solidFill>
                <a:latin typeface="Helvetica Neue"/>
              </a:rPr>
              <a:t>Article 15: Robustness against adversarial inputs and faults</a:t>
            </a:r>
          </a:p>
        </p:txBody>
      </p:sp>
      <p:sp>
        <p:nvSpPr>
          <p:cNvPr id="7" name="TextBox 6"/>
          <p:cNvSpPr txBox="1"/>
          <p:nvPr/>
        </p:nvSpPr>
        <p:spPr>
          <a:xfrm>
            <a:off x="548640" y="6035040"/>
            <a:ext cx="10972800" cy="365760"/>
          </a:xfrm>
          <a:prstGeom prst="rect">
            <a:avLst/>
          </a:prstGeom>
          <a:noFill/>
        </p:spPr>
        <p:txBody>
          <a:bodyPr wrap="square" lIns="0" rIns="0" tIns="0" bIns="0" anchor="t">
            <a:spAutoFit/>
          </a:bodyPr>
          <a:lstStyle/>
          <a:p>
            <a:pPr algn="ctr"/>
            <a:r>
              <a:rPr sz="1400" b="0" i="1">
                <a:solidFill>
                  <a:srgbClr val="888888"/>
                </a:solidFill>
                <a:latin typeface="Helvetica Neue"/>
              </a:rPr>
              <a:t>Same direction in the US: SR 11-7 (banking), FDA SaMD, FAA AC 25-1309.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01A10"/>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81C784"/>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WRAP-UP · 5 MIN</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3800" b="1" i="0">
                <a:solidFill>
                  <a:srgbClr val="EEEEEE"/>
                </a:solidFill>
                <a:latin typeface="Helvetica Neue"/>
              </a:rPr>
              <a:t>What you walk out with</a:t>
            </a:r>
          </a:p>
        </p:txBody>
      </p:sp>
      <p:sp>
        <p:nvSpPr>
          <p:cNvPr id="4" name="TextBox 3"/>
          <p:cNvSpPr txBox="1"/>
          <p:nvPr/>
        </p:nvSpPr>
        <p:spPr>
          <a:xfrm>
            <a:off x="914400" y="2286000"/>
            <a:ext cx="10972800" cy="4114800"/>
          </a:xfrm>
          <a:prstGeom prst="rect">
            <a:avLst/>
          </a:prstGeom>
          <a:noFill/>
        </p:spPr>
        <p:txBody>
          <a:bodyPr wrap="square" lIns="0" rIns="0" tIns="0" bIns="0" anchor="t">
            <a:spAutoFit/>
          </a:bodyPr>
          <a:lstStyle/>
          <a:p>
            <a:pPr algn="l">
              <a:lnSpc>
                <a:spcPct val="120000"/>
              </a:lnSpc>
              <a:spcAft>
                <a:spcPts val="400"/>
              </a:spcAft>
            </a:pPr>
            <a:r>
              <a:rPr sz="2000" b="1" i="0">
                <a:solidFill>
                  <a:srgbClr val="4FC3F7"/>
                </a:solidFill>
                <a:latin typeface="Helvetica Neue"/>
              </a:rPr>
              <a:t>1. Explainability is mandatory in safety-critical AI.</a:t>
            </a:r>
          </a:p>
          <a:p>
            <a:pPr algn="l">
              <a:lnSpc>
                <a:spcPct val="120000"/>
              </a:lnSpc>
              <a:spcAft>
                <a:spcPts val="1800"/>
              </a:spcAft>
            </a:pPr>
            <a:r>
              <a:rPr sz="1400" b="0" i="1">
                <a:solidFill>
                  <a:srgbClr val="BBBBBB"/>
                </a:solidFill>
                <a:latin typeface="Helvetica Neue"/>
              </a:rPr>
              <a:t>Required by EU AI Act, FDA, FAA, OCC for high-risk systems.</a:t>
            </a:r>
          </a:p>
          <a:p>
            <a:pPr algn="l">
              <a:lnSpc>
                <a:spcPct val="120000"/>
              </a:lnSpc>
              <a:spcAft>
                <a:spcPts val="400"/>
              </a:spcAft>
            </a:pPr>
            <a:r>
              <a:rPr sz="2000" b="1" i="0">
                <a:solidFill>
                  <a:srgbClr val="4FC3F7"/>
                </a:solidFill>
                <a:latin typeface="Helvetica Neue"/>
              </a:rPr>
              <a:t>2. Soft Decision Trees give you both worlds.</a:t>
            </a:r>
          </a:p>
          <a:p>
            <a:pPr algn="l">
              <a:lnSpc>
                <a:spcPct val="120000"/>
              </a:lnSpc>
              <a:spcAft>
                <a:spcPts val="1800"/>
              </a:spcAft>
            </a:pPr>
            <a:r>
              <a:rPr sz="1400" b="0" i="1">
                <a:solidFill>
                  <a:srgbClr val="BBBBBB"/>
                </a:solidFill>
                <a:latin typeface="Helvetica Neue"/>
              </a:rPr>
              <a:t>Neural-network accuracy with tree-level interpretability.</a:t>
            </a:r>
          </a:p>
          <a:p>
            <a:pPr algn="l">
              <a:lnSpc>
                <a:spcPct val="120000"/>
              </a:lnSpc>
              <a:spcAft>
                <a:spcPts val="400"/>
              </a:spcAft>
            </a:pPr>
            <a:r>
              <a:rPr sz="2000" b="1" i="0">
                <a:solidFill>
                  <a:srgbClr val="4FC3F7"/>
                </a:solidFill>
                <a:latin typeface="Helvetica Neue"/>
              </a:rPr>
              <a:t>3. You ran this yourself, on real NASA data.</a:t>
            </a:r>
          </a:p>
          <a:p>
            <a:pPr algn="l">
              <a:lnSpc>
                <a:spcPct val="120000"/>
              </a:lnSpc>
            </a:pPr>
            <a:r>
              <a:rPr sz="1400" b="0" i="1">
                <a:solidFill>
                  <a:srgbClr val="BBBBBB"/>
                </a:solidFill>
                <a:latin typeface="Helvetica Neue"/>
              </a:rPr>
              <a:t>Trained a model · localized a sensor fault · maybe shipped an OSS contribution.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914400"/>
          </a:xfrm>
          <a:prstGeom prst="rect">
            <a:avLst/>
          </a:prstGeom>
          <a:noFill/>
        </p:spPr>
        <p:txBody>
          <a:bodyPr wrap="square" lIns="0" rIns="0" tIns="0" bIns="0" anchor="t">
            <a:spAutoFit/>
          </a:bodyPr>
          <a:lstStyle/>
          <a:p>
            <a:pPr algn="l"/>
            <a:r>
              <a:rPr sz="4000" b="1" i="0">
                <a:solidFill>
                  <a:srgbClr val="4FC3F7"/>
                </a:solidFill>
                <a:latin typeface="Helvetica Neue"/>
              </a:rPr>
              <a:t>Where this is going</a:t>
            </a:r>
          </a:p>
        </p:txBody>
      </p:sp>
      <p:sp>
        <p:nvSpPr>
          <p:cNvPr id="3" name="TextBox 2"/>
          <p:cNvSpPr txBox="1"/>
          <p:nvPr/>
        </p:nvSpPr>
        <p:spPr>
          <a:xfrm>
            <a:off x="548640" y="1828800"/>
            <a:ext cx="10972800" cy="640080"/>
          </a:xfrm>
          <a:prstGeom prst="rect">
            <a:avLst/>
          </a:prstGeom>
          <a:noFill/>
        </p:spPr>
        <p:txBody>
          <a:bodyPr wrap="square" lIns="0" rIns="0" tIns="0" bIns="0" anchor="t">
            <a:spAutoFit/>
          </a:bodyPr>
          <a:lstStyle/>
          <a:p>
            <a:pPr algn="l"/>
            <a:r>
              <a:rPr sz="2000" b="0" i="0">
                <a:solidFill>
                  <a:srgbClr val="EEEEEE"/>
                </a:solidFill>
                <a:latin typeface="Helvetica Neue"/>
              </a:rPr>
              <a:t>Banks (Model Risk Management), insurers, healthcare, aerospace.</a:t>
            </a:r>
          </a:p>
        </p:txBody>
      </p:sp>
      <p:sp>
        <p:nvSpPr>
          <p:cNvPr id="4" name="TextBox 3"/>
          <p:cNvSpPr txBox="1"/>
          <p:nvPr/>
        </p:nvSpPr>
        <p:spPr>
          <a:xfrm>
            <a:off x="548640" y="2560320"/>
            <a:ext cx="10972800" cy="640080"/>
          </a:xfrm>
          <a:prstGeom prst="rect">
            <a:avLst/>
          </a:prstGeom>
          <a:noFill/>
        </p:spPr>
        <p:txBody>
          <a:bodyPr wrap="square" lIns="0" rIns="0" tIns="0" bIns="0" anchor="t">
            <a:spAutoFit/>
          </a:bodyPr>
          <a:lstStyle/>
          <a:p>
            <a:pPr algn="l"/>
            <a:r>
              <a:rPr sz="2000" b="0" i="0">
                <a:solidFill>
                  <a:srgbClr val="EEEEEE"/>
                </a:solidFill>
                <a:latin typeface="Helvetica Neue"/>
              </a:rPr>
              <a:t>Every regulated industry needs explainable AI.</a:t>
            </a:r>
          </a:p>
        </p:txBody>
      </p:sp>
      <p:sp>
        <p:nvSpPr>
          <p:cNvPr id="5" name="TextBox 4"/>
          <p:cNvSpPr txBox="1"/>
          <p:nvPr/>
        </p:nvSpPr>
        <p:spPr>
          <a:xfrm>
            <a:off x="548640" y="3657600"/>
            <a:ext cx="10972800" cy="1371600"/>
          </a:xfrm>
          <a:prstGeom prst="rect">
            <a:avLst/>
          </a:prstGeom>
          <a:noFill/>
        </p:spPr>
        <p:txBody>
          <a:bodyPr wrap="square" lIns="0" rIns="0" tIns="0" bIns="0" anchor="t">
            <a:spAutoFit/>
          </a:bodyPr>
          <a:lstStyle/>
          <a:p>
            <a:pPr algn="ctr"/>
            <a:r>
              <a:rPr sz="1800" b="0" i="0">
                <a:solidFill>
                  <a:srgbClr val="EEEEEE"/>
                </a:solidFill>
                <a:latin typeface="Helvetica Neue"/>
              </a:rPr>
              <a:t>My company Hezarfen builds compliance-ready AI for US mid-market banks under SR 11-7 and the EU AI Act.</a:t>
            </a:r>
          </a:p>
        </p:txBody>
      </p:sp>
      <p:sp>
        <p:nvSpPr>
          <p:cNvPr id="6" name="TextBox 5"/>
          <p:cNvSpPr txBox="1"/>
          <p:nvPr/>
        </p:nvSpPr>
        <p:spPr>
          <a:xfrm>
            <a:off x="548640" y="5303520"/>
            <a:ext cx="10972800" cy="731520"/>
          </a:xfrm>
          <a:prstGeom prst="rect">
            <a:avLst/>
          </a:prstGeom>
          <a:noFill/>
        </p:spPr>
        <p:txBody>
          <a:bodyPr wrap="square" lIns="0" rIns="0" tIns="0" bIns="0" anchor="t">
            <a:spAutoFit/>
          </a:bodyPr>
          <a:lstStyle/>
          <a:p>
            <a:pPr algn="ctr"/>
            <a:r>
              <a:rPr sz="1600" b="0" i="1">
                <a:solidFill>
                  <a:srgbClr val="BBBBBB"/>
                </a:solidFill>
                <a:latin typeface="Helvetica Neue"/>
              </a:rPr>
              <a:t>If any of this interested you, whether as a thesis topic, an open-source contribution, or just a conversation:</a:t>
            </a:r>
          </a:p>
        </p:txBody>
      </p:sp>
      <p:sp>
        <p:nvSpPr>
          <p:cNvPr id="7" name="TextBox 6"/>
          <p:cNvSpPr txBox="1"/>
          <p:nvPr/>
        </p:nvSpPr>
        <p:spPr>
          <a:xfrm>
            <a:off x="548640" y="6035040"/>
            <a:ext cx="10972800" cy="548640"/>
          </a:xfrm>
          <a:prstGeom prst="rect">
            <a:avLst/>
          </a:prstGeom>
          <a:noFill/>
        </p:spPr>
        <p:txBody>
          <a:bodyPr wrap="square" lIns="0" rIns="0" tIns="0" bIns="0" anchor="t">
            <a:spAutoFit/>
          </a:bodyPr>
          <a:lstStyle/>
          <a:p>
            <a:pPr algn="ctr"/>
            <a:r>
              <a:rPr sz="2800" b="1" i="0">
                <a:solidFill>
                  <a:srgbClr val="4FC3F7"/>
                </a:solidFill>
                <a:latin typeface="Helvetica Neue"/>
              </a:rPr>
              <a:t>reach out.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914400"/>
          </a:xfrm>
          <a:prstGeom prst="rect">
            <a:avLst/>
          </a:prstGeom>
          <a:noFill/>
        </p:spPr>
        <p:txBody>
          <a:bodyPr wrap="square" lIns="0" rIns="0" tIns="0" bIns="0" anchor="t">
            <a:spAutoFit/>
          </a:bodyPr>
          <a:lstStyle/>
          <a:p>
            <a:pPr algn="ctr"/>
            <a:r>
              <a:rPr sz="4000" b="1" i="0">
                <a:solidFill>
                  <a:srgbClr val="4FC3F7"/>
                </a:solidFill>
                <a:latin typeface="Helvetica Neue"/>
              </a:rPr>
              <a:t>Stay in touch</a:t>
            </a:r>
          </a:p>
        </p:txBody>
      </p:sp>
      <p:sp>
        <p:nvSpPr>
          <p:cNvPr id="3" name="TextBox 2"/>
          <p:cNvSpPr txBox="1"/>
          <p:nvPr/>
        </p:nvSpPr>
        <p:spPr>
          <a:xfrm>
            <a:off x="548640" y="2194560"/>
            <a:ext cx="10972800" cy="731520"/>
          </a:xfrm>
          <a:prstGeom prst="rect">
            <a:avLst/>
          </a:prstGeom>
          <a:noFill/>
        </p:spPr>
        <p:txBody>
          <a:bodyPr wrap="square" lIns="0" rIns="0" tIns="0" bIns="0" anchor="t">
            <a:spAutoFit/>
          </a:bodyPr>
          <a:lstStyle/>
          <a:p>
            <a:pPr algn="ctr"/>
            <a:r>
              <a:rPr sz="3200" b="1" i="0">
                <a:solidFill>
                  <a:srgbClr val="EEEEEE"/>
                </a:solidFill>
                <a:latin typeface="Helvetica Neue"/>
              </a:rPr>
              <a:t>Cagri Temel</a:t>
            </a:r>
          </a:p>
        </p:txBody>
      </p:sp>
      <p:sp>
        <p:nvSpPr>
          <p:cNvPr id="4" name="TextBox 3"/>
          <p:cNvSpPr txBox="1"/>
          <p:nvPr/>
        </p:nvSpPr>
        <p:spPr>
          <a:xfrm>
            <a:off x="548640" y="2926080"/>
            <a:ext cx="10972800" cy="457200"/>
          </a:xfrm>
          <a:prstGeom prst="rect">
            <a:avLst/>
          </a:prstGeom>
          <a:noFill/>
        </p:spPr>
        <p:txBody>
          <a:bodyPr wrap="square" lIns="0" rIns="0" tIns="0" bIns="0" anchor="t">
            <a:spAutoFit/>
          </a:bodyPr>
          <a:lstStyle/>
          <a:p>
            <a:pPr algn="ctr"/>
            <a:r>
              <a:rPr sz="1600" b="0" i="0">
                <a:solidFill>
                  <a:srgbClr val="BBBBBB"/>
                </a:solidFill>
                <a:latin typeface="Helvetica Neue"/>
              </a:rPr>
              <a:t>Hezarfen LLC · IEEE Senior Member</a:t>
            </a:r>
          </a:p>
        </p:txBody>
      </p:sp>
      <p:sp>
        <p:nvSpPr>
          <p:cNvPr id="5" name="TextBox 4"/>
          <p:cNvSpPr txBox="1"/>
          <p:nvPr/>
        </p:nvSpPr>
        <p:spPr>
          <a:xfrm>
            <a:off x="548640" y="3931920"/>
            <a:ext cx="10972800" cy="548640"/>
          </a:xfrm>
          <a:prstGeom prst="rect">
            <a:avLst/>
          </a:prstGeom>
          <a:noFill/>
        </p:spPr>
        <p:txBody>
          <a:bodyPr wrap="square" lIns="0" rIns="0" tIns="0" bIns="0" anchor="t">
            <a:spAutoFit/>
          </a:bodyPr>
          <a:lstStyle/>
          <a:p>
            <a:pPr algn="ctr"/>
            <a:r>
              <a:rPr sz="2200" b="0" i="0">
                <a:solidFill>
                  <a:srgbClr val="4FC3F7"/>
                </a:solidFill>
                <a:latin typeface="Helvetica Neue"/>
              </a:rPr>
              <a:t>github.com/cgrtml/neural-trees</a:t>
            </a:r>
          </a:p>
        </p:txBody>
      </p:sp>
      <p:sp>
        <p:nvSpPr>
          <p:cNvPr id="6" name="TextBox 5"/>
          <p:cNvSpPr txBox="1"/>
          <p:nvPr/>
        </p:nvSpPr>
        <p:spPr>
          <a:xfrm>
            <a:off x="548640" y="4663440"/>
            <a:ext cx="10972800" cy="548640"/>
          </a:xfrm>
          <a:prstGeom prst="rect">
            <a:avLst/>
          </a:prstGeom>
          <a:noFill/>
        </p:spPr>
        <p:txBody>
          <a:bodyPr wrap="square" lIns="0" rIns="0" tIns="0" bIns="0" anchor="t">
            <a:spAutoFit/>
          </a:bodyPr>
          <a:lstStyle/>
          <a:p>
            <a:pPr algn="ctr"/>
            <a:r>
              <a:rPr sz="2200" b="0" i="0">
                <a:solidFill>
                  <a:srgbClr val="4FC3F7"/>
                </a:solidFill>
                <a:latin typeface="Helvetica Neue"/>
              </a:rPr>
              <a:t>linkedin.com/in/cagritemel</a:t>
            </a:r>
          </a:p>
        </p:txBody>
      </p:sp>
      <p:sp>
        <p:nvSpPr>
          <p:cNvPr id="7" name="TextBox 6"/>
          <p:cNvSpPr txBox="1"/>
          <p:nvPr/>
        </p:nvSpPr>
        <p:spPr>
          <a:xfrm>
            <a:off x="548640" y="6035040"/>
            <a:ext cx="10972800" cy="365760"/>
          </a:xfrm>
          <a:prstGeom prst="rect">
            <a:avLst/>
          </a:prstGeom>
          <a:noFill/>
        </p:spPr>
        <p:txBody>
          <a:bodyPr wrap="square" lIns="0" rIns="0" tIns="0" bIns="0" anchor="t">
            <a:spAutoFit/>
          </a:bodyPr>
          <a:lstStyle/>
          <a:p>
            <a:pPr algn="ctr"/>
            <a:r>
              <a:rPr sz="1300" b="0" i="1">
                <a:solidFill>
                  <a:srgbClr val="888888"/>
                </a:solidFill>
                <a:latin typeface="Helvetica Neue"/>
              </a:rPr>
              <a:t>Workshop materials: github.com/cgrtml/wsu-workshop-may15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1828800"/>
            <a:ext cx="10972800" cy="1463040"/>
          </a:xfrm>
          <a:prstGeom prst="rect">
            <a:avLst/>
          </a:prstGeom>
          <a:noFill/>
        </p:spPr>
        <p:txBody>
          <a:bodyPr wrap="square" lIns="0" rIns="0" tIns="0" bIns="0" anchor="t">
            <a:spAutoFit/>
          </a:bodyPr>
          <a:lstStyle/>
          <a:p>
            <a:pPr algn="ctr"/>
            <a:r>
              <a:rPr sz="8000" b="1" i="0">
                <a:solidFill>
                  <a:srgbClr val="EEEEEE"/>
                </a:solidFill>
                <a:latin typeface="Helvetica Neue"/>
              </a:rPr>
              <a:t>Thank you</a:t>
            </a:r>
          </a:p>
        </p:txBody>
      </p:sp>
      <p:sp>
        <p:nvSpPr>
          <p:cNvPr id="3" name="TextBox 2"/>
          <p:cNvSpPr txBox="1"/>
          <p:nvPr/>
        </p:nvSpPr>
        <p:spPr>
          <a:xfrm>
            <a:off x="548640" y="4023360"/>
            <a:ext cx="10972800" cy="548640"/>
          </a:xfrm>
          <a:prstGeom prst="rect">
            <a:avLst/>
          </a:prstGeom>
          <a:noFill/>
        </p:spPr>
        <p:txBody>
          <a:bodyPr wrap="square" lIns="0" rIns="0" tIns="0" bIns="0" anchor="t">
            <a:spAutoFit/>
          </a:bodyPr>
          <a:lstStyle/>
          <a:p>
            <a:pPr algn="ctr"/>
            <a:r>
              <a:rPr sz="2200" b="0" i="1">
                <a:solidFill>
                  <a:srgbClr val="4FC3F7"/>
                </a:solidFill>
                <a:latin typeface="Helvetica Neue"/>
              </a:rPr>
              <a:t>To Dr. Sergey Lapin and Jeremy for the invitation.</a:t>
            </a:r>
          </a:p>
        </p:txBody>
      </p:sp>
      <p:sp>
        <p:nvSpPr>
          <p:cNvPr id="4" name="TextBox 3"/>
          <p:cNvSpPr txBox="1"/>
          <p:nvPr/>
        </p:nvSpPr>
        <p:spPr>
          <a:xfrm>
            <a:off x="548640" y="5486400"/>
            <a:ext cx="10972800" cy="457200"/>
          </a:xfrm>
          <a:prstGeom prst="rect">
            <a:avLst/>
          </a:prstGeom>
          <a:noFill/>
        </p:spPr>
        <p:txBody>
          <a:bodyPr wrap="square" lIns="0" rIns="0" tIns="0" bIns="0" anchor="t">
            <a:spAutoFit/>
          </a:bodyPr>
          <a:lstStyle/>
          <a:p>
            <a:pPr algn="ctr"/>
            <a:r>
              <a:rPr sz="1600" b="0" i="1">
                <a:solidFill>
                  <a:srgbClr val="BBBBBB"/>
                </a:solidFill>
                <a:latin typeface="Helvetica Neue"/>
              </a:rPr>
              <a:t>Questions? I will stay 5 minutes after.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