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814"/>
  </p:normalViewPr>
  <p:slideViewPr>
    <p:cSldViewPr snapToGrid="0" snapToObjects="1">
      <p:cViewPr varScale="1">
        <p:scale>
          <a:sx n="106" d="100"/>
          <a:sy n="106" d="100"/>
        </p:scale>
        <p:origin x="9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16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neural-tree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WSU · MAY 15,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EEEEEE"/>
                </a:solidFill>
                <a:latin typeface="Helvetica Neue"/>
              </a:rPr>
              <a:t>From Black Boxes to Glass Boxes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4FC3F7"/>
                </a:solidFill>
                <a:latin typeface="Helvetica Neue"/>
              </a:rPr>
              <a:t>Building Explainable Neural Trees for Safety-Critical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BBBBBB"/>
                </a:solidFill>
                <a:latin typeface="Helvetica Neue"/>
              </a:rPr>
              <a:t>Cagri Temel — CTO, Hezarfen LLC · IEEE Senior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Helvetica Neue"/>
              </a:rPr>
              <a:t>Washington State University · Data &amp; Analytics Breakout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WHO IS RUNNING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4FC3F7"/>
                </a:solidFill>
                <a:latin typeface="Helvetica Neue"/>
              </a:rPr>
              <a:t>Cagri Temel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972800" cy="4470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 dirty="0">
                <a:solidFill>
                  <a:srgbClr val="EEEEEE"/>
                </a:solidFill>
                <a:latin typeface="Helvetica Neue"/>
              </a:rPr>
              <a:t>CTO of </a:t>
            </a:r>
            <a:r>
              <a:rPr sz="1800" b="0" i="0" dirty="0" err="1">
                <a:solidFill>
                  <a:srgbClr val="EEEEEE"/>
                </a:solidFill>
                <a:latin typeface="Helvetica Neue"/>
              </a:rPr>
              <a:t>Hezarfen</a:t>
            </a:r>
            <a:r>
              <a:rPr sz="1800" b="0" i="0" dirty="0">
                <a:solidFill>
                  <a:srgbClr val="EEEEEE"/>
                </a:solidFill>
                <a:latin typeface="Helvetica Neue"/>
              </a:rPr>
              <a:t> LLC, building explainable AI for regulated industries</a:t>
            </a:r>
          </a:p>
          <a:p>
            <a:pPr algn="l">
              <a:lnSpc>
                <a:spcPct val="150000"/>
              </a:lnSpc>
            </a:pPr>
            <a:r>
              <a:rPr sz="1800" b="0" i="0" dirty="0">
                <a:solidFill>
                  <a:srgbClr val="EEEEEE"/>
                </a:solidFill>
                <a:latin typeface="Helvetica Neue"/>
              </a:rPr>
              <a:t>IEEE Senior Member · open-source maintainer</a:t>
            </a:r>
          </a:p>
          <a:p>
            <a:pPr algn="l">
              <a:lnSpc>
                <a:spcPct val="150000"/>
              </a:lnSpc>
            </a:pPr>
            <a:r>
              <a:rPr sz="1800" b="0" i="0" dirty="0">
                <a:solidFill>
                  <a:srgbClr val="EEEEEE"/>
                </a:solidFill>
                <a:latin typeface="Helvetica Neue"/>
              </a:rPr>
              <a:t>Author of neural-trees (</a:t>
            </a:r>
            <a:r>
              <a:rPr sz="1800" b="0" i="0" dirty="0" err="1">
                <a:solidFill>
                  <a:srgbClr val="EEEEEE"/>
                </a:solidFill>
                <a:latin typeface="Helvetica Neue"/>
              </a:rPr>
              <a:t>PyPI</a:t>
            </a:r>
            <a:r>
              <a:rPr sz="1800" b="0" i="0" dirty="0">
                <a:solidFill>
                  <a:srgbClr val="EEEEEE"/>
                </a:solidFill>
                <a:latin typeface="Helvetica Neue"/>
              </a:rPr>
              <a:t>, MIT), the package you will use today</a:t>
            </a:r>
          </a:p>
          <a:p>
            <a:pPr algn="l">
              <a:lnSpc>
                <a:spcPct val="150000"/>
              </a:lnSpc>
            </a:pPr>
            <a:r>
              <a:rPr sz="1600" b="0" i="1" dirty="0">
                <a:solidFill>
                  <a:srgbClr val="BBBBBB"/>
                </a:solidFill>
                <a:latin typeface="Helvetica Neue"/>
              </a:rPr>
              <a:t>Workshop paper: Robust and Uncertainty-Aware RUL Prediction with Temporal Neural Trees</a:t>
            </a:r>
          </a:p>
          <a:p>
            <a:pPr algn="l">
              <a:lnSpc>
                <a:spcPct val="150000"/>
              </a:lnSpc>
            </a:pPr>
            <a:r>
              <a:rPr sz="1800" b="1" i="0" dirty="0">
                <a:solidFill>
                  <a:srgbClr val="4FC3F7"/>
                </a:solidFill>
                <a:latin typeface="Helvetica Neue"/>
              </a:rPr>
              <a:t>Today: you will build, break, and explain a real model</a:t>
            </a:r>
            <a:br>
              <a:rPr lang="en-US" sz="1800" b="1" i="0" dirty="0">
                <a:solidFill>
                  <a:srgbClr val="4FC3F7"/>
                </a:solidFill>
                <a:latin typeface="Helvetica Neue"/>
              </a:rPr>
            </a:br>
            <a:endParaRPr lang="en-US" sz="1800" b="1" i="0" dirty="0">
              <a:solidFill>
                <a:srgbClr val="4FC3F7"/>
              </a:solidFill>
              <a:latin typeface="Helvetica Neue"/>
            </a:endParaRPr>
          </a:p>
          <a:p>
            <a:pPr>
              <a:lnSpc>
                <a:spcPct val="150000"/>
              </a:lnSpc>
            </a:pPr>
            <a:br>
              <a:rPr lang="en-US" b="1" dirty="0">
                <a:solidFill>
                  <a:srgbClr val="00B0F0"/>
                </a:solidFill>
                <a:latin typeface="Helvetica Neue"/>
              </a:rPr>
            </a:br>
            <a:br>
              <a:rPr lang="en-US" b="1" dirty="0">
                <a:solidFill>
                  <a:srgbClr val="00B0F0"/>
                </a:solidFill>
                <a:latin typeface="Helvetica Neue"/>
              </a:rPr>
            </a:br>
            <a:br>
              <a:rPr lang="en-US" b="1" dirty="0">
                <a:solidFill>
                  <a:srgbClr val="00B0F0"/>
                </a:solidFill>
                <a:latin typeface="Helvetica Neue"/>
              </a:rPr>
            </a:br>
            <a:endParaRPr lang="en-US" b="1" dirty="0">
              <a:solidFill>
                <a:srgbClr val="00B0F0"/>
              </a:solidFill>
              <a:latin typeface="Helvetica Neue"/>
            </a:endParaRPr>
          </a:p>
          <a:p>
            <a:pPr>
              <a:lnSpc>
                <a:spcPct val="150000"/>
              </a:lnSpc>
            </a:pPr>
            <a:endParaRPr sz="1800" b="1" i="0" dirty="0">
              <a:solidFill>
                <a:srgbClr val="4FC3F7"/>
              </a:solidFill>
              <a:latin typeface="Helvetica Neu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115282"/>
            <a:ext cx="109728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https://pypi.org/project/neural-trees/</a:t>
            </a:r>
            <a:br>
              <a:rPr lang="en-US" b="1" dirty="0">
                <a:solidFill>
                  <a:srgbClr val="00B0F0"/>
                </a:solidFill>
                <a:latin typeface="Helvetica Neue"/>
              </a:rPr>
            </a:br>
            <a:br>
              <a:rPr lang="en-US" b="1" i="0" dirty="0">
                <a:solidFill>
                  <a:srgbClr val="00B0F0"/>
                </a:solidFill>
                <a:latin typeface="Helvetica Neue"/>
              </a:rPr>
            </a:br>
            <a:r>
              <a:rPr b="1" i="0" dirty="0">
                <a:solidFill>
                  <a:srgbClr val="00B0F0"/>
                </a:solidFill>
                <a:latin typeface="Helvetica Neue"/>
              </a:rPr>
              <a:t>github.com/</a:t>
            </a:r>
            <a:r>
              <a:rPr b="1" i="0" dirty="0" err="1">
                <a:solidFill>
                  <a:srgbClr val="00B0F0"/>
                </a:solidFill>
                <a:latin typeface="Helvetica Neue"/>
              </a:rPr>
              <a:t>cgrtml</a:t>
            </a:r>
            <a:r>
              <a:rPr b="1" i="0" dirty="0">
                <a:solidFill>
                  <a:srgbClr val="00B0F0"/>
                </a:solidFill>
                <a:latin typeface="Helvetica Neue"/>
              </a:rPr>
              <a:t>/neural-trees </a:t>
            </a:r>
            <a:br>
              <a:rPr lang="en-US" b="1" i="0" dirty="0">
                <a:solidFill>
                  <a:srgbClr val="00B0F0"/>
                </a:solidFill>
                <a:latin typeface="Helvetica Neue"/>
              </a:rPr>
            </a:br>
            <a:endParaRPr lang="en-US" b="1" dirty="0">
              <a:solidFill>
                <a:srgbClr val="00B0F0"/>
              </a:solidFill>
              <a:latin typeface="Helvetica Neue"/>
            </a:endParaRPr>
          </a:p>
          <a:p>
            <a:pPr algn="l"/>
            <a:r>
              <a:rPr b="1" i="0" dirty="0" err="1">
                <a:solidFill>
                  <a:srgbClr val="00B0F0"/>
                </a:solidFill>
                <a:latin typeface="Helvetica Neue"/>
              </a:rPr>
              <a:t>linkedin.com</a:t>
            </a:r>
            <a:r>
              <a:rPr b="1" i="0" dirty="0">
                <a:solidFill>
                  <a:srgbClr val="00B0F0"/>
                </a:solidFill>
                <a:latin typeface="Helvetica Neue"/>
              </a:rPr>
              <a:t>/in/</a:t>
            </a:r>
            <a:r>
              <a:rPr b="1" i="0" dirty="0" err="1">
                <a:solidFill>
                  <a:srgbClr val="00B0F0"/>
                </a:solidFill>
                <a:latin typeface="Helvetica Neue"/>
              </a:rPr>
              <a:t>cagritemel</a:t>
            </a:r>
            <a:endParaRPr b="1" i="0" dirty="0">
              <a:solidFill>
                <a:srgbClr val="00B0F0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TODAY'S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 dirty="0">
                <a:solidFill>
                  <a:srgbClr val="4FC3F7"/>
                </a:solidFill>
                <a:latin typeface="Helvetica Neue"/>
              </a:rPr>
              <a:t>Data-driven decisions, when the cost of being wrong is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EEEEEE"/>
                </a:solidFill>
                <a:latin typeface="Helvetica Neue"/>
              </a:rPr>
              <a:t>For the next few hours we will look at how data-driven systems make decisions, and at how we make those decisions trustworthy in safety-critical settings.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 dirty="0">
                <a:solidFill>
                  <a:srgbClr val="4FC3F7"/>
                </a:solidFill>
                <a:latin typeface="Helvetica Neue"/>
              </a:rPr>
              <a:t>Today's case: a turbofan engine that needs to predict its own failure.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 i="0">
                <a:solidFill>
                  <a:srgbClr val="EEEEEE"/>
                </a:solidFill>
                <a:latin typeface="Helvetica Neue"/>
              </a:rPr>
              <a:t>A turbofan engine.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>
                <a:solidFill>
                  <a:srgbClr val="4FC3F7"/>
                </a:solidFill>
                <a:latin typeface="Helvetica Neue"/>
              </a:rPr>
              <a:t>When will it fail?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BBBBBB"/>
                </a:solidFill>
                <a:latin typeface="Helvetica Neue"/>
              </a:rPr>
              <a:t>If you knew with certainty, what would you do differently?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EEEEE"/>
                </a:solidFill>
                <a:latin typeface="Helvetica Neue"/>
              </a:rPr>
              <a:t>Getting this wrong is expensive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000" b="1">
                <a:solidFill>
                  <a:srgbClr val="FFB74D"/>
                </a:solidFill>
                <a:latin typeface="Helvetica Neue"/>
              </a:rPr>
              <a:t>Predict too late. </a:t>
            </a:r>
            <a:r>
              <a:rPr sz="2000">
                <a:solidFill>
                  <a:srgbClr val="EEEEEE"/>
                </a:solidFill>
                <a:latin typeface="Helvetica Neue"/>
              </a:rPr>
              <a:t>Engine fails mid-flight. Lives lost.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972800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000" b="1">
                <a:solidFill>
                  <a:srgbClr val="FFB74D"/>
                </a:solidFill>
                <a:latin typeface="Helvetica Neue"/>
              </a:rPr>
              <a:t>Predict too early. </a:t>
            </a:r>
            <a:r>
              <a:rPr sz="2000">
                <a:solidFill>
                  <a:srgbClr val="EEEEEE"/>
                </a:solidFill>
                <a:latin typeface="Helvetica Neue"/>
              </a:rPr>
              <a:t>Healthy engines replaced. $100M wasted.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40"/>
            <a:ext cx="10972800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000" b="1">
                <a:solidFill>
                  <a:srgbClr val="FFB74D"/>
                </a:solidFill>
                <a:latin typeface="Helvetica Neue"/>
              </a:rPr>
              <a:t>Predict accurately but cannot explain. </a:t>
            </a:r>
            <a:r>
              <a:rPr sz="2000">
                <a:solidFill>
                  <a:srgbClr val="EEEEEE"/>
                </a:solidFill>
                <a:latin typeface="Helvetica Neue"/>
              </a:rPr>
              <a:t>FAA refuses to certify your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4FC3F7"/>
                </a:solidFill>
                <a:latin typeface="Helvetica Neue"/>
              </a:rPr>
              <a:t>Accuracy alone is not enough. You also need to defend the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4FC3F7"/>
                </a:solidFill>
                <a:latin typeface="Helvetica Neue"/>
              </a:rPr>
              <a:t>NASA CMAPSS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BBBBBB"/>
                </a:solidFill>
                <a:latin typeface="Helvetica Neue"/>
              </a:rPr>
              <a:t>Commercial Modular Aero-Propulsion System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9728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800" b="0" i="0">
                <a:solidFill>
                  <a:srgbClr val="EEEEEE"/>
                </a:solidFill>
                <a:latin typeface="Helvetica Neue"/>
              </a:rPr>
              <a:t>100 turbofan engines, simulated to failure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800" b="0" i="0">
                <a:solidFill>
                  <a:srgbClr val="EEEEEE"/>
                </a:solidFill>
                <a:latin typeface="Helvetica Neue"/>
              </a:rPr>
              <a:t>21 sensors per timestep: temperatures, pressures, fan speeds, fuel flow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800" b="0" i="0">
                <a:solidFill>
                  <a:srgbClr val="EEEEEE"/>
                </a:solidFill>
                <a:latin typeface="Helvetica Neue"/>
              </a:rPr>
              <a:t>Each engine logs hundreds of flight cycles before failing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800" b="0" i="0">
                <a:solidFill>
                  <a:srgbClr val="EEEEEE"/>
                </a:solidFill>
                <a:latin typeface="Helvetica Neue"/>
              </a:rPr>
              <a:t>Public, open data, cited in 1,000+ academic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Helvetica Neue"/>
              </a:rPr>
              <a:t>Source: NASA Prognostics Center of Excellence · ti.arc.nasa.gov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THE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4FC3F7"/>
                </a:solidFill>
                <a:latin typeface="Helvetica Neue"/>
              </a:rPr>
              <a:t>Remaining Useful Life (RUL)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EEEEEE"/>
                </a:solidFill>
                <a:latin typeface="Helvetica Neue"/>
              </a:rPr>
              <a:t>The number of flight cycles left before this engine fails.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146304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cycle 0  →  cycle 50  →  cycle 100  →  cycle 150  →  cycle 192 (failure)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RUL=192     RUL=142      RUL=92        RUL=42         RUL=0 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BBBBBB"/>
                </a:solidFill>
                <a:latin typeface="Helvetica Neue"/>
              </a:rPr>
              <a:t>Train: complete trajectories. Test: partial trajectories, where you predict RUL from what you can see.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WHAT YOU GET PER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4FC3F7"/>
                </a:solidFill>
                <a:latin typeface="Helvetica Neue"/>
              </a:rPr>
              <a:t>21 sensor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9456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Menlo"/>
              </a:rPr>
              <a:t>s2  · T24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194560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Helvetica Neue"/>
              </a:rPr>
              <a:t>LPC outlet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8716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Menlo"/>
              </a:rPr>
              <a:t>s3  · T30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48716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Helvetica Neue"/>
              </a:rPr>
              <a:t>HPC outlet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7977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Menlo"/>
              </a:rPr>
              <a:t>s4  · T50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779776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Helvetica Neue"/>
              </a:rPr>
              <a:t>LPT outlet 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7238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Menlo"/>
              </a:rPr>
              <a:t>s7  · P30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72384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FC3F7"/>
                </a:solidFill>
                <a:latin typeface="Helvetica Neue"/>
              </a:rPr>
              <a:t>HPC outlet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649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Menlo"/>
              </a:rPr>
              <a:t>s8  · 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364992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Helvetica Neue"/>
              </a:rPr>
              <a:t>Physical fan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576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Menlo"/>
              </a:rPr>
              <a:t>s9  · 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57600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Helvetica Neue"/>
              </a:rPr>
              <a:t>Physical core 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502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Menlo"/>
              </a:rPr>
              <a:t>s11 · Ps30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95020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FC3F7"/>
                </a:solidFill>
                <a:latin typeface="Helvetica Neue"/>
              </a:rPr>
              <a:t>Static pressure HPC outlet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4281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Menlo"/>
              </a:rPr>
              <a:t>s12 · phi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242816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Helvetica Neue"/>
              </a:rPr>
              <a:t>Ratio of fuel flow to Ps30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3542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Menlo"/>
              </a:rPr>
              <a:t>s14 · NRc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535424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FC3F7"/>
                </a:solidFill>
                <a:latin typeface="Helvetica Neue"/>
              </a:rPr>
              <a:t>Corrected core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2803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Menlo"/>
              </a:rPr>
              <a:t>s15 · BPR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28032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Helvetica Neue"/>
              </a:rPr>
              <a:t>Bypass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12064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Menlo"/>
              </a:rPr>
              <a:t>s17 · htBleed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120640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Helvetica Neue"/>
              </a:rPr>
              <a:t>Bleed enthalpy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41324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Menlo"/>
              </a:rPr>
              <a:t>s20 · W31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4132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Helvetica Neue"/>
              </a:rPr>
              <a:t>HPT coolant bleed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  <a:latin typeface="Helvetica Neue"/>
              </a:rPr>
              <a:t>Highlighted rows are the most predictive after feature selection.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A MODERN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4FC3F7"/>
                </a:solidFill>
                <a:latin typeface="Helvetica Neue"/>
              </a:rPr>
              <a:t>Deep learning gets us close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743200"/>
            <a:ext cx="8503920" cy="1828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model = nn.LSTM(input_size=17, hidden_size=64, num_layers=2)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# … training …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RMSE on test set: 15.49 cycles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R²: 0.855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4FC3F7"/>
                </a:solidFill>
                <a:latin typeface="Helvetica Neue"/>
              </a:rPr>
              <a:t>That's pretty good. About 15 cycles off, on average. So we ship it to the FAA, right?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486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0" b="1" i="0">
                <a:solidFill>
                  <a:srgbClr val="EF5350"/>
                </a:solidFill>
                <a:latin typeface="Helvetica Neue"/>
              </a:rPr>
              <a:t>No.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EEEEEE"/>
                </a:solidFill>
                <a:latin typeface="Helvetica Neue"/>
              </a:rPr>
              <a:t>Regulators do not ask 'how accurate is your model?'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4FC3F7"/>
                </a:solidFill>
                <a:latin typeface="Helvetica Neue"/>
              </a:rPr>
              <a:t>They ask 'why did your model say that?'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BBBBBB"/>
                </a:solidFill>
                <a:latin typeface="Helvetica Neue"/>
              </a:rPr>
              <a:t>FAA · FDA · OCC (banking) · EU AI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  <a:latin typeface="Helvetica Neue"/>
              </a:rPr>
              <a:t>All require traceable, explainable decisions for high-risk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>
                <a:solidFill>
                  <a:srgbClr val="EEEEEE"/>
                </a:solidFill>
                <a:latin typeface="Helvetica Neue"/>
              </a:rPr>
              <a:t>Black Box vs. Glass 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5029200" cy="3291840"/>
          </a:xfrm>
          <a:prstGeom prst="rect">
            <a:avLst/>
          </a:prstGeom>
          <a:solidFill>
            <a:srgbClr val="2A1212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0" tIns="203200" rtlCol="0" anchor="ctr"/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EF5350"/>
                </a:solidFill>
                <a:latin typeface="Helvetica Neue"/>
              </a:rPr>
              <a:t>Black Box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BBBBBB"/>
                </a:solidFill>
                <a:latin typeface="Helvetica Neue"/>
              </a:rPr>
              <a:t>LSTM, deep CNN, transformer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81C784"/>
                </a:solidFill>
                <a:latin typeface="Helvetica Neue"/>
              </a:rPr>
              <a:t>✓ High accuracy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B74D"/>
                </a:solidFill>
                <a:latin typeface="Helvetica Neue"/>
              </a:rPr>
              <a:t>✗ Why? — no answer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B74D"/>
                </a:solidFill>
                <a:latin typeface="Helvetica Neue"/>
              </a:rPr>
              <a:t>✗ FAA / FDA / OCC: rejected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828800"/>
            <a:ext cx="5029200" cy="3291840"/>
          </a:xfrm>
          <a:prstGeom prst="rect">
            <a:avLst/>
          </a:prstGeom>
          <a:solidFill>
            <a:srgbClr val="122A12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0" tIns="203200" rtlCol="0" anchor="ctr"/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81C784"/>
                </a:solidFill>
                <a:latin typeface="Helvetica Neue"/>
              </a:rPr>
              <a:t>Glass Box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BBBBBB"/>
                </a:solidFill>
                <a:latin typeface="Helvetica Neue"/>
              </a:rPr>
              <a:t>Decision tree, linear regression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81C784"/>
                </a:solidFill>
                <a:latin typeface="Helvetica Neue"/>
              </a:rPr>
              <a:t>✓ Fully traceable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B74D"/>
                </a:solidFill>
                <a:latin typeface="Helvetica Neue"/>
              </a:rPr>
              <a:t>✗ Lower accuracy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81C784"/>
                </a:solidFill>
                <a:latin typeface="Helvetica Neue"/>
              </a:rPr>
              <a:t>✓ Regulators: approved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4FC3F7"/>
                </a:solidFill>
                <a:latin typeface="Helvetica Neue"/>
              </a:rPr>
              <a:t>Today's question: can we have both?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SECTION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4FC3F7"/>
                </a:solidFill>
                <a:latin typeface="Helvetica Neue"/>
              </a:rPr>
              <a:t>Classic Decision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9418320" cy="31089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       [ Sensor 11 (Ps30) &gt; 47.5 ? ]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            /                  \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           yes                  no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[ Sensor 14 (NRc) &gt; 8138 ? ]  [ HEALTHY ]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    /              \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  yes               no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 /                   \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[ CRITICAL ]         [ CAUTION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EEEEEE"/>
                </a:solidFill>
                <a:latin typeface="Helvetica Neue"/>
              </a:rPr>
              <a:t>Beautifully explainable. Often poor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FFB74D"/>
                </a:solidFill>
                <a:latin typeface="Helvetica Neue"/>
              </a:rPr>
              <a:t>Hard splits: a 0.01 difference in a sensor flips the entire path.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4FC3F7"/>
                </a:solidFill>
                <a:latin typeface="Helvetica Neue"/>
              </a:rPr>
              <a:t>Hard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103120"/>
            <a:ext cx="8503920" cy="2194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600">
                <a:solidFill>
                  <a:srgbClr val="EEEEEE"/>
                </a:solidFill>
                <a:latin typeface="Menlo"/>
              </a:rPr>
              <a:t>def hard_split(x, threshold):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EEEEEE"/>
                </a:solidFill>
                <a:latin typeface="Menlo"/>
              </a:rPr>
              <a:t>    if x &gt; threshold: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EEEEEE"/>
                </a:solidFill>
                <a:latin typeface="Menlo"/>
              </a:rPr>
              <a:t>        return 'right'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EEEEEE"/>
                </a:solidFill>
                <a:latin typeface="Menlo"/>
              </a:rPr>
              <a:t>    else: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EEEEEE"/>
                </a:solidFill>
                <a:latin typeface="Menlo"/>
              </a:rPr>
              <a:t>        return 'left'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EEEEEE"/>
                </a:solidFill>
                <a:latin typeface="Helvetica Neue"/>
              </a:rPr>
              <a:t>Output: 'left' or 'right'. Discrete. No gradient.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BBBBBB"/>
                </a:solidFill>
                <a:latin typeface="Helvetica Neue"/>
              </a:rPr>
              <a:t>Cannot train with backpropagation. Tree built greedily, one node at a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4FC3F7"/>
                </a:solidFill>
                <a:latin typeface="Helvetica Neue"/>
              </a:rPr>
              <a:t>Soft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103120"/>
            <a:ext cx="8503920" cy="2194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600">
                <a:solidFill>
                  <a:srgbClr val="EEEEEE"/>
                </a:solidFill>
                <a:latin typeface="Menlo"/>
              </a:rPr>
              <a:t>def soft_split(x, w, b):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EEEEEE"/>
                </a:solidFill>
                <a:latin typeface="Menlo"/>
              </a:rPr>
              <a:t>    # sigmoid: σ(z) = 1 / (1 + exp(-z))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EEEEEE"/>
                </a:solidFill>
                <a:latin typeface="Menlo"/>
              </a:rPr>
              <a:t>    p_right = sigmoid(w @ x - b)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EEEEEE"/>
                </a:solidFill>
                <a:latin typeface="Menlo"/>
              </a:rPr>
              <a:t>    return p_right       # ∈ [0, 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EEEEEE"/>
                </a:solidFill>
                <a:latin typeface="Helvetica Neue"/>
              </a:rPr>
              <a:t>Output: a probability of going right. Continuous. Gradient 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81C784"/>
                </a:solidFill>
                <a:latin typeface="Helvetica Neue"/>
              </a:rPr>
              <a:t>Train the entire tree end-to-end with backprop, like a small neural network.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4FC3F7"/>
                </a:solidFill>
                <a:latin typeface="Helvetica Neue"/>
              </a:rPr>
              <a:t>Soft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103120"/>
            <a:ext cx="9418320" cy="329184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       [ σ(w·x − b) → 0.82 right ]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            /              \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         0.82             0.18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          /                  \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[ σ(w·x − b) → 0.30 ]   [ leaf: P(C, H, W) ]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 /        \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0.30      0.70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    /          \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EEEEE"/>
                </a:solidFill>
                <a:latin typeface="Menlo"/>
              </a:rPr>
              <a:t>  [ leaf ]    [ leaf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EEEEEE"/>
                </a:solidFill>
                <a:latin typeface="Helvetica Neue"/>
              </a:rPr>
              <a:t>Every leaf gets a weighted vote based on path probability.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BBBBBB"/>
                </a:solidFill>
                <a:latin typeface="Helvetica Neue"/>
              </a:rPr>
              <a:t>Final prediction = sum over all leaves.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WHY THIS IS A BIG 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4FC3F7"/>
                </a:solidFill>
                <a:latin typeface="Helvetica Neue"/>
              </a:rPr>
              <a:t>You get both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68880"/>
            <a:ext cx="5029200" cy="2926080"/>
          </a:xfrm>
          <a:prstGeom prst="rect">
            <a:avLst/>
          </a:prstGeom>
          <a:solidFill>
            <a:srgbClr val="122A12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0" tIns="20320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81C784"/>
                </a:solidFill>
                <a:latin typeface="Helvetica Neue"/>
              </a:rPr>
              <a:t>From the tree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EEEEE"/>
                </a:solidFill>
                <a:latin typeface="Helvetica Neue"/>
              </a:rPr>
              <a:t>• Path traceability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EEEEE"/>
                </a:solidFill>
                <a:latin typeface="Helvetica Neue"/>
              </a:rPr>
              <a:t>• Per-feature thresholds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EEEEE"/>
                </a:solidFill>
                <a:latin typeface="Helvetica Neue"/>
              </a:rPr>
              <a:t>• Human-readable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029200" cy="2926080"/>
          </a:xfrm>
          <a:prstGeom prst="rect">
            <a:avLst/>
          </a:prstGeom>
          <a:solidFill>
            <a:srgbClr val="121A2A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0" tIns="20320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4FC3F7"/>
                </a:solidFill>
                <a:latin typeface="Helvetica Neue"/>
              </a:rPr>
              <a:t>From the network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EEEEE"/>
                </a:solidFill>
                <a:latin typeface="Helvetica Neue"/>
              </a:rPr>
              <a:t>• End-to-end training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EEEEE"/>
                </a:solidFill>
                <a:latin typeface="Helvetica Neue"/>
              </a:rPr>
              <a:t>• Composable with other layers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EEEEE"/>
                </a:solidFill>
                <a:latin typeface="Helvetica Neue"/>
              </a:rPr>
              <a:t>• Higher accuracy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WHY THIS MATTERS FOR SAFETY-CRITICAL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4FC3F7"/>
                </a:solidFill>
                <a:latin typeface="Helvetica Neue"/>
              </a:rPr>
              <a:t>Three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515600" cy="3657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4FC3F7"/>
                </a:solidFill>
                <a:latin typeface="Helvetica Neue"/>
              </a:rPr>
              <a:t>1. Explainability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BBBBBB"/>
                </a:solidFill>
                <a:latin typeface="Helvetica Neue"/>
              </a:rPr>
              <a:t>Every prediction comes with the path that produced it.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4FC3F7"/>
                </a:solidFill>
                <a:latin typeface="Helvetica Neue"/>
              </a:rPr>
              <a:t>2. Noise robustness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BBBBBB"/>
                </a:solidFill>
                <a:latin typeface="Helvetica Neue"/>
              </a:rPr>
              <a:t>Soft splits are less brittle to small sensor perturbations than hard splits.</a:t>
            </a:r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4FC3F7"/>
                </a:solidFill>
                <a:latin typeface="Helvetica Neue"/>
              </a:rPr>
              <a:t>3. Sensor failure tolerance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BBBBBB"/>
                </a:solidFill>
                <a:latin typeface="Helvetica Neue"/>
              </a:rPr>
              <a:t>Channel-level dropout during training teaches the model to operate under partial sensor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  <a:latin typeface="Helvetica Neue"/>
              </a:rPr>
              <a:t>You will see all three in the next 90 minutes.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FROM MY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4FC3F7"/>
                </a:solidFill>
                <a:latin typeface="Helvetica Neue"/>
              </a:rPr>
              <a:t>The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468880"/>
          <a:ext cx="9418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3F7"/>
                          </a:solidFill>
                          <a:latin typeface="Helvetica Neue"/>
                        </a:rPr>
                        <a:t>Model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3F7"/>
                          </a:solidFill>
                          <a:latin typeface="Helvetica Neue"/>
                        </a:rPr>
                        <a:t>Clean RMSE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3F7"/>
                          </a:solidFill>
                          <a:latin typeface="Helvetica Neue"/>
                        </a:rPr>
                        <a:t>30% sensors missing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3F7"/>
                          </a:solidFill>
                          <a:latin typeface="Helvetica Neue"/>
                        </a:rPr>
                        <a:t>Explainable?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  <a:latin typeface="Helvetica Neue"/>
                        </a:rPr>
                        <a:t>LSTM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  <a:latin typeface="Helvetica Neue"/>
                        </a:rPr>
                        <a:t>15.49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B74D"/>
                          </a:solidFill>
                          <a:latin typeface="Helvetica Neue"/>
                        </a:rPr>
                        <a:t>+89% degradation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  <a:latin typeface="Helvetica Neue"/>
                        </a:rPr>
                        <a:t>✗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  <a:latin typeface="Helvetica Neue"/>
                        </a:rPr>
                        <a:t>Random Forest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  <a:latin typeface="Helvetica Neue"/>
                        </a:rPr>
                        <a:t>18.07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  <a:latin typeface="Helvetica Neue"/>
                        </a:rPr>
                        <a:t>n/a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81C784"/>
                          </a:solidFill>
                          <a:latin typeface="Helvetica Neue"/>
                        </a:rPr>
                        <a:t>Temporal Neural Tree</a:t>
                      </a:r>
                    </a:p>
                  </a:txBody>
                  <a:tcPr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81C784"/>
                          </a:solidFill>
                          <a:latin typeface="Helvetica Neue"/>
                        </a:rPr>
                        <a:t>15.78</a:t>
                      </a:r>
                    </a:p>
                  </a:txBody>
                  <a:tcPr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81C784"/>
                          </a:solidFill>
                          <a:latin typeface="Helvetica Neue"/>
                        </a:rPr>
                        <a:t>+17% degradation</a:t>
                      </a:r>
                    </a:p>
                  </a:txBody>
                  <a:tcPr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81C784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4FC3F7"/>
                </a:solidFill>
                <a:latin typeface="Helvetica Neue"/>
              </a:rPr>
              <a:t>Within 0.3 RMSE of LSTM on clean data. 5x more robust under sensor failure.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THE TOOL YOU'LL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>
                <a:solidFill>
                  <a:srgbClr val="4FC3F7"/>
                </a:solidFill>
                <a:latin typeface="Helvetica Neue"/>
              </a:rPr>
              <a:t>neural-trees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743200"/>
            <a:ext cx="6675120" cy="64008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EEEEEE"/>
                </a:solidFill>
                <a:latin typeface="Menlo"/>
              </a:rPr>
              <a:t>pip install neural-trees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91440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0">
                <a:solidFill>
                  <a:srgbClr val="EEEEEE"/>
                </a:solidFill>
                <a:latin typeface="Helvetica Neue"/>
              </a:rPr>
              <a:t>• Open source, MIT licensed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0">
                <a:solidFill>
                  <a:srgbClr val="EEEEEE"/>
                </a:solidFill>
                <a:latin typeface="Helvetica Neue"/>
              </a:rPr>
              <a:t>• scikit-learn compatible API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0">
                <a:solidFill>
                  <a:srgbClr val="EEEEEE"/>
                </a:solidFill>
                <a:latin typeface="Helvetica Neue"/>
              </a:rPr>
              <a:t>• PyTorch backend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0">
                <a:solidFill>
                  <a:srgbClr val="EEEEEE"/>
                </a:solidFill>
                <a:latin typeface="Helvetica Neue"/>
              </a:rPr>
              <a:t>• Soft Decision Trees, Hierarchical Mixture of Experts, statistical model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Helvetica Neue"/>
              </a:rPr>
              <a:t>github.com/cgrtml/neural-trees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ACTIVITY 1 · 55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EEEEEE"/>
                </a:solidFill>
                <a:latin typeface="Helvetica Neue"/>
              </a:rPr>
              <a:t>Train Your Own Neural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4FC3F7"/>
                </a:solidFill>
                <a:latin typeface="Helvetica Neue"/>
              </a:rPr>
              <a:t>Open the QR code on the next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BBBBBB"/>
                </a:solidFill>
                <a:latin typeface="Helvetica Neue"/>
              </a:rPr>
              <a:t>No installs. Just Gmail and a browser.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>
                <a:solidFill>
                  <a:srgbClr val="0A0A0A"/>
                </a:solidFill>
                <a:latin typeface="Helvetica Neue"/>
              </a:rPr>
              <a:t>Scan to start</a:t>
            </a:r>
          </a:p>
        </p:txBody>
      </p:sp>
      <p:pic>
        <p:nvPicPr>
          <p:cNvPr id="3" name="Picture 2" descr="qr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630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Helvetica Neue"/>
              </a:rPr>
              <a:t>github.com/cgrtml/wsu-workshop-may15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Helvetica Neue"/>
              </a:rPr>
              <a:t>1. Scan with phone camera → 2. Tap "Activity 1" → 3. Sign in with Gmail → 4. "Copy to Drive"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4FC3F7"/>
                </a:solidFill>
                <a:latin typeface="Helvetica Neue"/>
              </a:rPr>
              <a:t>Activity 1: 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502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EEEEEE"/>
                </a:solidFill>
                <a:latin typeface="Helvetica Neue"/>
              </a:rPr>
              <a:t>1. Load &amp; explore CMAPSS FD001 (10 min)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300" b="0" i="1">
                <a:solidFill>
                  <a:srgbClr val="BBBBBB"/>
                </a:solidFill>
                <a:latin typeface="Helvetica Neue"/>
              </a:rPr>
              <a:t>Plot a few engines. Find which sensors degrade.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EEEEEE"/>
                </a:solidFill>
                <a:latin typeface="Helvetica Neue"/>
              </a:rPr>
              <a:t>2. Bin RUL into 3 classes (5 min)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300" b="0" i="1">
                <a:solidFill>
                  <a:srgbClr val="BBBBBB"/>
                </a:solidFill>
                <a:latin typeface="Helvetica Neue"/>
              </a:rPr>
              <a:t>Critical · Caution · Healthy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EEEEEE"/>
                </a:solidFill>
                <a:latin typeface="Helvetica Neue"/>
              </a:rPr>
              <a:t>3. Train a SoftDecisionTree (15 min)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300" b="0" i="1">
                <a:solidFill>
                  <a:srgbClr val="BBBBBB"/>
                </a:solidFill>
                <a:latin typeface="Helvetica Neue"/>
              </a:rPr>
              <a:t>depth=4, max_epochs=30, runs on CPU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700" b="1" i="0">
                <a:solidFill>
                  <a:srgbClr val="EEEEEE"/>
                </a:solidFill>
                <a:latin typeface="Helvetica Neue"/>
              </a:rPr>
              <a:t>4. Evaluate accuracy &amp; confusion matrix (5 min)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4FC3F7"/>
                </a:solidFill>
                <a:latin typeface="Helvetica Neue"/>
              </a:rPr>
              <a:t>5. Traverse a prediction (15 min)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1">
                <a:solidFill>
                  <a:srgbClr val="4FC3F7"/>
                </a:solidFill>
                <a:latin typeface="Helvetica Neue"/>
              </a:rPr>
              <a:t>This is the heart of the workshop.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1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Imports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import numpy as np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import pandas as pd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import matplotlib.pyplot as plt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import seaborn as sns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from sklearn.model_selection import train_test_split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from sklearn.preprocessing import StandardScaler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from sklearn.metrics import classification_report, confusion_matrix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from neural_trees import SoftDecisionTree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print('All set.')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All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If you see IndentationError, every line must start at the left edge.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2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Load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cols = ['engine_id', 'cycle'] + [f'op{i}' for i in range(1, 4)] + [f's{i}' for i in range(1, 22)]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train = pd.read_csv('train_FD001.txt', sep=r'\s+', header=None, names=cols)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print(train.shape, '-&gt;', train['engine_id'].nunique(), 'engines')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train.head()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(20631, 26) -&gt; 100 engines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 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First 5 rows of the dataframe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shown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100 turbofan engines, 20,631 timesteps total.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3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Compute Remaining Useful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max_cycles = train.groupby('engine_id')['cycle'].max().rename('max_cycle')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train = train.merge(max_cycles, on='engine_id')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train['RUL'] = (train['max_cycle'] - train['cycle']).clip(upper=125)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train[['engine_id','cycle','max_cycle','RUL']].head()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   engine_id  cycle  max_cycle  RUL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0          1      1        192  125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1          1      2        192  125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2          1      3        192  125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3          1      4        192  125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4          1      5        192  125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RUL capped at 125. Engine 1 lived 192 cycles in total.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4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Visualize one engine's degradation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engine = train[train['engine_id'] == 1].set_index('cycle')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engine[['s2', 's7', 's11', 's14']].plot(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subplots=True, layout=(2,2), figsize=(12,6))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plt.suptitle('Engine 1 sensor degradation', y=1.02)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plt.tight_layout(); 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pic>
        <p:nvPicPr>
          <p:cNvPr id="7" name="Picture 6" descr="step4_engi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40280"/>
            <a:ext cx="4937760" cy="26625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s2, s11, s14 trend up. s7 trends down. The engine is wearing.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5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Bin RUL into three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def bin_rul(rul):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if rul &lt; 30: return 0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elif rul &lt; 80: return 1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return 2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train['health'] = train['RUL'].apply(bin_rul)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train['health'].value_counts().sort_index()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health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0     3000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1     5000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2    12631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Name: count, dtype: int64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14% Critical · 24% Caution · 61% Healthy.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6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Build the feature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all_sensors = [f's{i}' for i in range(1, 22)]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informative = [s for s in all_sensors if train[s].std() &gt; 0.001]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X = train[informative].values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y = train['health'].values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scaler = StandardScaler()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X = scaler.fit_transform(X)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print('X shape:', X.shape, '· y shape:', y.shape)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X shape: (20631, 15) · y shape: (20631,)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15 of 21 sensors are informative. s1, s5, s10, s16, s18, s19 are constant and dropped.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7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Train / 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X_train, X_test, y_train, y_test = train_test_split(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X, y,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test_size=0.2,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stratify=y,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random_state=42,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print(X_train.shape, X_test.shape)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(16504, 15) (4127, 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80/20 split. stratify=y preserves the class ratio in both sets.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8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Train the Soft Decision Tree (30 to 60 sec)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tree = SoftDecisionTree(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depth=4,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max_epochs=30,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learning_rate=0.01,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penalty_coef=1e-3,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verbose=True,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tree.fit(X_train, y_train)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acc = (tree.predict(X_test) == y_test).mean()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print(f'Test accuracy: {acc:.3f}')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Epoch 5/30   loss=0.362  acc=0.851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Epoch 10/30  loss=0.355  acc=0.853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Epoch 15/30  loss=0.352  acc=0.854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Epoch 20/30  loss=0.351  acc=0.855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Epoch 25/30  loss=0.350  acc=0.854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Epoch 30/30  loss=0.349  acc=0.855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Test accuracy: 0.841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Train vs test gap is about 1 point. No overfitting.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9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Confusion matrix and per-class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labels = ['Critical', 'Caution', 'Healthy']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y_pred = tree.predict(X_test)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cm = confusion_matrix(y_test, y_pred)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fig, ax = plt.subplots(figsize=(6, 5))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sns.heatmap(cm, annot=True, fmt='d', cmap='Blues',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      xticklabels=labels, yticklabels=labels, ax=ax)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plt.title('Confusion matrix'); plt.show()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print(classification_report(y_test, y_pred,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target_names=labels))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pic>
        <p:nvPicPr>
          <p:cNvPr id="7" name="Picture 6" descr="step9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40280"/>
            <a:ext cx="4937760" cy="4047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0 false-Criticals on Healthy engines. Only 5 missed-Critical on 600.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10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Which sensor does each node lean 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splits = tree.get_split_weights()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print(f'Internal nodes: {len(splits)}')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for i, w in enumerate(splits):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dom = informative[np.argmax(np.abs(w))]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print(f'  Node {i:2d} -&gt; {dom:4s}')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Internal nodes: 15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  Node  0 -&gt; s7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  Node  1 -&gt; s14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  Node  2 -&gt; s6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  Node  3 -&gt; s14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  Node  4 -&gt; s6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  Node  5 -&gt; s6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  Node  6 -&gt; s12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 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s14 and s6 dominate multiple nodes. These are the model pillars.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11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Read one prediction (the heart of the workshop)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idx = 17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x = X_test[idx]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true = labels[y_test[idx]]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pred = labels[tree.predict([x])[0]]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proba = tree.predict_proba([x])[0]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root = informative[np.argmax(np.abs(splits[0]))]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print(f'True class:      {true}')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print(f'Predicted class: {pred}')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print(f'Probabilities:   '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f'Critical={proba[0]:.3f} '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f'Caution={proba[1]:.3f} '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f'Healthy={proba[2]:.3f}')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print(f'Root sensor:     {root}')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True class:      Caution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Predicted class: Healthy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Probabilities:   Critical=0.000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                 Caution=0.148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                 Healthy=0.852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Root sensor:     s7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You can defend this prediction to a regulator. An LSTM cannot.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81C784"/>
                </a:solidFill>
                <a:latin typeface="Helvetica Neue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EEEEEE"/>
                </a:solidFill>
                <a:latin typeface="Helvetica Neue"/>
              </a:rPr>
              <a:t>By 10:25 you should have: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109728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0" i="0">
                <a:solidFill>
                  <a:srgbClr val="81C784"/>
                </a:solidFill>
                <a:latin typeface="Helvetica Neue"/>
              </a:rPr>
              <a:t>✓ A trained SoftDecisionTree on FD001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0" i="0">
                <a:solidFill>
                  <a:srgbClr val="81C784"/>
                </a:solidFill>
                <a:latin typeface="Helvetica Neue"/>
              </a:rPr>
              <a:t>✓ Test accuracy &gt; 80%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0" i="0">
                <a:solidFill>
                  <a:srgbClr val="81C784"/>
                </a:solidFill>
                <a:latin typeface="Helvetica Neue"/>
              </a:rPr>
              <a:t>✓ A printed decision path for at least one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4FC3F7"/>
                </a:solidFill>
                <a:latin typeface="Helvetica Neue"/>
              </a:rPr>
              <a:t>☕ 10-minute break.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BBBBBB"/>
                </a:solidFill>
                <a:latin typeface="Helvetica Neue"/>
              </a:rPr>
              <a:t>Activity 2 (team competition) starts at 10:35.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ACTIVITY 2 · 25 MIN · TEAM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EEEEEE"/>
                </a:solidFill>
                <a:latin typeface="Helvetica Neue"/>
              </a:rPr>
              <a:t>Sensor Fault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EEEEEE"/>
                </a:solidFill>
                <a:latin typeface="Helvetica Neue"/>
              </a:rPr>
              <a:t>One of engine 17's sensors is reporting bad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4FC3F7"/>
                </a:solidFill>
                <a:latin typeface="Helvetica Neue"/>
              </a:rPr>
              <a:t>Which sensor, and can your model tell you why?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4FC3F7"/>
                </a:solidFill>
                <a:latin typeface="Helvetica Neue"/>
              </a:rP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EEEEEE"/>
                </a:solidFill>
                <a:latin typeface="Helvetica Neue"/>
              </a:rPr>
              <a:t>You are the data science team at an airline. Maintenance ops sends you three suspicious test files for the same engine: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10698480" cy="1463040"/>
          </a:xfrm>
          <a:prstGeom prst="rect">
            <a:avLst/>
          </a:prstGeom>
          <a:solidFill>
            <a:srgbClr val="2A1F0A"/>
          </a:solidFill>
          <a:ln w="254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tlCol="0" anchor="ctr"/>
          <a:lstStyle/>
          <a:p>
            <a:pPr algn="ctr"/>
            <a:r>
              <a:rPr sz="1600" i="1">
                <a:solidFill>
                  <a:srgbClr val="EEEEEE"/>
                </a:solidFill>
                <a:latin typeface="Helvetica Neue"/>
              </a:rPr>
              <a:t>Something is wrong with engine 17. The pattern looks like a sensor drift, a frozen sensor, or noise spikes, but we cannot tell which channel is at fault. Localize the faulty sensor before the next flight.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EEEEE"/>
                </a:solidFill>
                <a:latin typeface="Helvetica Neue"/>
              </a:rPr>
              <a:t>Two models available to you: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1C784"/>
                </a:solidFill>
                <a:latin typeface="Helvetica Neue"/>
              </a:rPr>
              <a:t>• Your SoftDecisionTree from Activity 1, explainable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B74D"/>
                </a:solidFill>
                <a:latin typeface="Helvetica Neue"/>
              </a:rPr>
              <a:t>• A RandomForest baseline, accurate but opaque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4FC3F7"/>
                </a:solidFill>
                <a:latin typeface="Helvetica Neue"/>
              </a:rPr>
              <a:t>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9728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0" i="0">
                <a:solidFill>
                  <a:srgbClr val="EEEEEE"/>
                </a:solidFill>
                <a:latin typeface="Helvetica Neue"/>
              </a:rPr>
              <a:t>• Form groups of 3 to 4 students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0" i="0">
                <a:solidFill>
                  <a:srgbClr val="EEEEEE"/>
                </a:solidFill>
                <a:latin typeface="Helvetica Neue"/>
              </a:rPr>
              <a:t>• Use the same notebook within your team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0" i="0">
                <a:solidFill>
                  <a:srgbClr val="EEEEEE"/>
                </a:solidFill>
                <a:latin typeface="Helvetica Neue"/>
              </a:rPr>
              <a:t>• You have 17 minutes for analysis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0" i="0">
                <a:solidFill>
                  <a:srgbClr val="EEEEEE"/>
                </a:solidFill>
                <a:latin typeface="Helvetica Neue"/>
              </a:rPr>
              <a:t>• Then we collect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4FC3F7"/>
                </a:solidFill>
                <a:latin typeface="Helvetica Neue"/>
              </a:rPr>
              <a:t>First team to correctly identify all three attacks wins.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4FC3F7"/>
                </a:solidFill>
                <a:latin typeface="Helvetica Neue"/>
              </a:rPr>
              <a:t>Three attack files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19456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4FC3F7"/>
                          </a:solidFill>
                          <a:latin typeface="Helvetica Neue"/>
                        </a:rPr>
                        <a:t>File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4FC3F7"/>
                          </a:solidFill>
                          <a:latin typeface="Helvetica Neue"/>
                        </a:rPr>
                        <a:t>Attack type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4FC3F7"/>
                          </a:solidFill>
                          <a:latin typeface="Helvetica Neue"/>
                        </a:rPr>
                        <a:t>Your job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EEEEE"/>
                          </a:solidFill>
                          <a:latin typeface="Menlo"/>
                        </a:rPr>
                        <a:t>attack_A.csv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EEEEE"/>
                          </a:solidFill>
                          <a:latin typeface="Helvetica Neue"/>
                        </a:rPr>
                        <a:t>Drift (constant offset)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EEEEE"/>
                          </a:solidFill>
                          <a:latin typeface="Helvetica Neue"/>
                        </a:rPr>
                        <a:t>Which sensor?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EEEEE"/>
                          </a:solidFill>
                          <a:latin typeface="Menlo"/>
                        </a:rPr>
                        <a:t>attack_B.csv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EEEEE"/>
                          </a:solidFill>
                          <a:latin typeface="Helvetica Neue"/>
                        </a:rPr>
                        <a:t>Stuck-at (frozen value)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EEEEE"/>
                          </a:solidFill>
                          <a:latin typeface="Helvetica Neue"/>
                        </a:rPr>
                        <a:t>Which sensor?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EEEEE"/>
                          </a:solidFill>
                          <a:latin typeface="Menlo"/>
                        </a:rPr>
                        <a:t>attack_C.csv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EEEEE"/>
                          </a:solidFill>
                          <a:latin typeface="Helvetica Neue"/>
                        </a:rPr>
                        <a:t>Gaussian noise injection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EEEEE"/>
                          </a:solidFill>
                          <a:latin typeface="Helvetica Neue"/>
                        </a:rPr>
                        <a:t>Which sensor?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BBBBBB"/>
                </a:solidFill>
                <a:latin typeface="Helvetica Neue"/>
              </a:rPr>
              <a:t>Each file is a copy of clean engine 17 data, but one sensor channel has been manipulated.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1 /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Add a RandomForest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from sklearn.ensemble import RandomForestClassifier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rf = RandomForestClassifier(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n_estimators=100, random_state=42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).fit(X_train, y_train)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print(f'SoftTree accuracy: '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f'{(tree.predict(X_test) == y_test).mean():.3f}')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print(f'RandomForest      : '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f'{(rf.predict(X_test) == y_test).mean():.3f}')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SoftTree accuracy: 0.841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RandomForest      : 0.843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Two models, nearly identical accuracy. One is explainable. One is not.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2 /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Predict on clean engine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clean = pd.read_csv('engine17_clean.csv')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Xc = scaler.transform(clean[informative].values)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clean_tree_pred = tree.predict(Xc)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clean_rf_pred = rf.predict(Xc)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print(f'Engine 17 clean: {len(Xc)} cycles')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print(f'Tree vs RF agreement: '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f'{(clean_tree_pred == clean_rf_pred).mean():.2f}')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Engine 17 clean: 276 cycles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Tree vs RF agreement: 0.95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95% agreement on clean data. The two models say roughly the same thing.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3 /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How much did each attack move the predictions?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for fname in ['attack_A.csv', 'attack_B.csv', 'attack_C.csv']: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df = pd.read_csv(fname)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Xa = scaler.transform(df[informative].values)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pt = tree.predict(Xa)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pr = rf.predict(Xa)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print(f'{fname}: '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    f'Tree {(pt != clean_tree_pred).sum():3d}/{len(pt)} | '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    f'RF {(pr != clean_rf_pred).sum():3d}/{len(pr)}')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attack_A.csv: Tree  18/276 | RF  14/276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attack_B.csv: Tree  33/276 | RF   8/276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attack_C.csv: Tree   8/276 | RF   1/276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Attack C: RF changed at only 1 cycle. It is missing the attack. The Soft Tree caught 8.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4 /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Attack A. Look for two parallel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clean = pd.read_csv('engine17_clean.csv')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attack = pd.read_csv('attack_A.csv')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fig, axes = plt.subplots(4, 4, figsize=(16, 10))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for ax, s in zip(axes.flat, informative):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ax.plot(clean['cycle'], clean[s],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      label='clean', alpha=0.7)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ax.plot(attack['cycle'], attack[s],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      label='attack', alpha=0.7)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ax.set_title(s)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axes.flat[0].legend()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plt.tight_layout(); 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pic>
        <p:nvPicPr>
          <p:cNvPr id="7" name="Picture 6" descr="attack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40280"/>
            <a:ext cx="4937760" cy="32100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One sensor shows the orange line shifted up by a constant offset. Answer: s11 (drift).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5 /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Attack B. Look for a flat horizontal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attack = pd.read_csv('attack_B.csv')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fig, axes = plt.subplots(4, 4, figsize=(16, 10))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for ax, s in zip(axes.flat, informative):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ax.plot(clean['cycle'], clean[s],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      label='clean', alpha=0.7)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ax.plot(attack['cycle'], attack[s],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      label='attack', alpha=0.7)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ax.set_title(s)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axes.flat[0].legend()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plt.tight_layout(); 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pic>
        <p:nvPicPr>
          <p:cNvPr id="7" name="Picture 6" descr="attack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40280"/>
            <a:ext cx="4937760" cy="32100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One sensor's orange line is flat while blue rises. Stuck-at. Answer: s14 (stuck-at).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6 /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Attack C. Look for a noisier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attack = pd.read_csv('attack_C.csv')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fig, axes = plt.subplots(4, 4, figsize=(16, 10))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for ax, s in zip(axes.flat, informative):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ax.plot(clean['cycle'], clean[s],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      label='clean', alpha=0.7)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ax.plot(attack['cycle'], attack[s],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      label='attack', alpha=0.7)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ax.set_title(s)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axes.flat[0].legend()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plt.tight_layout(); 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pic>
        <p:nvPicPr>
          <p:cNvPr id="7" name="Picture 6" descr="attack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40280"/>
            <a:ext cx="4937760" cy="32100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Same trend, much higher variance. Noise injection. Answer: s9 (noise).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STEP 7 /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Helvetica Neue"/>
              </a:rPr>
              <a:t>Quantify the divergence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Helvetica Neue"/>
              </a:rPr>
              <a:t>PASTE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101600" rIns="127000" bIns="101600" rtlCol="0" anchor="ctr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for fname in ['attack_A.csv', 'attack_B.csv', 'attack_C.csv']: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a = pd.read_csv(fname)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d = {s: float(np.mean(np.abs(clean[s].values - a[s].values)))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     for s in informative}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top = sorted(d.items(), key=lambda kv: -kv[1])[:3]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EEEEE"/>
                </a:solidFill>
                <a:latin typeface="Menlo"/>
              </a:rPr>
              <a:t>    print(f'{fname} top 3: {top}')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1C784"/>
                </a:solidFill>
                <a:latin typeface="Helvetica Neue"/>
              </a:rPr>
              <a:t>YOU SHOULD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40280"/>
            <a:ext cx="4937760" cy="3108960"/>
          </a:xfrm>
          <a:prstGeom prst="rect">
            <a:avLst/>
          </a:prstGeom>
          <a:solidFill>
            <a:srgbClr val="0E1D0E"/>
          </a:solidFill>
          <a:ln w="317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2400" tIns="101600" rIns="101600" bIns="101600" rtlCol="0" anchor="ctr"/>
          <a:lstStyle/>
          <a:p>
            <a:pPr algn="ctr"/>
            <a:r>
              <a:rPr sz="1200">
                <a:solidFill>
                  <a:srgbClr val="D8E8D8"/>
                </a:solidFill>
                <a:latin typeface="Menlo"/>
              </a:rPr>
              <a:t>attack_A.csv top 3: [('s11', 0.367), ('s2', 0.0), ('s3', 0.0)]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attack_B.csv top 3: [('s14', 19.89), ('s2', 0.0), ('s3', 0.0)]</a:t>
            </a:r>
          </a:p>
          <a:p>
            <a:r>
              <a:rPr sz="1200">
                <a:solidFill>
                  <a:srgbClr val="D8E8D8"/>
                </a:solidFill>
                <a:latin typeface="Menlo"/>
              </a:rPr>
              <a:t>attack_C.csv top 3: [('s9',  6.42), ('s2', 0.0), ('s3', 0.0)]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BBBBBB"/>
                </a:solidFill>
                <a:latin typeface="Helvetica Neue"/>
              </a:rPr>
              <a:t>Numbers confirm the visual answer. Only one sensor differs in each file.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0" b="1" i="0">
                <a:solidFill>
                  <a:srgbClr val="4FC3F7"/>
                </a:solidFill>
                <a:latin typeface="Helvetica Neue"/>
              </a:rPr>
              <a:t>⏱  17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EEEEEE"/>
                </a:solidFill>
                <a:latin typeface="Helvetica Neue"/>
              </a:rPr>
              <a:t>Open activity2_student.ipynb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BBBBBB"/>
                </a:solidFill>
                <a:latin typeface="Helvetica Neue"/>
              </a:rPr>
              <a:t>Run cells. Discuss as a team. Pick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  <a:latin typeface="Helvetica Neue"/>
              </a:rPr>
              <a:t>I'll come around with hints, but I will not give you the answer.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4FC3F7"/>
                </a:solidFill>
                <a:latin typeface="Helvetica Neue"/>
              </a:rPr>
              <a:t>Answers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2011680"/>
          <a:ext cx="8503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4FC3F7"/>
                          </a:solidFill>
                          <a:latin typeface="Helvetica Neue"/>
                        </a:rPr>
                        <a:t>Attack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4FC3F7"/>
                          </a:solidFill>
                          <a:latin typeface="Helvetica Neue"/>
                        </a:rPr>
                        <a:t>Sensor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4FC3F7"/>
                          </a:solidFill>
                          <a:latin typeface="Helvetica Neue"/>
                        </a:rPr>
                        <a:t>Type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EEEEEE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EEEEEE"/>
                          </a:solidFill>
                          <a:latin typeface="Helvetica Neue"/>
                        </a:rPr>
                        <a:t>Sensor 11 (Ps30)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EEEEEE"/>
                          </a:solidFill>
                          <a:latin typeface="Helvetica Neue"/>
                        </a:rPr>
                        <a:t>Drift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EEEEEE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EEEEEE"/>
                          </a:solidFill>
                          <a:latin typeface="Helvetica Neue"/>
                        </a:rPr>
                        <a:t>Sensor 14 (NRc)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EEEEEE"/>
                          </a:solidFill>
                          <a:latin typeface="Helvetica Neue"/>
                        </a:rPr>
                        <a:t>Stuck-at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EEEEEE"/>
                          </a:solidFill>
                          <a:latin typeface="Helvetica Neue"/>
                        </a:rPr>
                        <a:t>C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EEEEEE"/>
                          </a:solidFill>
                          <a:latin typeface="Helvetica Neue"/>
                        </a:rPr>
                        <a:t>Sensor 9 (Nc)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EEEEEE"/>
                          </a:solidFill>
                          <a:latin typeface="Helvetica Neue"/>
                        </a:rPr>
                        <a:t>Gaussian noise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4FC3F7"/>
                </a:solidFill>
                <a:latin typeface="Helvetica Neue"/>
              </a:rPr>
              <a:t>Which team got all three? 🏆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4FC3F7"/>
                </a:solidFill>
                <a:latin typeface="Helvetica Neue"/>
              </a:rPr>
              <a:t>What just happened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9728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800" b="0" i="0">
                <a:solidFill>
                  <a:srgbClr val="EEEEEE"/>
                </a:solidFill>
                <a:latin typeface="Helvetica Neue"/>
              </a:rPr>
              <a:t>The RandomForest changed its prediction, but could not tell you why.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800" b="0" i="0">
                <a:solidFill>
                  <a:srgbClr val="EEEEEE"/>
                </a:solidFill>
                <a:latin typeface="Helvetica Neue"/>
              </a:rPr>
              <a:t>The SoftDecisionTree's split weights shifted in a sensor-specific way.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800" b="0" i="0">
                <a:solidFill>
                  <a:srgbClr val="EEEEEE"/>
                </a:solidFill>
                <a:latin typeface="Helvetica Neue"/>
              </a:rPr>
              <a:t>That shift is the explanation. It is a fingerprint of which sensor the model is leaning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EEEEEE"/>
                </a:solidFill>
                <a:latin typeface="Helvetica Neue"/>
              </a:rPr>
              <a:t>Explainability did not just make the model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4FC3F7"/>
                </a:solidFill>
                <a:latin typeface="Helvetica Neue"/>
              </a:rPr>
              <a:t>It made the model a debugging tool for the system around it.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SPRINT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EEEEEE"/>
                </a:solidFill>
                <a:latin typeface="Helvetica Neue"/>
              </a:rPr>
              <a:t>🔧 GitHub Contribution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4FC3F7"/>
                </a:solidFill>
                <a:latin typeface="Helvetica Neue"/>
              </a:rPr>
              <a:t>Walk out of this room with a real open-source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4FC3F7"/>
                </a:solidFill>
                <a:latin typeface="Helvetica Neue"/>
              </a:rPr>
              <a:t>on your GitHub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BBBBBB"/>
                </a:solidFill>
                <a:latin typeface="Helvetica Neue"/>
              </a:rPr>
              <a:t>15 minutes. Your name on a published ML library.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4FC3F7"/>
                </a:solidFill>
                <a:latin typeface="Helvetica Neue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EEEEEE"/>
                </a:solidFill>
                <a:latin typeface="Helvetica Neue"/>
              </a:rPr>
              <a:t>1. Open github.com/cgrtml/neural-trees → Issues tab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EEEEEE"/>
                </a:solidFill>
                <a:latin typeface="Helvetica Neue"/>
              </a:rPr>
              <a:t>2. Filter by label: good first issue. Pick one (10 to 20 min scope)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EEEEEE"/>
                </a:solidFill>
                <a:latin typeface="Helvetica Neue"/>
              </a:rPr>
              <a:t>3. Comment "I am taking this" so no duplicates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EEEEEE"/>
                </a:solidFill>
                <a:latin typeface="Helvetica Neue"/>
              </a:rPr>
              <a:t>4. Fork the repo, edit, open a PR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81C784"/>
                </a:solidFill>
                <a:latin typeface="Helvetica Neue"/>
              </a:rPr>
              <a:t>5. I will review live. Simple PRs get merged on the spot.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4FC3F7"/>
                </a:solidFill>
                <a:latin typeface="Helvetica Neue"/>
              </a:rPr>
              <a:t>~20 issues waiting · pick what fits your level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4FC3F7"/>
                </a:solidFill>
                <a:latin typeface="Helvetica Neue"/>
              </a:rPr>
              <a:t>Why this is worth your 15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EEEEEE"/>
                </a:solidFill>
                <a:latin typeface="Helvetica Neue"/>
              </a:rPr>
              <a:t>A concrete open-source contribution on your profile, visible to recruiters, internships, and grad-school admissions.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EEEEEE"/>
                </a:solidFill>
                <a:latin typeface="Helvetica Neue"/>
              </a:rPr>
              <a:t>You become part of a published Python ML library (PyPI: neural-trees).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EEEEEE"/>
                </a:solidFill>
                <a:latin typeface="Helvetica Neue"/>
              </a:rPr>
              <a:t>Your name goes in the README. I will add a "WSU Workshop Contributors" section listing every merged PR.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EEEEEE"/>
                </a:solidFill>
                <a:latin typeface="Helvetica Neue"/>
              </a:rPr>
              <a:t>It is real proof that you can collaborate on a codebase, not just clone tutorials.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4FC3F7"/>
                </a:solidFill>
                <a:latin typeface="Helvetica Neue"/>
              </a:rPr>
              <a:t>Open the repo. Pick an issue. Go.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REGULATORY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4FC3F7"/>
                </a:solidFill>
                <a:latin typeface="Helvetica Neue"/>
              </a:rPr>
              <a:t>The EU AI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EEEEEE"/>
                </a:solidFill>
                <a:latin typeface="Helvetica Neue"/>
              </a:rPr>
              <a:t>Took effect in 2025. Applies to any AI system serving EU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EEEEEE"/>
                </a:solidFill>
                <a:latin typeface="Helvetica Neue"/>
              </a:rPr>
              <a:t>For "high-risk" systems (predictive maintenance for aviation qualifies):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EEEEEE"/>
                </a:solidFill>
                <a:latin typeface="Helvetica Neue"/>
              </a:rPr>
              <a:t>Article 13: Transparency &amp; explanation requirements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EEEEEE"/>
                </a:solidFill>
                <a:latin typeface="Helvetica Neue"/>
              </a:rPr>
              <a:t>Article 14: Human oversight with meaningful interpretation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EEEEEE"/>
                </a:solidFill>
                <a:latin typeface="Helvetica Neue"/>
              </a:rPr>
              <a:t>Article 15: Robustness against adversarial inputs and faults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  <a:latin typeface="Helvetica Neue"/>
              </a:rPr>
              <a:t>Same direction in the US: SR 11-7 (banking), FDA SaMD, FAA AC 25-1309.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Helvetica Neue"/>
              </a:rPr>
              <a:t>WRAP-UP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EEEEEE"/>
                </a:solidFill>
                <a:latin typeface="Helvetica Neue"/>
              </a:rPr>
              <a:t>What you walk out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972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1" i="0">
                <a:solidFill>
                  <a:srgbClr val="4FC3F7"/>
                </a:solidFill>
                <a:latin typeface="Helvetica Neue"/>
              </a:rPr>
              <a:t>1. Explainability is mandatory in safety-critical AI.</a:t>
            </a:r>
          </a:p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400" b="0" i="1">
                <a:solidFill>
                  <a:srgbClr val="BBBBBB"/>
                </a:solidFill>
                <a:latin typeface="Helvetica Neue"/>
              </a:rPr>
              <a:t>Required by EU AI Act, FDA, FAA, OCC for high-risk systems.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1" i="0">
                <a:solidFill>
                  <a:srgbClr val="4FC3F7"/>
                </a:solidFill>
                <a:latin typeface="Helvetica Neue"/>
              </a:rPr>
              <a:t>2. Soft Decision Trees give you both worlds.</a:t>
            </a:r>
          </a:p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400" b="0" i="1">
                <a:solidFill>
                  <a:srgbClr val="BBBBBB"/>
                </a:solidFill>
                <a:latin typeface="Helvetica Neue"/>
              </a:rPr>
              <a:t>Neural-network accuracy with tree-level interpretability.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1" i="0">
                <a:solidFill>
                  <a:srgbClr val="4FC3F7"/>
                </a:solidFill>
                <a:latin typeface="Helvetica Neue"/>
              </a:rPr>
              <a:t>3. You ran this yourself, on real NASA data.</a:t>
            </a:r>
          </a:p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BBBBB"/>
                </a:solidFill>
                <a:latin typeface="Helvetica Neue"/>
              </a:rPr>
              <a:t>Trained a model · localized a sensor fault · maybe shipped an OSS contribution.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4FC3F7"/>
                </a:solidFill>
                <a:latin typeface="Helvetica Neue"/>
              </a:rPr>
              <a:t>Where this is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EEEEEE"/>
                </a:solidFill>
                <a:latin typeface="Helvetica Neue"/>
              </a:rPr>
              <a:t>Banks (Model Risk Management), insurers, healthcare, aerospace.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EEEEEE"/>
                </a:solidFill>
                <a:latin typeface="Helvetica Neue"/>
              </a:rPr>
              <a:t>Every regulated industry needs explainable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EEEEEE"/>
                </a:solidFill>
                <a:latin typeface="Helvetica Neue"/>
              </a:rPr>
              <a:t>My company Hezarfen builds compliance-ready AI for US mid-market banks under SR 11-7 and the EU AI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BBBBBB"/>
                </a:solidFill>
                <a:latin typeface="Helvetica Neue"/>
              </a:rPr>
              <a:t>If any of this interested you, whether as a thesis topic, an open-source contribution, or just a conversation: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4FC3F7"/>
                </a:solidFill>
                <a:latin typeface="Helvetica Neue"/>
              </a:rPr>
              <a:t>reach out.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4FC3F7"/>
                </a:solidFill>
                <a:latin typeface="Helvetica Neue"/>
              </a:rPr>
              <a:t>Stay in touch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EEEEEE"/>
                </a:solidFill>
                <a:latin typeface="Helvetica Neue"/>
              </a:rPr>
              <a:t>Cagri Temel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BBBBBB"/>
                </a:solidFill>
                <a:latin typeface="Helvetica Neue"/>
              </a:rPr>
              <a:t>Hezarfen LLC · IEEE Senior 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4FC3F7"/>
                </a:solidFill>
                <a:latin typeface="Helvetica Neue"/>
              </a:rPr>
              <a:t>github.com/cgrtml/neural-trees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4FC3F7"/>
                </a:solidFill>
                <a:latin typeface="Helvetica Neue"/>
              </a:rPr>
              <a:t>linkedin.com/in/cagritemel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Helvetica Neue"/>
              </a:rPr>
              <a:t>Workshop materials: github.com/cgrtml/wsu-workshop-may15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0" b="1" i="0">
                <a:solidFill>
                  <a:srgbClr val="EEEEEE"/>
                </a:solidFill>
                <a:latin typeface="Helvetica Neue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1">
                <a:solidFill>
                  <a:srgbClr val="4FC3F7"/>
                </a:solidFill>
                <a:latin typeface="Helvetica Neue"/>
              </a:rPr>
              <a:t>To Dr. Sergey Lapin and Jeremy for the invitation.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BBBBBB"/>
                </a:solidFill>
                <a:latin typeface="Helvetica Neue"/>
              </a:rPr>
              <a:t>Questions? I will stay 5 minutes after.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4676</Words>
  <Application>Microsoft Macintosh PowerPoint</Application>
  <PresentationFormat>Widescreen</PresentationFormat>
  <Paragraphs>588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CAGRI TEMEL</cp:lastModifiedBy>
  <cp:revision>2</cp:revision>
  <dcterms:created xsi:type="dcterms:W3CDTF">2013-01-27T09:14:16Z</dcterms:created>
  <dcterms:modified xsi:type="dcterms:W3CDTF">2026-05-12T22:30:49Z</dcterms:modified>
  <cp:category/>
</cp:coreProperties>
</file>